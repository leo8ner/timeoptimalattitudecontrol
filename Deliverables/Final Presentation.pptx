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59" r:id="rId2"/>
  </p:sldMasterIdLst>
  <p:notesMasterIdLst>
    <p:notesMasterId r:id="rId47"/>
  </p:notesMasterIdLst>
  <p:handoutMasterIdLst>
    <p:handoutMasterId r:id="rId48"/>
  </p:handoutMasterIdLst>
  <p:sldIdLst>
    <p:sldId id="256" r:id="rId3"/>
    <p:sldId id="257" r:id="rId4"/>
    <p:sldId id="273" r:id="rId5"/>
    <p:sldId id="275" r:id="rId6"/>
    <p:sldId id="276" r:id="rId7"/>
    <p:sldId id="277" r:id="rId8"/>
    <p:sldId id="278" r:id="rId9"/>
    <p:sldId id="279" r:id="rId10"/>
    <p:sldId id="280" r:id="rId11"/>
    <p:sldId id="283" r:id="rId12"/>
    <p:sldId id="284" r:id="rId13"/>
    <p:sldId id="285" r:id="rId14"/>
    <p:sldId id="286" r:id="rId15"/>
    <p:sldId id="281" r:id="rId16"/>
    <p:sldId id="287" r:id="rId17"/>
    <p:sldId id="289" r:id="rId18"/>
    <p:sldId id="294" r:id="rId19"/>
    <p:sldId id="290" r:id="rId20"/>
    <p:sldId id="292" r:id="rId21"/>
    <p:sldId id="297" r:id="rId22"/>
    <p:sldId id="298" r:id="rId23"/>
    <p:sldId id="293" r:id="rId24"/>
    <p:sldId id="291" r:id="rId25"/>
    <p:sldId id="295" r:id="rId26"/>
    <p:sldId id="296" r:id="rId27"/>
    <p:sldId id="299" r:id="rId28"/>
    <p:sldId id="300" r:id="rId29"/>
    <p:sldId id="301" r:id="rId30"/>
    <p:sldId id="304" r:id="rId31"/>
    <p:sldId id="305" r:id="rId32"/>
    <p:sldId id="303" r:id="rId33"/>
    <p:sldId id="266" r:id="rId34"/>
    <p:sldId id="282" r:id="rId35"/>
    <p:sldId id="268" r:id="rId36"/>
    <p:sldId id="272" r:id="rId37"/>
    <p:sldId id="269" r:id="rId38"/>
    <p:sldId id="259" r:id="rId39"/>
    <p:sldId id="274" r:id="rId40"/>
    <p:sldId id="261" r:id="rId41"/>
    <p:sldId id="262" r:id="rId42"/>
    <p:sldId id="260" r:id="rId43"/>
    <p:sldId id="264" r:id="rId44"/>
    <p:sldId id="265" r:id="rId45"/>
    <p:sldId id="302" r:id="rId46"/>
  </p:sldIdLst>
  <p:sldSz cx="12192000" cy="6858000"/>
  <p:notesSz cx="7104063" cy="102346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49D9F63E-2A09-46C9-9B9C-3DAADFBBAD60}">
          <p14:sldIdLst>
            <p14:sldId id="256"/>
            <p14:sldId id="257"/>
          </p14:sldIdLst>
        </p14:section>
        <p14:section name="Foundations" id="{031D3092-7E01-49E6-BFE0-731A005D4EE1}">
          <p14:sldIdLst>
            <p14:sldId id="273"/>
            <p14:sldId id="275"/>
            <p14:sldId id="276"/>
            <p14:sldId id="277"/>
            <p14:sldId id="278"/>
            <p14:sldId id="279"/>
            <p14:sldId id="280"/>
          </p14:sldIdLst>
        </p14:section>
        <p14:section name="Optimization" id="{B1E765C6-6CD6-47EE-A484-95E248899EC8}">
          <p14:sldIdLst>
            <p14:sldId id="283"/>
            <p14:sldId id="284"/>
            <p14:sldId id="285"/>
            <p14:sldId id="286"/>
          </p14:sldIdLst>
        </p14:section>
        <p14:section name="Reliability" id="{1A2CA5C4-BFA4-428E-8B98-80811B5D507D}">
          <p14:sldIdLst>
            <p14:sldId id="281"/>
            <p14:sldId id="287"/>
            <p14:sldId id="289"/>
            <p14:sldId id="294"/>
          </p14:sldIdLst>
        </p14:section>
        <p14:section name="PSO" id="{9DE13261-728C-4CF9-B9AB-73A023EB26E3}">
          <p14:sldIdLst>
            <p14:sldId id="290"/>
            <p14:sldId id="292"/>
            <p14:sldId id="297"/>
            <p14:sldId id="298"/>
            <p14:sldId id="293"/>
          </p14:sldIdLst>
        </p14:section>
        <p14:section name="PSO Reliability" id="{17E1E8DA-7060-4CA8-9EEF-0B926BE71A74}">
          <p14:sldIdLst>
            <p14:sldId id="291"/>
            <p14:sldId id="295"/>
            <p14:sldId id="296"/>
            <p14:sldId id="299"/>
            <p14:sldId id="300"/>
          </p14:sldIdLst>
        </p14:section>
        <p14:section name="Conclusion" id="{DB759D7C-EDD7-4AE4-A539-0EF7C5477864}">
          <p14:sldIdLst>
            <p14:sldId id="301"/>
            <p14:sldId id="304"/>
            <p14:sldId id="305"/>
            <p14:sldId id="303"/>
          </p14:sldIdLst>
        </p14:section>
        <p14:section name="hiden 1" id="{1DAB489B-8E25-40DD-872E-0460F25F7EE1}">
          <p14:sldIdLst>
            <p14:sldId id="266"/>
            <p14:sldId id="282"/>
            <p14:sldId id="268"/>
            <p14:sldId id="272"/>
            <p14:sldId id="269"/>
            <p14:sldId id="259"/>
            <p14:sldId id="274"/>
            <p14:sldId id="261"/>
            <p14:sldId id="262"/>
            <p14:sldId id="260"/>
            <p14:sldId id="264"/>
            <p14:sldId id="265"/>
            <p14:sldId id="30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214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D7D7D"/>
    <a:srgbClr val="002060"/>
    <a:srgbClr val="FEFEFE"/>
    <a:srgbClr val="FAFAFA"/>
    <a:srgbClr val="000000"/>
    <a:srgbClr val="0058C5"/>
    <a:srgbClr val="B2B2B2"/>
    <a:srgbClr val="202020"/>
    <a:srgbClr val="323232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 showGuides="1">
      <p:cViewPr>
        <p:scale>
          <a:sx n="75" d="100"/>
          <a:sy n="75" d="100"/>
        </p:scale>
        <p:origin x="250" y="216"/>
      </p:cViewPr>
      <p:guideLst>
        <p:guide orient="horz" pos="2214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6.xml"/><Relationship Id="rId51" Type="http://schemas.openxmlformats.org/officeDocument/2006/relationships/theme" Target="theme/theme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31DC046-4C52-4843-9155-5C20D87AD492}" type="doc">
      <dgm:prSet loTypeId="urn:microsoft.com/office/officeart/2005/8/layout/cycle6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741311E-5F03-486F-87EF-B2BADCD5EE96}">
      <dgm:prSet phldrT="[Text]" phldr="0" custT="1"/>
      <dgm:spPr>
        <a:solidFill>
          <a:schemeClr val="tx1">
            <a:lumMod val="50000"/>
          </a:schemeClr>
        </a:solidFill>
        <a:ln w="38100">
          <a:solidFill>
            <a:schemeClr val="bg1"/>
          </a:solidFill>
        </a:ln>
      </dgm:spPr>
      <dgm:t>
        <a:bodyPr/>
        <a:lstStyle/>
        <a:p>
          <a:r>
            <a:rPr lang="de-DE" sz="1800" dirty="0"/>
            <a:t>Attitude</a:t>
          </a:r>
          <a:br>
            <a:rPr lang="de-DE" sz="1800" dirty="0"/>
          </a:br>
          <a:r>
            <a:rPr lang="de-DE" sz="1800" dirty="0"/>
            <a:t>Parameterisation</a:t>
          </a:r>
          <a:endParaRPr lang="en-US" sz="1800" dirty="0"/>
        </a:p>
      </dgm:t>
    </dgm:pt>
    <dgm:pt modelId="{FCDFA520-CE8E-4E28-ADD3-4912F9128C8F}" type="parTrans" cxnId="{602D8F84-672E-44D7-BD67-5BA883CAB2AA}">
      <dgm:prSet/>
      <dgm:spPr/>
      <dgm:t>
        <a:bodyPr/>
        <a:lstStyle/>
        <a:p>
          <a:endParaRPr lang="en-US"/>
        </a:p>
      </dgm:t>
    </dgm:pt>
    <dgm:pt modelId="{BFC871D6-CC0E-4DC5-92AA-8229DBC0AB0A}" type="sibTrans" cxnId="{602D8F84-672E-44D7-BD67-5BA883CAB2AA}">
      <dgm:prSet/>
      <dgm:spPr>
        <a:ln w="38100">
          <a:solidFill>
            <a:schemeClr val="bg1"/>
          </a:solidFill>
        </a:ln>
      </dgm:spPr>
      <dgm:t>
        <a:bodyPr/>
        <a:lstStyle/>
        <a:p>
          <a:endParaRPr lang="en-US"/>
        </a:p>
      </dgm:t>
    </dgm:pt>
    <dgm:pt modelId="{21802F9C-9E23-4BB7-B711-3312AED9470E}">
      <dgm:prSet phldrT="[Text]" phldr="0" custT="1"/>
      <dgm:spPr>
        <a:solidFill>
          <a:schemeClr val="tx1">
            <a:lumMod val="50000"/>
          </a:schemeClr>
        </a:solidFill>
        <a:ln w="38100">
          <a:solidFill>
            <a:schemeClr val="bg1"/>
          </a:solidFill>
        </a:ln>
      </dgm:spPr>
      <dgm:t>
        <a:bodyPr/>
        <a:lstStyle/>
        <a:p>
          <a:r>
            <a:rPr lang="de-DE" sz="1800" dirty="0"/>
            <a:t>Dynamics</a:t>
          </a:r>
          <a:br>
            <a:rPr lang="de-DE" sz="1800" dirty="0"/>
          </a:br>
          <a:r>
            <a:rPr lang="de-DE" sz="1800" dirty="0"/>
            <a:t>Formulation</a:t>
          </a:r>
          <a:endParaRPr lang="en-US" sz="1800" dirty="0"/>
        </a:p>
      </dgm:t>
    </dgm:pt>
    <dgm:pt modelId="{D265CC33-E4B3-4985-93D6-9FAC6B4C286B}" type="parTrans" cxnId="{5E46BD61-9429-4E38-A525-84B3ECC612A7}">
      <dgm:prSet/>
      <dgm:spPr/>
      <dgm:t>
        <a:bodyPr/>
        <a:lstStyle/>
        <a:p>
          <a:endParaRPr lang="en-US"/>
        </a:p>
      </dgm:t>
    </dgm:pt>
    <dgm:pt modelId="{3C1FED70-C3D8-412B-8A46-5A92CAA85D87}" type="sibTrans" cxnId="{5E46BD61-9429-4E38-A525-84B3ECC612A7}">
      <dgm:prSet/>
      <dgm:spPr>
        <a:ln w="38100">
          <a:solidFill>
            <a:schemeClr val="bg1"/>
          </a:solidFill>
        </a:ln>
      </dgm:spPr>
      <dgm:t>
        <a:bodyPr/>
        <a:lstStyle/>
        <a:p>
          <a:endParaRPr lang="en-US"/>
        </a:p>
      </dgm:t>
    </dgm:pt>
    <dgm:pt modelId="{C8244B64-C847-41C7-A433-4AFC5B7DE007}">
      <dgm:prSet phldrT="[Text]" phldr="0" custT="1"/>
      <dgm:spPr>
        <a:solidFill>
          <a:schemeClr val="tx1">
            <a:lumMod val="50000"/>
          </a:schemeClr>
        </a:solidFill>
        <a:ln w="38100">
          <a:solidFill>
            <a:schemeClr val="bg1"/>
          </a:solidFill>
        </a:ln>
      </dgm:spPr>
      <dgm:t>
        <a:bodyPr/>
        <a:lstStyle/>
        <a:p>
          <a:r>
            <a:rPr lang="de-DE" sz="1800" dirty="0"/>
            <a:t>Optimisation</a:t>
          </a:r>
          <a:br>
            <a:rPr lang="de-DE" sz="1800" dirty="0"/>
          </a:br>
          <a:r>
            <a:rPr lang="de-DE" sz="1800" dirty="0"/>
            <a:t>Methodology</a:t>
          </a:r>
          <a:endParaRPr lang="en-US" sz="1800" dirty="0"/>
        </a:p>
      </dgm:t>
    </dgm:pt>
    <dgm:pt modelId="{683C62E3-52CC-40DE-BE5E-841CD810FB66}" type="parTrans" cxnId="{765411D1-C832-4EDF-9C8B-D78154281000}">
      <dgm:prSet/>
      <dgm:spPr/>
      <dgm:t>
        <a:bodyPr/>
        <a:lstStyle/>
        <a:p>
          <a:endParaRPr lang="en-US"/>
        </a:p>
      </dgm:t>
    </dgm:pt>
    <dgm:pt modelId="{708F456B-365E-4C49-9338-C62732FF670E}" type="sibTrans" cxnId="{765411D1-C832-4EDF-9C8B-D78154281000}">
      <dgm:prSet/>
      <dgm:spPr>
        <a:ln w="38100">
          <a:solidFill>
            <a:schemeClr val="bg1"/>
          </a:solidFill>
        </a:ln>
      </dgm:spPr>
      <dgm:t>
        <a:bodyPr/>
        <a:lstStyle/>
        <a:p>
          <a:endParaRPr lang="en-US"/>
        </a:p>
      </dgm:t>
    </dgm:pt>
    <dgm:pt modelId="{52D31CAE-0EDF-4703-8082-A2C63C625157}">
      <dgm:prSet phldrT="[Text]" phldr="0" custT="1"/>
      <dgm:spPr>
        <a:solidFill>
          <a:schemeClr val="tx1">
            <a:lumMod val="50000"/>
          </a:schemeClr>
        </a:solidFill>
        <a:ln w="38100">
          <a:solidFill>
            <a:schemeClr val="bg1"/>
          </a:solidFill>
        </a:ln>
      </dgm:spPr>
      <dgm:t>
        <a:bodyPr/>
        <a:lstStyle/>
        <a:p>
          <a:r>
            <a:rPr lang="de-DE" sz="1800" dirty="0"/>
            <a:t>Computational</a:t>
          </a:r>
          <a:br>
            <a:rPr lang="de-DE" sz="1800" dirty="0"/>
          </a:br>
          <a:r>
            <a:rPr lang="de-DE" sz="1800" dirty="0"/>
            <a:t>Framework</a:t>
          </a:r>
          <a:endParaRPr lang="en-US" sz="1800" dirty="0"/>
        </a:p>
      </dgm:t>
    </dgm:pt>
    <dgm:pt modelId="{650402EA-3A99-4FFC-A613-D6197078E953}" type="parTrans" cxnId="{0F27DCA1-D615-4DC1-996A-E97D646D5842}">
      <dgm:prSet/>
      <dgm:spPr/>
      <dgm:t>
        <a:bodyPr/>
        <a:lstStyle/>
        <a:p>
          <a:endParaRPr lang="en-US"/>
        </a:p>
      </dgm:t>
    </dgm:pt>
    <dgm:pt modelId="{1225470D-AF80-4196-BBCD-C1C71E9D0646}" type="sibTrans" cxnId="{0F27DCA1-D615-4DC1-996A-E97D646D5842}">
      <dgm:prSet/>
      <dgm:spPr>
        <a:ln w="38100">
          <a:solidFill>
            <a:schemeClr val="bg1"/>
          </a:solidFill>
        </a:ln>
      </dgm:spPr>
      <dgm:t>
        <a:bodyPr/>
        <a:lstStyle/>
        <a:p>
          <a:endParaRPr lang="en-US"/>
        </a:p>
      </dgm:t>
    </dgm:pt>
    <dgm:pt modelId="{50A2E25B-D0A9-437D-9767-84872DD2625D}">
      <dgm:prSet phldrT="[Text]" phldr="0" custT="1"/>
      <dgm:spPr>
        <a:solidFill>
          <a:schemeClr val="tx1">
            <a:lumMod val="50000"/>
          </a:schemeClr>
        </a:solidFill>
        <a:ln w="38100">
          <a:solidFill>
            <a:schemeClr val="bg1"/>
          </a:solidFill>
        </a:ln>
      </dgm:spPr>
      <dgm:t>
        <a:bodyPr/>
        <a:lstStyle/>
        <a:p>
          <a:r>
            <a:rPr lang="de-DE" sz="1800" dirty="0"/>
            <a:t>NLP</a:t>
          </a:r>
          <a:br>
            <a:rPr lang="de-DE" sz="1800" dirty="0"/>
          </a:br>
          <a:r>
            <a:rPr lang="de-DE" sz="1800" dirty="0"/>
            <a:t>Solver</a:t>
          </a:r>
          <a:endParaRPr lang="en-US" sz="1800" dirty="0"/>
        </a:p>
      </dgm:t>
    </dgm:pt>
    <dgm:pt modelId="{4546EF1B-F525-4FA7-B26B-F8B2BA6C71B9}" type="parTrans" cxnId="{E9EC4D23-117F-4AD3-AFA6-9E64AEFEF8E6}">
      <dgm:prSet/>
      <dgm:spPr/>
      <dgm:t>
        <a:bodyPr/>
        <a:lstStyle/>
        <a:p>
          <a:endParaRPr lang="en-US"/>
        </a:p>
      </dgm:t>
    </dgm:pt>
    <dgm:pt modelId="{1184089A-1186-474E-96A8-F01D78979F6B}" type="sibTrans" cxnId="{E9EC4D23-117F-4AD3-AFA6-9E64AEFEF8E6}">
      <dgm:prSet/>
      <dgm:spPr>
        <a:ln w="38100">
          <a:solidFill>
            <a:schemeClr val="bg1"/>
          </a:solidFill>
        </a:ln>
      </dgm:spPr>
      <dgm:t>
        <a:bodyPr/>
        <a:lstStyle/>
        <a:p>
          <a:endParaRPr lang="en-US"/>
        </a:p>
      </dgm:t>
    </dgm:pt>
    <dgm:pt modelId="{F11B055B-CC52-4315-BE2D-29EB2EA3C8A9}">
      <dgm:prSet custT="1"/>
      <dgm:spPr>
        <a:solidFill>
          <a:schemeClr val="tx1">
            <a:lumMod val="50000"/>
          </a:schemeClr>
        </a:solidFill>
        <a:ln w="38100">
          <a:solidFill>
            <a:schemeClr val="bg1"/>
          </a:solidFill>
        </a:ln>
      </dgm:spPr>
      <dgm:t>
        <a:bodyPr/>
        <a:lstStyle/>
        <a:p>
          <a:r>
            <a:rPr lang="de-DE" sz="1800" dirty="0"/>
            <a:t>Control</a:t>
          </a:r>
          <a:br>
            <a:rPr lang="de-DE" sz="1800" dirty="0"/>
          </a:br>
          <a:r>
            <a:rPr lang="de-DE" sz="1800" dirty="0"/>
            <a:t>Parameterisation</a:t>
          </a:r>
          <a:endParaRPr lang="en-US" sz="1800" dirty="0"/>
        </a:p>
      </dgm:t>
    </dgm:pt>
    <dgm:pt modelId="{64B8375C-9389-41D4-B1D8-1A3B0C73F2A2}" type="parTrans" cxnId="{1EFDAFF7-5650-4BE1-9AB3-A92BBE66C42B}">
      <dgm:prSet/>
      <dgm:spPr/>
      <dgm:t>
        <a:bodyPr/>
        <a:lstStyle/>
        <a:p>
          <a:endParaRPr lang="en-US"/>
        </a:p>
      </dgm:t>
    </dgm:pt>
    <dgm:pt modelId="{7730BF96-EA4B-4D3F-BDA6-AA42BC99BB8B}" type="sibTrans" cxnId="{1EFDAFF7-5650-4BE1-9AB3-A92BBE66C42B}">
      <dgm:prSet/>
      <dgm:spPr>
        <a:ln w="38100">
          <a:solidFill>
            <a:schemeClr val="bg1"/>
          </a:solidFill>
        </a:ln>
      </dgm:spPr>
      <dgm:t>
        <a:bodyPr/>
        <a:lstStyle/>
        <a:p>
          <a:endParaRPr lang="en-US"/>
        </a:p>
      </dgm:t>
    </dgm:pt>
    <dgm:pt modelId="{D96F5415-542E-4C01-B84C-631CB43A98F1}" type="pres">
      <dgm:prSet presAssocID="{831DC046-4C52-4843-9155-5C20D87AD492}" presName="cycle" presStyleCnt="0">
        <dgm:presLayoutVars>
          <dgm:dir/>
          <dgm:resizeHandles val="exact"/>
        </dgm:presLayoutVars>
      </dgm:prSet>
      <dgm:spPr/>
    </dgm:pt>
    <dgm:pt modelId="{0A971159-2FA5-49F8-9379-7DFDEC522630}" type="pres">
      <dgm:prSet presAssocID="{3741311E-5F03-486F-87EF-B2BADCD5EE96}" presName="node" presStyleLbl="node1" presStyleIdx="0" presStyleCnt="6" custScaleX="156687" custScaleY="77483">
        <dgm:presLayoutVars>
          <dgm:bulletEnabled val="1"/>
        </dgm:presLayoutVars>
      </dgm:prSet>
      <dgm:spPr/>
    </dgm:pt>
    <dgm:pt modelId="{ABCB961D-9714-46CE-8A43-7E7D9239E90D}" type="pres">
      <dgm:prSet presAssocID="{3741311E-5F03-486F-87EF-B2BADCD5EE96}" presName="spNode" presStyleCnt="0"/>
      <dgm:spPr/>
    </dgm:pt>
    <dgm:pt modelId="{5DAFF906-88C4-40C6-B6A8-F32251651E77}" type="pres">
      <dgm:prSet presAssocID="{BFC871D6-CC0E-4DC5-92AA-8229DBC0AB0A}" presName="sibTrans" presStyleLbl="sibTrans1D1" presStyleIdx="0" presStyleCnt="6"/>
      <dgm:spPr/>
    </dgm:pt>
    <dgm:pt modelId="{40CC6FAE-BB9B-4A74-8211-2E5AE5EA582F}" type="pres">
      <dgm:prSet presAssocID="{21802F9C-9E23-4BB7-B711-3312AED9470E}" presName="node" presStyleLbl="node1" presStyleIdx="1" presStyleCnt="6" custScaleX="156687" custScaleY="77483">
        <dgm:presLayoutVars>
          <dgm:bulletEnabled val="1"/>
        </dgm:presLayoutVars>
      </dgm:prSet>
      <dgm:spPr/>
    </dgm:pt>
    <dgm:pt modelId="{16E34488-2EC8-4483-AAD5-B263EF115DBD}" type="pres">
      <dgm:prSet presAssocID="{21802F9C-9E23-4BB7-B711-3312AED9470E}" presName="spNode" presStyleCnt="0"/>
      <dgm:spPr/>
    </dgm:pt>
    <dgm:pt modelId="{B3C5F432-E9C3-4B94-BC8E-336DAFB3DEEB}" type="pres">
      <dgm:prSet presAssocID="{3C1FED70-C3D8-412B-8A46-5A92CAA85D87}" presName="sibTrans" presStyleLbl="sibTrans1D1" presStyleIdx="1" presStyleCnt="6"/>
      <dgm:spPr/>
    </dgm:pt>
    <dgm:pt modelId="{62450E01-B5BB-4596-AA84-C6B68BA22E17}" type="pres">
      <dgm:prSet presAssocID="{F11B055B-CC52-4315-BE2D-29EB2EA3C8A9}" presName="node" presStyleLbl="node1" presStyleIdx="2" presStyleCnt="6" custScaleX="156687" custScaleY="77483">
        <dgm:presLayoutVars>
          <dgm:bulletEnabled val="1"/>
        </dgm:presLayoutVars>
      </dgm:prSet>
      <dgm:spPr/>
    </dgm:pt>
    <dgm:pt modelId="{F1281664-0016-48A2-AF4D-2A3D067E2A8F}" type="pres">
      <dgm:prSet presAssocID="{F11B055B-CC52-4315-BE2D-29EB2EA3C8A9}" presName="spNode" presStyleCnt="0"/>
      <dgm:spPr/>
    </dgm:pt>
    <dgm:pt modelId="{B35B1855-F262-43FF-894C-A1EE99B468B4}" type="pres">
      <dgm:prSet presAssocID="{7730BF96-EA4B-4D3F-BDA6-AA42BC99BB8B}" presName="sibTrans" presStyleLbl="sibTrans1D1" presStyleIdx="2" presStyleCnt="6"/>
      <dgm:spPr/>
    </dgm:pt>
    <dgm:pt modelId="{B44B9DB0-22E3-4707-B3E4-E1543465D50B}" type="pres">
      <dgm:prSet presAssocID="{C8244B64-C847-41C7-A433-4AFC5B7DE007}" presName="node" presStyleLbl="node1" presStyleIdx="3" presStyleCnt="6" custScaleX="156687" custScaleY="77483">
        <dgm:presLayoutVars>
          <dgm:bulletEnabled val="1"/>
        </dgm:presLayoutVars>
      </dgm:prSet>
      <dgm:spPr/>
    </dgm:pt>
    <dgm:pt modelId="{9D337E41-961D-47FC-B78E-561E0C315A45}" type="pres">
      <dgm:prSet presAssocID="{C8244B64-C847-41C7-A433-4AFC5B7DE007}" presName="spNode" presStyleCnt="0"/>
      <dgm:spPr/>
    </dgm:pt>
    <dgm:pt modelId="{786B7CA3-072A-477E-9BB0-5E4FFECF36A3}" type="pres">
      <dgm:prSet presAssocID="{708F456B-365E-4C49-9338-C62732FF670E}" presName="sibTrans" presStyleLbl="sibTrans1D1" presStyleIdx="3" presStyleCnt="6"/>
      <dgm:spPr/>
    </dgm:pt>
    <dgm:pt modelId="{915311B5-19A6-4DFB-BB07-40FB8DC75694}" type="pres">
      <dgm:prSet presAssocID="{52D31CAE-0EDF-4703-8082-A2C63C625157}" presName="node" presStyleLbl="node1" presStyleIdx="4" presStyleCnt="6" custScaleX="156687" custScaleY="77483">
        <dgm:presLayoutVars>
          <dgm:bulletEnabled val="1"/>
        </dgm:presLayoutVars>
      </dgm:prSet>
      <dgm:spPr/>
    </dgm:pt>
    <dgm:pt modelId="{16637554-0651-47F4-BCD0-42775E58BEEE}" type="pres">
      <dgm:prSet presAssocID="{52D31CAE-0EDF-4703-8082-A2C63C625157}" presName="spNode" presStyleCnt="0"/>
      <dgm:spPr/>
    </dgm:pt>
    <dgm:pt modelId="{260B3A5C-B4DF-4637-AAD0-5A1939C13163}" type="pres">
      <dgm:prSet presAssocID="{1225470D-AF80-4196-BBCD-C1C71E9D0646}" presName="sibTrans" presStyleLbl="sibTrans1D1" presStyleIdx="4" presStyleCnt="6"/>
      <dgm:spPr/>
    </dgm:pt>
    <dgm:pt modelId="{4E3BB357-1501-4432-A9A2-E699F344F756}" type="pres">
      <dgm:prSet presAssocID="{50A2E25B-D0A9-437D-9767-84872DD2625D}" presName="node" presStyleLbl="node1" presStyleIdx="5" presStyleCnt="6" custScaleX="156687" custScaleY="77483">
        <dgm:presLayoutVars>
          <dgm:bulletEnabled val="1"/>
        </dgm:presLayoutVars>
      </dgm:prSet>
      <dgm:spPr/>
    </dgm:pt>
    <dgm:pt modelId="{A3410190-38BE-4402-9CFF-3B2EEB2D664F}" type="pres">
      <dgm:prSet presAssocID="{50A2E25B-D0A9-437D-9767-84872DD2625D}" presName="spNode" presStyleCnt="0"/>
      <dgm:spPr/>
    </dgm:pt>
    <dgm:pt modelId="{EA345D5A-595B-4FF0-B478-25F4B45C5BA1}" type="pres">
      <dgm:prSet presAssocID="{1184089A-1186-474E-96A8-F01D78979F6B}" presName="sibTrans" presStyleLbl="sibTrans1D1" presStyleIdx="5" presStyleCnt="6"/>
      <dgm:spPr/>
    </dgm:pt>
  </dgm:ptLst>
  <dgm:cxnLst>
    <dgm:cxn modelId="{E9EC4D23-117F-4AD3-AFA6-9E64AEFEF8E6}" srcId="{831DC046-4C52-4843-9155-5C20D87AD492}" destId="{50A2E25B-D0A9-437D-9767-84872DD2625D}" srcOrd="5" destOrd="0" parTransId="{4546EF1B-F525-4FA7-B26B-F8B2BA6C71B9}" sibTransId="{1184089A-1186-474E-96A8-F01D78979F6B}"/>
    <dgm:cxn modelId="{864FB527-14B6-49C0-AF22-C5CE47BFF835}" type="presOf" srcId="{708F456B-365E-4C49-9338-C62732FF670E}" destId="{786B7CA3-072A-477E-9BB0-5E4FFECF36A3}" srcOrd="0" destOrd="0" presId="urn:microsoft.com/office/officeart/2005/8/layout/cycle6"/>
    <dgm:cxn modelId="{8DA6C938-E100-4D8F-8247-24C49AEC3D88}" type="presOf" srcId="{1225470D-AF80-4196-BBCD-C1C71E9D0646}" destId="{260B3A5C-B4DF-4637-AAD0-5A1939C13163}" srcOrd="0" destOrd="0" presId="urn:microsoft.com/office/officeart/2005/8/layout/cycle6"/>
    <dgm:cxn modelId="{AB672B3A-9F8B-4C1C-8CCF-F5AE1741E255}" type="presOf" srcId="{C8244B64-C847-41C7-A433-4AFC5B7DE007}" destId="{B44B9DB0-22E3-4707-B3E4-E1543465D50B}" srcOrd="0" destOrd="0" presId="urn:microsoft.com/office/officeart/2005/8/layout/cycle6"/>
    <dgm:cxn modelId="{5E46BD61-9429-4E38-A525-84B3ECC612A7}" srcId="{831DC046-4C52-4843-9155-5C20D87AD492}" destId="{21802F9C-9E23-4BB7-B711-3312AED9470E}" srcOrd="1" destOrd="0" parTransId="{D265CC33-E4B3-4985-93D6-9FAC6B4C286B}" sibTransId="{3C1FED70-C3D8-412B-8A46-5A92CAA85D87}"/>
    <dgm:cxn modelId="{4BF17462-48EF-43C0-8350-E7547AA0BFFB}" type="presOf" srcId="{7730BF96-EA4B-4D3F-BDA6-AA42BC99BB8B}" destId="{B35B1855-F262-43FF-894C-A1EE99B468B4}" srcOrd="0" destOrd="0" presId="urn:microsoft.com/office/officeart/2005/8/layout/cycle6"/>
    <dgm:cxn modelId="{72A6D966-C2F7-4656-B1E4-E4B916B9216B}" type="presOf" srcId="{21802F9C-9E23-4BB7-B711-3312AED9470E}" destId="{40CC6FAE-BB9B-4A74-8211-2E5AE5EA582F}" srcOrd="0" destOrd="0" presId="urn:microsoft.com/office/officeart/2005/8/layout/cycle6"/>
    <dgm:cxn modelId="{DEF34967-05E0-477A-AAD8-493126A130A8}" type="presOf" srcId="{BFC871D6-CC0E-4DC5-92AA-8229DBC0AB0A}" destId="{5DAFF906-88C4-40C6-B6A8-F32251651E77}" srcOrd="0" destOrd="0" presId="urn:microsoft.com/office/officeart/2005/8/layout/cycle6"/>
    <dgm:cxn modelId="{602D8F84-672E-44D7-BD67-5BA883CAB2AA}" srcId="{831DC046-4C52-4843-9155-5C20D87AD492}" destId="{3741311E-5F03-486F-87EF-B2BADCD5EE96}" srcOrd="0" destOrd="0" parTransId="{FCDFA520-CE8E-4E28-ADD3-4912F9128C8F}" sibTransId="{BFC871D6-CC0E-4DC5-92AA-8229DBC0AB0A}"/>
    <dgm:cxn modelId="{87D13686-7F06-4063-9A6B-AB8D21F2AAD0}" type="presOf" srcId="{52D31CAE-0EDF-4703-8082-A2C63C625157}" destId="{915311B5-19A6-4DFB-BB07-40FB8DC75694}" srcOrd="0" destOrd="0" presId="urn:microsoft.com/office/officeart/2005/8/layout/cycle6"/>
    <dgm:cxn modelId="{1406299E-465B-46F7-B281-1BB29984647D}" type="presOf" srcId="{1184089A-1186-474E-96A8-F01D78979F6B}" destId="{EA345D5A-595B-4FF0-B478-25F4B45C5BA1}" srcOrd="0" destOrd="0" presId="urn:microsoft.com/office/officeart/2005/8/layout/cycle6"/>
    <dgm:cxn modelId="{0F27DCA1-D615-4DC1-996A-E97D646D5842}" srcId="{831DC046-4C52-4843-9155-5C20D87AD492}" destId="{52D31CAE-0EDF-4703-8082-A2C63C625157}" srcOrd="4" destOrd="0" parTransId="{650402EA-3A99-4FFC-A613-D6197078E953}" sibTransId="{1225470D-AF80-4196-BBCD-C1C71E9D0646}"/>
    <dgm:cxn modelId="{221539A7-DC1E-46F0-88EF-B4269BF3ECF0}" type="presOf" srcId="{3741311E-5F03-486F-87EF-B2BADCD5EE96}" destId="{0A971159-2FA5-49F8-9379-7DFDEC522630}" srcOrd="0" destOrd="0" presId="urn:microsoft.com/office/officeart/2005/8/layout/cycle6"/>
    <dgm:cxn modelId="{C2DB76AE-1598-4FFA-A45B-FA068A9155B3}" type="presOf" srcId="{831DC046-4C52-4843-9155-5C20D87AD492}" destId="{D96F5415-542E-4C01-B84C-631CB43A98F1}" srcOrd="0" destOrd="0" presId="urn:microsoft.com/office/officeart/2005/8/layout/cycle6"/>
    <dgm:cxn modelId="{009DD4C9-0CEE-4BD4-8661-3143D9E1C815}" type="presOf" srcId="{3C1FED70-C3D8-412B-8A46-5A92CAA85D87}" destId="{B3C5F432-E9C3-4B94-BC8E-336DAFB3DEEB}" srcOrd="0" destOrd="0" presId="urn:microsoft.com/office/officeart/2005/8/layout/cycle6"/>
    <dgm:cxn modelId="{765411D1-C832-4EDF-9C8B-D78154281000}" srcId="{831DC046-4C52-4843-9155-5C20D87AD492}" destId="{C8244B64-C847-41C7-A433-4AFC5B7DE007}" srcOrd="3" destOrd="0" parTransId="{683C62E3-52CC-40DE-BE5E-841CD810FB66}" sibTransId="{708F456B-365E-4C49-9338-C62732FF670E}"/>
    <dgm:cxn modelId="{BDA40AE3-430E-4FFD-A62E-E75C8ED94038}" type="presOf" srcId="{F11B055B-CC52-4315-BE2D-29EB2EA3C8A9}" destId="{62450E01-B5BB-4596-AA84-C6B68BA22E17}" srcOrd="0" destOrd="0" presId="urn:microsoft.com/office/officeart/2005/8/layout/cycle6"/>
    <dgm:cxn modelId="{1EFDAFF7-5650-4BE1-9AB3-A92BBE66C42B}" srcId="{831DC046-4C52-4843-9155-5C20D87AD492}" destId="{F11B055B-CC52-4315-BE2D-29EB2EA3C8A9}" srcOrd="2" destOrd="0" parTransId="{64B8375C-9389-41D4-B1D8-1A3B0C73F2A2}" sibTransId="{7730BF96-EA4B-4D3F-BDA6-AA42BC99BB8B}"/>
    <dgm:cxn modelId="{1FEEB8FE-23CB-415C-A0BF-4B48D34DD663}" type="presOf" srcId="{50A2E25B-D0A9-437D-9767-84872DD2625D}" destId="{4E3BB357-1501-4432-A9A2-E699F344F756}" srcOrd="0" destOrd="0" presId="urn:microsoft.com/office/officeart/2005/8/layout/cycle6"/>
    <dgm:cxn modelId="{EE23AB14-9151-4D59-A408-1B1A352726FA}" type="presParOf" srcId="{D96F5415-542E-4C01-B84C-631CB43A98F1}" destId="{0A971159-2FA5-49F8-9379-7DFDEC522630}" srcOrd="0" destOrd="0" presId="urn:microsoft.com/office/officeart/2005/8/layout/cycle6"/>
    <dgm:cxn modelId="{2D971C38-B6AC-4BD9-96AE-FF9EB863EAED}" type="presParOf" srcId="{D96F5415-542E-4C01-B84C-631CB43A98F1}" destId="{ABCB961D-9714-46CE-8A43-7E7D9239E90D}" srcOrd="1" destOrd="0" presId="urn:microsoft.com/office/officeart/2005/8/layout/cycle6"/>
    <dgm:cxn modelId="{B316E018-5F39-40AD-B3D0-8C3E0E079097}" type="presParOf" srcId="{D96F5415-542E-4C01-B84C-631CB43A98F1}" destId="{5DAFF906-88C4-40C6-B6A8-F32251651E77}" srcOrd="2" destOrd="0" presId="urn:microsoft.com/office/officeart/2005/8/layout/cycle6"/>
    <dgm:cxn modelId="{E7180766-0374-43E7-B4AA-26E02C3CD626}" type="presParOf" srcId="{D96F5415-542E-4C01-B84C-631CB43A98F1}" destId="{40CC6FAE-BB9B-4A74-8211-2E5AE5EA582F}" srcOrd="3" destOrd="0" presId="urn:microsoft.com/office/officeart/2005/8/layout/cycle6"/>
    <dgm:cxn modelId="{A2A0B03D-989B-4AF3-844E-8D0656DA4104}" type="presParOf" srcId="{D96F5415-542E-4C01-B84C-631CB43A98F1}" destId="{16E34488-2EC8-4483-AAD5-B263EF115DBD}" srcOrd="4" destOrd="0" presId="urn:microsoft.com/office/officeart/2005/8/layout/cycle6"/>
    <dgm:cxn modelId="{608EC486-EC60-4809-B92B-13C0A23FC271}" type="presParOf" srcId="{D96F5415-542E-4C01-B84C-631CB43A98F1}" destId="{B3C5F432-E9C3-4B94-BC8E-336DAFB3DEEB}" srcOrd="5" destOrd="0" presId="urn:microsoft.com/office/officeart/2005/8/layout/cycle6"/>
    <dgm:cxn modelId="{4CA0FFE7-344F-49C8-9805-C19D7C175DDA}" type="presParOf" srcId="{D96F5415-542E-4C01-B84C-631CB43A98F1}" destId="{62450E01-B5BB-4596-AA84-C6B68BA22E17}" srcOrd="6" destOrd="0" presId="urn:microsoft.com/office/officeart/2005/8/layout/cycle6"/>
    <dgm:cxn modelId="{72209C4F-BCB1-4338-9A27-D687211248A8}" type="presParOf" srcId="{D96F5415-542E-4C01-B84C-631CB43A98F1}" destId="{F1281664-0016-48A2-AF4D-2A3D067E2A8F}" srcOrd="7" destOrd="0" presId="urn:microsoft.com/office/officeart/2005/8/layout/cycle6"/>
    <dgm:cxn modelId="{0893D4B7-190B-4746-80AF-6837EF77FADD}" type="presParOf" srcId="{D96F5415-542E-4C01-B84C-631CB43A98F1}" destId="{B35B1855-F262-43FF-894C-A1EE99B468B4}" srcOrd="8" destOrd="0" presId="urn:microsoft.com/office/officeart/2005/8/layout/cycle6"/>
    <dgm:cxn modelId="{156374E5-6F55-44C0-A1B6-7E1BE7792EC0}" type="presParOf" srcId="{D96F5415-542E-4C01-B84C-631CB43A98F1}" destId="{B44B9DB0-22E3-4707-B3E4-E1543465D50B}" srcOrd="9" destOrd="0" presId="urn:microsoft.com/office/officeart/2005/8/layout/cycle6"/>
    <dgm:cxn modelId="{D6FD6CCA-023D-4E18-AD1A-B37590E4F9ED}" type="presParOf" srcId="{D96F5415-542E-4C01-B84C-631CB43A98F1}" destId="{9D337E41-961D-47FC-B78E-561E0C315A45}" srcOrd="10" destOrd="0" presId="urn:microsoft.com/office/officeart/2005/8/layout/cycle6"/>
    <dgm:cxn modelId="{D9F49B3D-D1DE-44F7-A90D-18454D5F2A54}" type="presParOf" srcId="{D96F5415-542E-4C01-B84C-631CB43A98F1}" destId="{786B7CA3-072A-477E-9BB0-5E4FFECF36A3}" srcOrd="11" destOrd="0" presId="urn:microsoft.com/office/officeart/2005/8/layout/cycle6"/>
    <dgm:cxn modelId="{6F2D5906-8F9A-482C-9449-E6307E638251}" type="presParOf" srcId="{D96F5415-542E-4C01-B84C-631CB43A98F1}" destId="{915311B5-19A6-4DFB-BB07-40FB8DC75694}" srcOrd="12" destOrd="0" presId="urn:microsoft.com/office/officeart/2005/8/layout/cycle6"/>
    <dgm:cxn modelId="{9CC01D7B-9726-44DF-B2E7-764191E45E96}" type="presParOf" srcId="{D96F5415-542E-4C01-B84C-631CB43A98F1}" destId="{16637554-0651-47F4-BCD0-42775E58BEEE}" srcOrd="13" destOrd="0" presId="urn:microsoft.com/office/officeart/2005/8/layout/cycle6"/>
    <dgm:cxn modelId="{A4F30427-BCFF-4688-865D-05D0FAB3FC72}" type="presParOf" srcId="{D96F5415-542E-4C01-B84C-631CB43A98F1}" destId="{260B3A5C-B4DF-4637-AAD0-5A1939C13163}" srcOrd="14" destOrd="0" presId="urn:microsoft.com/office/officeart/2005/8/layout/cycle6"/>
    <dgm:cxn modelId="{003E16C6-8C32-4F15-A6CA-0BB3FB6CD862}" type="presParOf" srcId="{D96F5415-542E-4C01-B84C-631CB43A98F1}" destId="{4E3BB357-1501-4432-A9A2-E699F344F756}" srcOrd="15" destOrd="0" presId="urn:microsoft.com/office/officeart/2005/8/layout/cycle6"/>
    <dgm:cxn modelId="{74B4E4AC-2C9C-4E03-9943-21458DB03172}" type="presParOf" srcId="{D96F5415-542E-4C01-B84C-631CB43A98F1}" destId="{A3410190-38BE-4402-9CFF-3B2EEB2D664F}" srcOrd="16" destOrd="0" presId="urn:microsoft.com/office/officeart/2005/8/layout/cycle6"/>
    <dgm:cxn modelId="{46C7300F-7F55-4432-AFF8-6ABFA586079D}" type="presParOf" srcId="{D96F5415-542E-4C01-B84C-631CB43A98F1}" destId="{EA345D5A-595B-4FF0-B478-25F4B45C5BA1}" srcOrd="17" destOrd="0" presId="urn:microsoft.com/office/officeart/2005/8/layout/cycle6"/>
  </dgm:cxnLst>
  <dgm:bg/>
  <dgm:whole>
    <a:ln w="38100"/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31DC046-4C52-4843-9155-5C20D87AD492}" type="doc">
      <dgm:prSet loTypeId="urn:microsoft.com/office/officeart/2005/8/layout/cycle6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741311E-5F03-486F-87EF-B2BADCD5EE96}">
      <dgm:prSet phldrT="[Text]" phldr="0" custT="1"/>
      <dgm:spPr>
        <a:solidFill>
          <a:srgbClr val="7030A0"/>
        </a:solidFill>
        <a:ln w="38100">
          <a:solidFill>
            <a:schemeClr val="bg1"/>
          </a:solidFill>
        </a:ln>
      </dgm:spPr>
      <dgm:t>
        <a:bodyPr/>
        <a:lstStyle/>
        <a:p>
          <a:r>
            <a:rPr lang="de-DE" sz="1800" dirty="0"/>
            <a:t>Attitude</a:t>
          </a:r>
          <a:br>
            <a:rPr lang="de-DE" sz="1800" dirty="0"/>
          </a:br>
          <a:r>
            <a:rPr lang="de-DE" sz="1800" dirty="0"/>
            <a:t>Parameterisation</a:t>
          </a:r>
          <a:endParaRPr lang="en-US" sz="1800" dirty="0"/>
        </a:p>
      </dgm:t>
    </dgm:pt>
    <dgm:pt modelId="{FCDFA520-CE8E-4E28-ADD3-4912F9128C8F}" type="parTrans" cxnId="{602D8F84-672E-44D7-BD67-5BA883CAB2AA}">
      <dgm:prSet/>
      <dgm:spPr/>
      <dgm:t>
        <a:bodyPr/>
        <a:lstStyle/>
        <a:p>
          <a:endParaRPr lang="en-US"/>
        </a:p>
      </dgm:t>
    </dgm:pt>
    <dgm:pt modelId="{BFC871D6-CC0E-4DC5-92AA-8229DBC0AB0A}" type="sibTrans" cxnId="{602D8F84-672E-44D7-BD67-5BA883CAB2AA}">
      <dgm:prSet/>
      <dgm:spPr>
        <a:ln w="38100">
          <a:solidFill>
            <a:schemeClr val="bg1"/>
          </a:solidFill>
        </a:ln>
      </dgm:spPr>
      <dgm:t>
        <a:bodyPr/>
        <a:lstStyle/>
        <a:p>
          <a:endParaRPr lang="en-US"/>
        </a:p>
      </dgm:t>
    </dgm:pt>
    <dgm:pt modelId="{21802F9C-9E23-4BB7-B711-3312AED9470E}">
      <dgm:prSet phldrT="[Text]" phldr="0" custT="1"/>
      <dgm:spPr>
        <a:solidFill>
          <a:schemeClr val="tx1">
            <a:lumMod val="50000"/>
          </a:schemeClr>
        </a:solidFill>
        <a:ln w="38100">
          <a:solidFill>
            <a:schemeClr val="bg1"/>
          </a:solidFill>
        </a:ln>
      </dgm:spPr>
      <dgm:t>
        <a:bodyPr/>
        <a:lstStyle/>
        <a:p>
          <a:r>
            <a:rPr lang="de-DE" sz="1800" dirty="0"/>
            <a:t>Dynamics</a:t>
          </a:r>
          <a:br>
            <a:rPr lang="de-DE" sz="1800" dirty="0"/>
          </a:br>
          <a:r>
            <a:rPr lang="de-DE" sz="1800" dirty="0"/>
            <a:t>Formulation</a:t>
          </a:r>
          <a:endParaRPr lang="en-US" sz="1800" dirty="0"/>
        </a:p>
      </dgm:t>
    </dgm:pt>
    <dgm:pt modelId="{D265CC33-E4B3-4985-93D6-9FAC6B4C286B}" type="parTrans" cxnId="{5E46BD61-9429-4E38-A525-84B3ECC612A7}">
      <dgm:prSet/>
      <dgm:spPr/>
      <dgm:t>
        <a:bodyPr/>
        <a:lstStyle/>
        <a:p>
          <a:endParaRPr lang="en-US"/>
        </a:p>
      </dgm:t>
    </dgm:pt>
    <dgm:pt modelId="{3C1FED70-C3D8-412B-8A46-5A92CAA85D87}" type="sibTrans" cxnId="{5E46BD61-9429-4E38-A525-84B3ECC612A7}">
      <dgm:prSet/>
      <dgm:spPr>
        <a:ln w="38100">
          <a:solidFill>
            <a:schemeClr val="bg1"/>
          </a:solidFill>
        </a:ln>
      </dgm:spPr>
      <dgm:t>
        <a:bodyPr/>
        <a:lstStyle/>
        <a:p>
          <a:endParaRPr lang="en-US"/>
        </a:p>
      </dgm:t>
    </dgm:pt>
    <dgm:pt modelId="{C8244B64-C847-41C7-A433-4AFC5B7DE007}">
      <dgm:prSet phldrT="[Text]" phldr="0" custT="1"/>
      <dgm:spPr>
        <a:solidFill>
          <a:schemeClr val="tx1">
            <a:lumMod val="50000"/>
          </a:schemeClr>
        </a:solidFill>
        <a:ln w="38100">
          <a:solidFill>
            <a:schemeClr val="bg1"/>
          </a:solidFill>
        </a:ln>
      </dgm:spPr>
      <dgm:t>
        <a:bodyPr/>
        <a:lstStyle/>
        <a:p>
          <a:r>
            <a:rPr lang="de-DE" sz="1800" dirty="0"/>
            <a:t>Optimisation</a:t>
          </a:r>
          <a:br>
            <a:rPr lang="de-DE" sz="1800" dirty="0"/>
          </a:br>
          <a:r>
            <a:rPr lang="de-DE" sz="1800" dirty="0"/>
            <a:t>Methodology</a:t>
          </a:r>
          <a:endParaRPr lang="en-US" sz="1800" dirty="0"/>
        </a:p>
      </dgm:t>
    </dgm:pt>
    <dgm:pt modelId="{683C62E3-52CC-40DE-BE5E-841CD810FB66}" type="parTrans" cxnId="{765411D1-C832-4EDF-9C8B-D78154281000}">
      <dgm:prSet/>
      <dgm:spPr/>
      <dgm:t>
        <a:bodyPr/>
        <a:lstStyle/>
        <a:p>
          <a:endParaRPr lang="en-US"/>
        </a:p>
      </dgm:t>
    </dgm:pt>
    <dgm:pt modelId="{708F456B-365E-4C49-9338-C62732FF670E}" type="sibTrans" cxnId="{765411D1-C832-4EDF-9C8B-D78154281000}">
      <dgm:prSet/>
      <dgm:spPr>
        <a:ln w="38100">
          <a:solidFill>
            <a:schemeClr val="bg1"/>
          </a:solidFill>
        </a:ln>
      </dgm:spPr>
      <dgm:t>
        <a:bodyPr/>
        <a:lstStyle/>
        <a:p>
          <a:endParaRPr lang="en-US"/>
        </a:p>
      </dgm:t>
    </dgm:pt>
    <dgm:pt modelId="{52D31CAE-0EDF-4703-8082-A2C63C625157}">
      <dgm:prSet phldrT="[Text]" phldr="0" custT="1"/>
      <dgm:spPr>
        <a:solidFill>
          <a:schemeClr val="tx1">
            <a:lumMod val="50000"/>
          </a:schemeClr>
        </a:solidFill>
        <a:ln w="38100">
          <a:solidFill>
            <a:schemeClr val="bg1"/>
          </a:solidFill>
        </a:ln>
      </dgm:spPr>
      <dgm:t>
        <a:bodyPr/>
        <a:lstStyle/>
        <a:p>
          <a:r>
            <a:rPr lang="de-DE" sz="1800" dirty="0"/>
            <a:t>Computational</a:t>
          </a:r>
          <a:br>
            <a:rPr lang="de-DE" sz="1800" dirty="0"/>
          </a:br>
          <a:r>
            <a:rPr lang="de-DE" sz="1800" dirty="0"/>
            <a:t>Framework</a:t>
          </a:r>
          <a:endParaRPr lang="en-US" sz="1800" dirty="0"/>
        </a:p>
      </dgm:t>
    </dgm:pt>
    <dgm:pt modelId="{650402EA-3A99-4FFC-A613-D6197078E953}" type="parTrans" cxnId="{0F27DCA1-D615-4DC1-996A-E97D646D5842}">
      <dgm:prSet/>
      <dgm:spPr/>
      <dgm:t>
        <a:bodyPr/>
        <a:lstStyle/>
        <a:p>
          <a:endParaRPr lang="en-US"/>
        </a:p>
      </dgm:t>
    </dgm:pt>
    <dgm:pt modelId="{1225470D-AF80-4196-BBCD-C1C71E9D0646}" type="sibTrans" cxnId="{0F27DCA1-D615-4DC1-996A-E97D646D5842}">
      <dgm:prSet/>
      <dgm:spPr>
        <a:ln w="38100">
          <a:solidFill>
            <a:schemeClr val="bg1"/>
          </a:solidFill>
        </a:ln>
      </dgm:spPr>
      <dgm:t>
        <a:bodyPr/>
        <a:lstStyle/>
        <a:p>
          <a:endParaRPr lang="en-US"/>
        </a:p>
      </dgm:t>
    </dgm:pt>
    <dgm:pt modelId="{50A2E25B-D0A9-437D-9767-84872DD2625D}">
      <dgm:prSet phldrT="[Text]" phldr="0" custT="1"/>
      <dgm:spPr>
        <a:solidFill>
          <a:schemeClr val="tx1">
            <a:lumMod val="50000"/>
          </a:schemeClr>
        </a:solidFill>
        <a:ln w="38100">
          <a:solidFill>
            <a:schemeClr val="bg1"/>
          </a:solidFill>
        </a:ln>
      </dgm:spPr>
      <dgm:t>
        <a:bodyPr/>
        <a:lstStyle/>
        <a:p>
          <a:r>
            <a:rPr lang="de-DE" sz="1800" dirty="0"/>
            <a:t>NLP</a:t>
          </a:r>
          <a:br>
            <a:rPr lang="de-DE" sz="1800" dirty="0"/>
          </a:br>
          <a:r>
            <a:rPr lang="de-DE" sz="1800" dirty="0"/>
            <a:t>Solver</a:t>
          </a:r>
          <a:endParaRPr lang="en-US" sz="1800" dirty="0"/>
        </a:p>
      </dgm:t>
    </dgm:pt>
    <dgm:pt modelId="{4546EF1B-F525-4FA7-B26B-F8B2BA6C71B9}" type="parTrans" cxnId="{E9EC4D23-117F-4AD3-AFA6-9E64AEFEF8E6}">
      <dgm:prSet/>
      <dgm:spPr/>
      <dgm:t>
        <a:bodyPr/>
        <a:lstStyle/>
        <a:p>
          <a:endParaRPr lang="en-US"/>
        </a:p>
      </dgm:t>
    </dgm:pt>
    <dgm:pt modelId="{1184089A-1186-474E-96A8-F01D78979F6B}" type="sibTrans" cxnId="{E9EC4D23-117F-4AD3-AFA6-9E64AEFEF8E6}">
      <dgm:prSet/>
      <dgm:spPr>
        <a:ln w="38100">
          <a:solidFill>
            <a:schemeClr val="bg1"/>
          </a:solidFill>
        </a:ln>
      </dgm:spPr>
      <dgm:t>
        <a:bodyPr/>
        <a:lstStyle/>
        <a:p>
          <a:endParaRPr lang="en-US"/>
        </a:p>
      </dgm:t>
    </dgm:pt>
    <dgm:pt modelId="{F11B055B-CC52-4315-BE2D-29EB2EA3C8A9}">
      <dgm:prSet custT="1"/>
      <dgm:spPr>
        <a:solidFill>
          <a:schemeClr val="tx1">
            <a:lumMod val="50000"/>
          </a:schemeClr>
        </a:solidFill>
        <a:ln w="38100">
          <a:solidFill>
            <a:schemeClr val="bg1"/>
          </a:solidFill>
        </a:ln>
      </dgm:spPr>
      <dgm:t>
        <a:bodyPr/>
        <a:lstStyle/>
        <a:p>
          <a:r>
            <a:rPr lang="de-DE" sz="1800" dirty="0"/>
            <a:t>Control</a:t>
          </a:r>
          <a:br>
            <a:rPr lang="de-DE" sz="1800" dirty="0"/>
          </a:br>
          <a:r>
            <a:rPr lang="de-DE" sz="1800" dirty="0"/>
            <a:t>Parameterisation</a:t>
          </a:r>
          <a:endParaRPr lang="en-US" sz="1800" dirty="0"/>
        </a:p>
      </dgm:t>
    </dgm:pt>
    <dgm:pt modelId="{64B8375C-9389-41D4-B1D8-1A3B0C73F2A2}" type="parTrans" cxnId="{1EFDAFF7-5650-4BE1-9AB3-A92BBE66C42B}">
      <dgm:prSet/>
      <dgm:spPr/>
      <dgm:t>
        <a:bodyPr/>
        <a:lstStyle/>
        <a:p>
          <a:endParaRPr lang="en-US"/>
        </a:p>
      </dgm:t>
    </dgm:pt>
    <dgm:pt modelId="{7730BF96-EA4B-4D3F-BDA6-AA42BC99BB8B}" type="sibTrans" cxnId="{1EFDAFF7-5650-4BE1-9AB3-A92BBE66C42B}">
      <dgm:prSet/>
      <dgm:spPr>
        <a:ln w="38100">
          <a:solidFill>
            <a:schemeClr val="bg1"/>
          </a:solidFill>
        </a:ln>
      </dgm:spPr>
      <dgm:t>
        <a:bodyPr/>
        <a:lstStyle/>
        <a:p>
          <a:endParaRPr lang="en-US"/>
        </a:p>
      </dgm:t>
    </dgm:pt>
    <dgm:pt modelId="{D96F5415-542E-4C01-B84C-631CB43A98F1}" type="pres">
      <dgm:prSet presAssocID="{831DC046-4C52-4843-9155-5C20D87AD492}" presName="cycle" presStyleCnt="0">
        <dgm:presLayoutVars>
          <dgm:dir/>
          <dgm:resizeHandles val="exact"/>
        </dgm:presLayoutVars>
      </dgm:prSet>
      <dgm:spPr/>
    </dgm:pt>
    <dgm:pt modelId="{0A971159-2FA5-49F8-9379-7DFDEC522630}" type="pres">
      <dgm:prSet presAssocID="{3741311E-5F03-486F-87EF-B2BADCD5EE96}" presName="node" presStyleLbl="node1" presStyleIdx="0" presStyleCnt="6" custScaleX="156687" custScaleY="77483">
        <dgm:presLayoutVars>
          <dgm:bulletEnabled val="1"/>
        </dgm:presLayoutVars>
      </dgm:prSet>
      <dgm:spPr/>
    </dgm:pt>
    <dgm:pt modelId="{ABCB961D-9714-46CE-8A43-7E7D9239E90D}" type="pres">
      <dgm:prSet presAssocID="{3741311E-5F03-486F-87EF-B2BADCD5EE96}" presName="spNode" presStyleCnt="0"/>
      <dgm:spPr/>
    </dgm:pt>
    <dgm:pt modelId="{5DAFF906-88C4-40C6-B6A8-F32251651E77}" type="pres">
      <dgm:prSet presAssocID="{BFC871D6-CC0E-4DC5-92AA-8229DBC0AB0A}" presName="sibTrans" presStyleLbl="sibTrans1D1" presStyleIdx="0" presStyleCnt="6"/>
      <dgm:spPr/>
    </dgm:pt>
    <dgm:pt modelId="{40CC6FAE-BB9B-4A74-8211-2E5AE5EA582F}" type="pres">
      <dgm:prSet presAssocID="{21802F9C-9E23-4BB7-B711-3312AED9470E}" presName="node" presStyleLbl="node1" presStyleIdx="1" presStyleCnt="6" custScaleX="156687" custScaleY="77483">
        <dgm:presLayoutVars>
          <dgm:bulletEnabled val="1"/>
        </dgm:presLayoutVars>
      </dgm:prSet>
      <dgm:spPr/>
    </dgm:pt>
    <dgm:pt modelId="{16E34488-2EC8-4483-AAD5-B263EF115DBD}" type="pres">
      <dgm:prSet presAssocID="{21802F9C-9E23-4BB7-B711-3312AED9470E}" presName="spNode" presStyleCnt="0"/>
      <dgm:spPr/>
    </dgm:pt>
    <dgm:pt modelId="{B3C5F432-E9C3-4B94-BC8E-336DAFB3DEEB}" type="pres">
      <dgm:prSet presAssocID="{3C1FED70-C3D8-412B-8A46-5A92CAA85D87}" presName="sibTrans" presStyleLbl="sibTrans1D1" presStyleIdx="1" presStyleCnt="6"/>
      <dgm:spPr/>
    </dgm:pt>
    <dgm:pt modelId="{62450E01-B5BB-4596-AA84-C6B68BA22E17}" type="pres">
      <dgm:prSet presAssocID="{F11B055B-CC52-4315-BE2D-29EB2EA3C8A9}" presName="node" presStyleLbl="node1" presStyleIdx="2" presStyleCnt="6" custScaleX="156687" custScaleY="77483">
        <dgm:presLayoutVars>
          <dgm:bulletEnabled val="1"/>
        </dgm:presLayoutVars>
      </dgm:prSet>
      <dgm:spPr/>
    </dgm:pt>
    <dgm:pt modelId="{F1281664-0016-48A2-AF4D-2A3D067E2A8F}" type="pres">
      <dgm:prSet presAssocID="{F11B055B-CC52-4315-BE2D-29EB2EA3C8A9}" presName="spNode" presStyleCnt="0"/>
      <dgm:spPr/>
    </dgm:pt>
    <dgm:pt modelId="{B35B1855-F262-43FF-894C-A1EE99B468B4}" type="pres">
      <dgm:prSet presAssocID="{7730BF96-EA4B-4D3F-BDA6-AA42BC99BB8B}" presName="sibTrans" presStyleLbl="sibTrans1D1" presStyleIdx="2" presStyleCnt="6"/>
      <dgm:spPr/>
    </dgm:pt>
    <dgm:pt modelId="{B44B9DB0-22E3-4707-B3E4-E1543465D50B}" type="pres">
      <dgm:prSet presAssocID="{C8244B64-C847-41C7-A433-4AFC5B7DE007}" presName="node" presStyleLbl="node1" presStyleIdx="3" presStyleCnt="6" custScaleX="156687" custScaleY="77483">
        <dgm:presLayoutVars>
          <dgm:bulletEnabled val="1"/>
        </dgm:presLayoutVars>
      </dgm:prSet>
      <dgm:spPr/>
    </dgm:pt>
    <dgm:pt modelId="{9D337E41-961D-47FC-B78E-561E0C315A45}" type="pres">
      <dgm:prSet presAssocID="{C8244B64-C847-41C7-A433-4AFC5B7DE007}" presName="spNode" presStyleCnt="0"/>
      <dgm:spPr/>
    </dgm:pt>
    <dgm:pt modelId="{786B7CA3-072A-477E-9BB0-5E4FFECF36A3}" type="pres">
      <dgm:prSet presAssocID="{708F456B-365E-4C49-9338-C62732FF670E}" presName="sibTrans" presStyleLbl="sibTrans1D1" presStyleIdx="3" presStyleCnt="6"/>
      <dgm:spPr/>
    </dgm:pt>
    <dgm:pt modelId="{915311B5-19A6-4DFB-BB07-40FB8DC75694}" type="pres">
      <dgm:prSet presAssocID="{52D31CAE-0EDF-4703-8082-A2C63C625157}" presName="node" presStyleLbl="node1" presStyleIdx="4" presStyleCnt="6" custScaleX="156687" custScaleY="77483">
        <dgm:presLayoutVars>
          <dgm:bulletEnabled val="1"/>
        </dgm:presLayoutVars>
      </dgm:prSet>
      <dgm:spPr/>
    </dgm:pt>
    <dgm:pt modelId="{16637554-0651-47F4-BCD0-42775E58BEEE}" type="pres">
      <dgm:prSet presAssocID="{52D31CAE-0EDF-4703-8082-A2C63C625157}" presName="spNode" presStyleCnt="0"/>
      <dgm:spPr/>
    </dgm:pt>
    <dgm:pt modelId="{260B3A5C-B4DF-4637-AAD0-5A1939C13163}" type="pres">
      <dgm:prSet presAssocID="{1225470D-AF80-4196-BBCD-C1C71E9D0646}" presName="sibTrans" presStyleLbl="sibTrans1D1" presStyleIdx="4" presStyleCnt="6"/>
      <dgm:spPr/>
    </dgm:pt>
    <dgm:pt modelId="{4E3BB357-1501-4432-A9A2-E699F344F756}" type="pres">
      <dgm:prSet presAssocID="{50A2E25B-D0A9-437D-9767-84872DD2625D}" presName="node" presStyleLbl="node1" presStyleIdx="5" presStyleCnt="6" custScaleX="156687" custScaleY="77483">
        <dgm:presLayoutVars>
          <dgm:bulletEnabled val="1"/>
        </dgm:presLayoutVars>
      </dgm:prSet>
      <dgm:spPr/>
    </dgm:pt>
    <dgm:pt modelId="{A3410190-38BE-4402-9CFF-3B2EEB2D664F}" type="pres">
      <dgm:prSet presAssocID="{50A2E25B-D0A9-437D-9767-84872DD2625D}" presName="spNode" presStyleCnt="0"/>
      <dgm:spPr/>
    </dgm:pt>
    <dgm:pt modelId="{EA345D5A-595B-4FF0-B478-25F4B45C5BA1}" type="pres">
      <dgm:prSet presAssocID="{1184089A-1186-474E-96A8-F01D78979F6B}" presName="sibTrans" presStyleLbl="sibTrans1D1" presStyleIdx="5" presStyleCnt="6"/>
      <dgm:spPr/>
    </dgm:pt>
  </dgm:ptLst>
  <dgm:cxnLst>
    <dgm:cxn modelId="{E9EC4D23-117F-4AD3-AFA6-9E64AEFEF8E6}" srcId="{831DC046-4C52-4843-9155-5C20D87AD492}" destId="{50A2E25B-D0A9-437D-9767-84872DD2625D}" srcOrd="5" destOrd="0" parTransId="{4546EF1B-F525-4FA7-B26B-F8B2BA6C71B9}" sibTransId="{1184089A-1186-474E-96A8-F01D78979F6B}"/>
    <dgm:cxn modelId="{864FB527-14B6-49C0-AF22-C5CE47BFF835}" type="presOf" srcId="{708F456B-365E-4C49-9338-C62732FF670E}" destId="{786B7CA3-072A-477E-9BB0-5E4FFECF36A3}" srcOrd="0" destOrd="0" presId="urn:microsoft.com/office/officeart/2005/8/layout/cycle6"/>
    <dgm:cxn modelId="{8DA6C938-E100-4D8F-8247-24C49AEC3D88}" type="presOf" srcId="{1225470D-AF80-4196-BBCD-C1C71E9D0646}" destId="{260B3A5C-B4DF-4637-AAD0-5A1939C13163}" srcOrd="0" destOrd="0" presId="urn:microsoft.com/office/officeart/2005/8/layout/cycle6"/>
    <dgm:cxn modelId="{AB672B3A-9F8B-4C1C-8CCF-F5AE1741E255}" type="presOf" srcId="{C8244B64-C847-41C7-A433-4AFC5B7DE007}" destId="{B44B9DB0-22E3-4707-B3E4-E1543465D50B}" srcOrd="0" destOrd="0" presId="urn:microsoft.com/office/officeart/2005/8/layout/cycle6"/>
    <dgm:cxn modelId="{5E46BD61-9429-4E38-A525-84B3ECC612A7}" srcId="{831DC046-4C52-4843-9155-5C20D87AD492}" destId="{21802F9C-9E23-4BB7-B711-3312AED9470E}" srcOrd="1" destOrd="0" parTransId="{D265CC33-E4B3-4985-93D6-9FAC6B4C286B}" sibTransId="{3C1FED70-C3D8-412B-8A46-5A92CAA85D87}"/>
    <dgm:cxn modelId="{4BF17462-48EF-43C0-8350-E7547AA0BFFB}" type="presOf" srcId="{7730BF96-EA4B-4D3F-BDA6-AA42BC99BB8B}" destId="{B35B1855-F262-43FF-894C-A1EE99B468B4}" srcOrd="0" destOrd="0" presId="urn:microsoft.com/office/officeart/2005/8/layout/cycle6"/>
    <dgm:cxn modelId="{72A6D966-C2F7-4656-B1E4-E4B916B9216B}" type="presOf" srcId="{21802F9C-9E23-4BB7-B711-3312AED9470E}" destId="{40CC6FAE-BB9B-4A74-8211-2E5AE5EA582F}" srcOrd="0" destOrd="0" presId="urn:microsoft.com/office/officeart/2005/8/layout/cycle6"/>
    <dgm:cxn modelId="{DEF34967-05E0-477A-AAD8-493126A130A8}" type="presOf" srcId="{BFC871D6-CC0E-4DC5-92AA-8229DBC0AB0A}" destId="{5DAFF906-88C4-40C6-B6A8-F32251651E77}" srcOrd="0" destOrd="0" presId="urn:microsoft.com/office/officeart/2005/8/layout/cycle6"/>
    <dgm:cxn modelId="{602D8F84-672E-44D7-BD67-5BA883CAB2AA}" srcId="{831DC046-4C52-4843-9155-5C20D87AD492}" destId="{3741311E-5F03-486F-87EF-B2BADCD5EE96}" srcOrd="0" destOrd="0" parTransId="{FCDFA520-CE8E-4E28-ADD3-4912F9128C8F}" sibTransId="{BFC871D6-CC0E-4DC5-92AA-8229DBC0AB0A}"/>
    <dgm:cxn modelId="{87D13686-7F06-4063-9A6B-AB8D21F2AAD0}" type="presOf" srcId="{52D31CAE-0EDF-4703-8082-A2C63C625157}" destId="{915311B5-19A6-4DFB-BB07-40FB8DC75694}" srcOrd="0" destOrd="0" presId="urn:microsoft.com/office/officeart/2005/8/layout/cycle6"/>
    <dgm:cxn modelId="{1406299E-465B-46F7-B281-1BB29984647D}" type="presOf" srcId="{1184089A-1186-474E-96A8-F01D78979F6B}" destId="{EA345D5A-595B-4FF0-B478-25F4B45C5BA1}" srcOrd="0" destOrd="0" presId="urn:microsoft.com/office/officeart/2005/8/layout/cycle6"/>
    <dgm:cxn modelId="{0F27DCA1-D615-4DC1-996A-E97D646D5842}" srcId="{831DC046-4C52-4843-9155-5C20D87AD492}" destId="{52D31CAE-0EDF-4703-8082-A2C63C625157}" srcOrd="4" destOrd="0" parTransId="{650402EA-3A99-4FFC-A613-D6197078E953}" sibTransId="{1225470D-AF80-4196-BBCD-C1C71E9D0646}"/>
    <dgm:cxn modelId="{221539A7-DC1E-46F0-88EF-B4269BF3ECF0}" type="presOf" srcId="{3741311E-5F03-486F-87EF-B2BADCD5EE96}" destId="{0A971159-2FA5-49F8-9379-7DFDEC522630}" srcOrd="0" destOrd="0" presId="urn:microsoft.com/office/officeart/2005/8/layout/cycle6"/>
    <dgm:cxn modelId="{C2DB76AE-1598-4FFA-A45B-FA068A9155B3}" type="presOf" srcId="{831DC046-4C52-4843-9155-5C20D87AD492}" destId="{D96F5415-542E-4C01-B84C-631CB43A98F1}" srcOrd="0" destOrd="0" presId="urn:microsoft.com/office/officeart/2005/8/layout/cycle6"/>
    <dgm:cxn modelId="{009DD4C9-0CEE-4BD4-8661-3143D9E1C815}" type="presOf" srcId="{3C1FED70-C3D8-412B-8A46-5A92CAA85D87}" destId="{B3C5F432-E9C3-4B94-BC8E-336DAFB3DEEB}" srcOrd="0" destOrd="0" presId="urn:microsoft.com/office/officeart/2005/8/layout/cycle6"/>
    <dgm:cxn modelId="{765411D1-C832-4EDF-9C8B-D78154281000}" srcId="{831DC046-4C52-4843-9155-5C20D87AD492}" destId="{C8244B64-C847-41C7-A433-4AFC5B7DE007}" srcOrd="3" destOrd="0" parTransId="{683C62E3-52CC-40DE-BE5E-841CD810FB66}" sibTransId="{708F456B-365E-4C49-9338-C62732FF670E}"/>
    <dgm:cxn modelId="{BDA40AE3-430E-4FFD-A62E-E75C8ED94038}" type="presOf" srcId="{F11B055B-CC52-4315-BE2D-29EB2EA3C8A9}" destId="{62450E01-B5BB-4596-AA84-C6B68BA22E17}" srcOrd="0" destOrd="0" presId="urn:microsoft.com/office/officeart/2005/8/layout/cycle6"/>
    <dgm:cxn modelId="{1EFDAFF7-5650-4BE1-9AB3-A92BBE66C42B}" srcId="{831DC046-4C52-4843-9155-5C20D87AD492}" destId="{F11B055B-CC52-4315-BE2D-29EB2EA3C8A9}" srcOrd="2" destOrd="0" parTransId="{64B8375C-9389-41D4-B1D8-1A3B0C73F2A2}" sibTransId="{7730BF96-EA4B-4D3F-BDA6-AA42BC99BB8B}"/>
    <dgm:cxn modelId="{1FEEB8FE-23CB-415C-A0BF-4B48D34DD663}" type="presOf" srcId="{50A2E25B-D0A9-437D-9767-84872DD2625D}" destId="{4E3BB357-1501-4432-A9A2-E699F344F756}" srcOrd="0" destOrd="0" presId="urn:microsoft.com/office/officeart/2005/8/layout/cycle6"/>
    <dgm:cxn modelId="{EE23AB14-9151-4D59-A408-1B1A352726FA}" type="presParOf" srcId="{D96F5415-542E-4C01-B84C-631CB43A98F1}" destId="{0A971159-2FA5-49F8-9379-7DFDEC522630}" srcOrd="0" destOrd="0" presId="urn:microsoft.com/office/officeart/2005/8/layout/cycle6"/>
    <dgm:cxn modelId="{2D971C38-B6AC-4BD9-96AE-FF9EB863EAED}" type="presParOf" srcId="{D96F5415-542E-4C01-B84C-631CB43A98F1}" destId="{ABCB961D-9714-46CE-8A43-7E7D9239E90D}" srcOrd="1" destOrd="0" presId="urn:microsoft.com/office/officeart/2005/8/layout/cycle6"/>
    <dgm:cxn modelId="{B316E018-5F39-40AD-B3D0-8C3E0E079097}" type="presParOf" srcId="{D96F5415-542E-4C01-B84C-631CB43A98F1}" destId="{5DAFF906-88C4-40C6-B6A8-F32251651E77}" srcOrd="2" destOrd="0" presId="urn:microsoft.com/office/officeart/2005/8/layout/cycle6"/>
    <dgm:cxn modelId="{E7180766-0374-43E7-B4AA-26E02C3CD626}" type="presParOf" srcId="{D96F5415-542E-4C01-B84C-631CB43A98F1}" destId="{40CC6FAE-BB9B-4A74-8211-2E5AE5EA582F}" srcOrd="3" destOrd="0" presId="urn:microsoft.com/office/officeart/2005/8/layout/cycle6"/>
    <dgm:cxn modelId="{A2A0B03D-989B-4AF3-844E-8D0656DA4104}" type="presParOf" srcId="{D96F5415-542E-4C01-B84C-631CB43A98F1}" destId="{16E34488-2EC8-4483-AAD5-B263EF115DBD}" srcOrd="4" destOrd="0" presId="urn:microsoft.com/office/officeart/2005/8/layout/cycle6"/>
    <dgm:cxn modelId="{608EC486-EC60-4809-B92B-13C0A23FC271}" type="presParOf" srcId="{D96F5415-542E-4C01-B84C-631CB43A98F1}" destId="{B3C5F432-E9C3-4B94-BC8E-336DAFB3DEEB}" srcOrd="5" destOrd="0" presId="urn:microsoft.com/office/officeart/2005/8/layout/cycle6"/>
    <dgm:cxn modelId="{4CA0FFE7-344F-49C8-9805-C19D7C175DDA}" type="presParOf" srcId="{D96F5415-542E-4C01-B84C-631CB43A98F1}" destId="{62450E01-B5BB-4596-AA84-C6B68BA22E17}" srcOrd="6" destOrd="0" presId="urn:microsoft.com/office/officeart/2005/8/layout/cycle6"/>
    <dgm:cxn modelId="{72209C4F-BCB1-4338-9A27-D687211248A8}" type="presParOf" srcId="{D96F5415-542E-4C01-B84C-631CB43A98F1}" destId="{F1281664-0016-48A2-AF4D-2A3D067E2A8F}" srcOrd="7" destOrd="0" presId="urn:microsoft.com/office/officeart/2005/8/layout/cycle6"/>
    <dgm:cxn modelId="{0893D4B7-190B-4746-80AF-6837EF77FADD}" type="presParOf" srcId="{D96F5415-542E-4C01-B84C-631CB43A98F1}" destId="{B35B1855-F262-43FF-894C-A1EE99B468B4}" srcOrd="8" destOrd="0" presId="urn:microsoft.com/office/officeart/2005/8/layout/cycle6"/>
    <dgm:cxn modelId="{156374E5-6F55-44C0-A1B6-7E1BE7792EC0}" type="presParOf" srcId="{D96F5415-542E-4C01-B84C-631CB43A98F1}" destId="{B44B9DB0-22E3-4707-B3E4-E1543465D50B}" srcOrd="9" destOrd="0" presId="urn:microsoft.com/office/officeart/2005/8/layout/cycle6"/>
    <dgm:cxn modelId="{D6FD6CCA-023D-4E18-AD1A-B37590E4F9ED}" type="presParOf" srcId="{D96F5415-542E-4C01-B84C-631CB43A98F1}" destId="{9D337E41-961D-47FC-B78E-561E0C315A45}" srcOrd="10" destOrd="0" presId="urn:microsoft.com/office/officeart/2005/8/layout/cycle6"/>
    <dgm:cxn modelId="{D9F49B3D-D1DE-44F7-A90D-18454D5F2A54}" type="presParOf" srcId="{D96F5415-542E-4C01-B84C-631CB43A98F1}" destId="{786B7CA3-072A-477E-9BB0-5E4FFECF36A3}" srcOrd="11" destOrd="0" presId="urn:microsoft.com/office/officeart/2005/8/layout/cycle6"/>
    <dgm:cxn modelId="{6F2D5906-8F9A-482C-9449-E6307E638251}" type="presParOf" srcId="{D96F5415-542E-4C01-B84C-631CB43A98F1}" destId="{915311B5-19A6-4DFB-BB07-40FB8DC75694}" srcOrd="12" destOrd="0" presId="urn:microsoft.com/office/officeart/2005/8/layout/cycle6"/>
    <dgm:cxn modelId="{9CC01D7B-9726-44DF-B2E7-764191E45E96}" type="presParOf" srcId="{D96F5415-542E-4C01-B84C-631CB43A98F1}" destId="{16637554-0651-47F4-BCD0-42775E58BEEE}" srcOrd="13" destOrd="0" presId="urn:microsoft.com/office/officeart/2005/8/layout/cycle6"/>
    <dgm:cxn modelId="{A4F30427-BCFF-4688-865D-05D0FAB3FC72}" type="presParOf" srcId="{D96F5415-542E-4C01-B84C-631CB43A98F1}" destId="{260B3A5C-B4DF-4637-AAD0-5A1939C13163}" srcOrd="14" destOrd="0" presId="urn:microsoft.com/office/officeart/2005/8/layout/cycle6"/>
    <dgm:cxn modelId="{003E16C6-8C32-4F15-A6CA-0BB3FB6CD862}" type="presParOf" srcId="{D96F5415-542E-4C01-B84C-631CB43A98F1}" destId="{4E3BB357-1501-4432-A9A2-E699F344F756}" srcOrd="15" destOrd="0" presId="urn:microsoft.com/office/officeart/2005/8/layout/cycle6"/>
    <dgm:cxn modelId="{74B4E4AC-2C9C-4E03-9943-21458DB03172}" type="presParOf" srcId="{D96F5415-542E-4C01-B84C-631CB43A98F1}" destId="{A3410190-38BE-4402-9CFF-3B2EEB2D664F}" srcOrd="16" destOrd="0" presId="urn:microsoft.com/office/officeart/2005/8/layout/cycle6"/>
    <dgm:cxn modelId="{46C7300F-7F55-4432-AFF8-6ABFA586079D}" type="presParOf" srcId="{D96F5415-542E-4C01-B84C-631CB43A98F1}" destId="{EA345D5A-595B-4FF0-B478-25F4B45C5BA1}" srcOrd="17" destOrd="0" presId="urn:microsoft.com/office/officeart/2005/8/layout/cycle6"/>
  </dgm:cxnLst>
  <dgm:bg/>
  <dgm:whole>
    <a:ln w="38100"/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31DC046-4C52-4843-9155-5C20D87AD492}" type="doc">
      <dgm:prSet loTypeId="urn:microsoft.com/office/officeart/2005/8/layout/cycle6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741311E-5F03-486F-87EF-B2BADCD5EE96}">
      <dgm:prSet phldrT="[Text]" phldr="0" custT="1"/>
      <dgm:spPr>
        <a:solidFill>
          <a:schemeClr val="bg1">
            <a:lumMod val="50000"/>
          </a:schemeClr>
        </a:solidFill>
        <a:ln w="38100">
          <a:solidFill>
            <a:schemeClr val="bg1"/>
          </a:solidFill>
        </a:ln>
      </dgm:spPr>
      <dgm:t>
        <a:bodyPr/>
        <a:lstStyle/>
        <a:p>
          <a:r>
            <a:rPr lang="de-DE" sz="1800" dirty="0"/>
            <a:t>Attitude</a:t>
          </a:r>
          <a:br>
            <a:rPr lang="de-DE" sz="1800" dirty="0"/>
          </a:br>
          <a:r>
            <a:rPr lang="de-DE" sz="1800" dirty="0"/>
            <a:t>Parameterisation</a:t>
          </a:r>
          <a:endParaRPr lang="en-US" sz="1800" dirty="0"/>
        </a:p>
      </dgm:t>
    </dgm:pt>
    <dgm:pt modelId="{FCDFA520-CE8E-4E28-ADD3-4912F9128C8F}" type="parTrans" cxnId="{602D8F84-672E-44D7-BD67-5BA883CAB2AA}">
      <dgm:prSet/>
      <dgm:spPr/>
      <dgm:t>
        <a:bodyPr/>
        <a:lstStyle/>
        <a:p>
          <a:endParaRPr lang="en-US"/>
        </a:p>
      </dgm:t>
    </dgm:pt>
    <dgm:pt modelId="{BFC871D6-CC0E-4DC5-92AA-8229DBC0AB0A}" type="sibTrans" cxnId="{602D8F84-672E-44D7-BD67-5BA883CAB2AA}">
      <dgm:prSet/>
      <dgm:spPr>
        <a:ln w="38100">
          <a:solidFill>
            <a:schemeClr val="bg1"/>
          </a:solidFill>
        </a:ln>
      </dgm:spPr>
      <dgm:t>
        <a:bodyPr/>
        <a:lstStyle/>
        <a:p>
          <a:endParaRPr lang="en-US"/>
        </a:p>
      </dgm:t>
    </dgm:pt>
    <dgm:pt modelId="{21802F9C-9E23-4BB7-B711-3312AED9470E}">
      <dgm:prSet phldrT="[Text]" phldr="0" custT="1"/>
      <dgm:spPr>
        <a:solidFill>
          <a:srgbClr val="7030A0"/>
        </a:solidFill>
        <a:ln w="38100">
          <a:solidFill>
            <a:schemeClr val="bg1"/>
          </a:solidFill>
        </a:ln>
      </dgm:spPr>
      <dgm:t>
        <a:bodyPr/>
        <a:lstStyle/>
        <a:p>
          <a:r>
            <a:rPr lang="de-DE" sz="1800" dirty="0"/>
            <a:t>Dynamics</a:t>
          </a:r>
          <a:br>
            <a:rPr lang="de-DE" sz="1800" dirty="0"/>
          </a:br>
          <a:r>
            <a:rPr lang="de-DE" sz="1800" dirty="0"/>
            <a:t>Formulation</a:t>
          </a:r>
          <a:endParaRPr lang="en-US" sz="1800" dirty="0"/>
        </a:p>
      </dgm:t>
    </dgm:pt>
    <dgm:pt modelId="{D265CC33-E4B3-4985-93D6-9FAC6B4C286B}" type="parTrans" cxnId="{5E46BD61-9429-4E38-A525-84B3ECC612A7}">
      <dgm:prSet/>
      <dgm:spPr/>
      <dgm:t>
        <a:bodyPr/>
        <a:lstStyle/>
        <a:p>
          <a:endParaRPr lang="en-US"/>
        </a:p>
      </dgm:t>
    </dgm:pt>
    <dgm:pt modelId="{3C1FED70-C3D8-412B-8A46-5A92CAA85D87}" type="sibTrans" cxnId="{5E46BD61-9429-4E38-A525-84B3ECC612A7}">
      <dgm:prSet/>
      <dgm:spPr>
        <a:ln w="38100">
          <a:solidFill>
            <a:schemeClr val="bg1"/>
          </a:solidFill>
        </a:ln>
      </dgm:spPr>
      <dgm:t>
        <a:bodyPr/>
        <a:lstStyle/>
        <a:p>
          <a:endParaRPr lang="en-US"/>
        </a:p>
      </dgm:t>
    </dgm:pt>
    <dgm:pt modelId="{C8244B64-C847-41C7-A433-4AFC5B7DE007}">
      <dgm:prSet phldrT="[Text]" phldr="0" custT="1"/>
      <dgm:spPr>
        <a:solidFill>
          <a:schemeClr val="tx1">
            <a:lumMod val="50000"/>
          </a:schemeClr>
        </a:solidFill>
        <a:ln w="38100">
          <a:solidFill>
            <a:schemeClr val="bg1"/>
          </a:solidFill>
        </a:ln>
      </dgm:spPr>
      <dgm:t>
        <a:bodyPr/>
        <a:lstStyle/>
        <a:p>
          <a:r>
            <a:rPr lang="de-DE" sz="1800" dirty="0"/>
            <a:t>Optimisation</a:t>
          </a:r>
          <a:br>
            <a:rPr lang="de-DE" sz="1800" dirty="0"/>
          </a:br>
          <a:r>
            <a:rPr lang="de-DE" sz="1800" dirty="0"/>
            <a:t>Methodology</a:t>
          </a:r>
          <a:endParaRPr lang="en-US" sz="1800" dirty="0"/>
        </a:p>
      </dgm:t>
    </dgm:pt>
    <dgm:pt modelId="{683C62E3-52CC-40DE-BE5E-841CD810FB66}" type="parTrans" cxnId="{765411D1-C832-4EDF-9C8B-D78154281000}">
      <dgm:prSet/>
      <dgm:spPr/>
      <dgm:t>
        <a:bodyPr/>
        <a:lstStyle/>
        <a:p>
          <a:endParaRPr lang="en-US"/>
        </a:p>
      </dgm:t>
    </dgm:pt>
    <dgm:pt modelId="{708F456B-365E-4C49-9338-C62732FF670E}" type="sibTrans" cxnId="{765411D1-C832-4EDF-9C8B-D78154281000}">
      <dgm:prSet/>
      <dgm:spPr>
        <a:ln w="38100">
          <a:solidFill>
            <a:schemeClr val="bg1"/>
          </a:solidFill>
        </a:ln>
      </dgm:spPr>
      <dgm:t>
        <a:bodyPr/>
        <a:lstStyle/>
        <a:p>
          <a:endParaRPr lang="en-US"/>
        </a:p>
      </dgm:t>
    </dgm:pt>
    <dgm:pt modelId="{52D31CAE-0EDF-4703-8082-A2C63C625157}">
      <dgm:prSet phldrT="[Text]" phldr="0" custT="1"/>
      <dgm:spPr>
        <a:solidFill>
          <a:schemeClr val="tx1">
            <a:lumMod val="50000"/>
          </a:schemeClr>
        </a:solidFill>
        <a:ln w="38100">
          <a:solidFill>
            <a:schemeClr val="bg1"/>
          </a:solidFill>
        </a:ln>
      </dgm:spPr>
      <dgm:t>
        <a:bodyPr/>
        <a:lstStyle/>
        <a:p>
          <a:r>
            <a:rPr lang="de-DE" sz="1800" dirty="0"/>
            <a:t>Computational</a:t>
          </a:r>
          <a:br>
            <a:rPr lang="de-DE" sz="1800" dirty="0"/>
          </a:br>
          <a:r>
            <a:rPr lang="de-DE" sz="1800" dirty="0"/>
            <a:t>Framework</a:t>
          </a:r>
          <a:endParaRPr lang="en-US" sz="1800" dirty="0"/>
        </a:p>
      </dgm:t>
    </dgm:pt>
    <dgm:pt modelId="{650402EA-3A99-4FFC-A613-D6197078E953}" type="parTrans" cxnId="{0F27DCA1-D615-4DC1-996A-E97D646D5842}">
      <dgm:prSet/>
      <dgm:spPr/>
      <dgm:t>
        <a:bodyPr/>
        <a:lstStyle/>
        <a:p>
          <a:endParaRPr lang="en-US"/>
        </a:p>
      </dgm:t>
    </dgm:pt>
    <dgm:pt modelId="{1225470D-AF80-4196-BBCD-C1C71E9D0646}" type="sibTrans" cxnId="{0F27DCA1-D615-4DC1-996A-E97D646D5842}">
      <dgm:prSet/>
      <dgm:spPr>
        <a:ln w="38100">
          <a:solidFill>
            <a:schemeClr val="bg1"/>
          </a:solidFill>
        </a:ln>
      </dgm:spPr>
      <dgm:t>
        <a:bodyPr/>
        <a:lstStyle/>
        <a:p>
          <a:endParaRPr lang="en-US"/>
        </a:p>
      </dgm:t>
    </dgm:pt>
    <dgm:pt modelId="{50A2E25B-D0A9-437D-9767-84872DD2625D}">
      <dgm:prSet phldrT="[Text]" phldr="0" custT="1"/>
      <dgm:spPr>
        <a:solidFill>
          <a:schemeClr val="tx1">
            <a:lumMod val="50000"/>
          </a:schemeClr>
        </a:solidFill>
        <a:ln w="38100">
          <a:solidFill>
            <a:schemeClr val="bg1"/>
          </a:solidFill>
        </a:ln>
      </dgm:spPr>
      <dgm:t>
        <a:bodyPr/>
        <a:lstStyle/>
        <a:p>
          <a:r>
            <a:rPr lang="de-DE" sz="1800" dirty="0"/>
            <a:t>NLP</a:t>
          </a:r>
          <a:br>
            <a:rPr lang="de-DE" sz="1800" dirty="0"/>
          </a:br>
          <a:r>
            <a:rPr lang="de-DE" sz="1800" dirty="0"/>
            <a:t>Solver</a:t>
          </a:r>
          <a:endParaRPr lang="en-US" sz="1800" dirty="0"/>
        </a:p>
      </dgm:t>
    </dgm:pt>
    <dgm:pt modelId="{4546EF1B-F525-4FA7-B26B-F8B2BA6C71B9}" type="parTrans" cxnId="{E9EC4D23-117F-4AD3-AFA6-9E64AEFEF8E6}">
      <dgm:prSet/>
      <dgm:spPr/>
      <dgm:t>
        <a:bodyPr/>
        <a:lstStyle/>
        <a:p>
          <a:endParaRPr lang="en-US"/>
        </a:p>
      </dgm:t>
    </dgm:pt>
    <dgm:pt modelId="{1184089A-1186-474E-96A8-F01D78979F6B}" type="sibTrans" cxnId="{E9EC4D23-117F-4AD3-AFA6-9E64AEFEF8E6}">
      <dgm:prSet/>
      <dgm:spPr>
        <a:ln w="38100">
          <a:solidFill>
            <a:schemeClr val="bg1"/>
          </a:solidFill>
        </a:ln>
      </dgm:spPr>
      <dgm:t>
        <a:bodyPr/>
        <a:lstStyle/>
        <a:p>
          <a:endParaRPr lang="en-US"/>
        </a:p>
      </dgm:t>
    </dgm:pt>
    <dgm:pt modelId="{F11B055B-CC52-4315-BE2D-29EB2EA3C8A9}">
      <dgm:prSet custT="1"/>
      <dgm:spPr>
        <a:solidFill>
          <a:schemeClr val="tx1">
            <a:lumMod val="50000"/>
          </a:schemeClr>
        </a:solidFill>
        <a:ln w="38100">
          <a:solidFill>
            <a:schemeClr val="bg1"/>
          </a:solidFill>
        </a:ln>
      </dgm:spPr>
      <dgm:t>
        <a:bodyPr/>
        <a:lstStyle/>
        <a:p>
          <a:r>
            <a:rPr lang="de-DE" sz="1800" dirty="0"/>
            <a:t>Control</a:t>
          </a:r>
          <a:br>
            <a:rPr lang="de-DE" sz="1800" dirty="0"/>
          </a:br>
          <a:r>
            <a:rPr lang="de-DE" sz="1800" dirty="0"/>
            <a:t>Parameterisation</a:t>
          </a:r>
          <a:endParaRPr lang="en-US" sz="1800" dirty="0"/>
        </a:p>
      </dgm:t>
    </dgm:pt>
    <dgm:pt modelId="{64B8375C-9389-41D4-B1D8-1A3B0C73F2A2}" type="parTrans" cxnId="{1EFDAFF7-5650-4BE1-9AB3-A92BBE66C42B}">
      <dgm:prSet/>
      <dgm:spPr/>
      <dgm:t>
        <a:bodyPr/>
        <a:lstStyle/>
        <a:p>
          <a:endParaRPr lang="en-US"/>
        </a:p>
      </dgm:t>
    </dgm:pt>
    <dgm:pt modelId="{7730BF96-EA4B-4D3F-BDA6-AA42BC99BB8B}" type="sibTrans" cxnId="{1EFDAFF7-5650-4BE1-9AB3-A92BBE66C42B}">
      <dgm:prSet/>
      <dgm:spPr>
        <a:ln w="38100">
          <a:solidFill>
            <a:schemeClr val="bg1"/>
          </a:solidFill>
        </a:ln>
      </dgm:spPr>
      <dgm:t>
        <a:bodyPr/>
        <a:lstStyle/>
        <a:p>
          <a:endParaRPr lang="en-US"/>
        </a:p>
      </dgm:t>
    </dgm:pt>
    <dgm:pt modelId="{D96F5415-542E-4C01-B84C-631CB43A98F1}" type="pres">
      <dgm:prSet presAssocID="{831DC046-4C52-4843-9155-5C20D87AD492}" presName="cycle" presStyleCnt="0">
        <dgm:presLayoutVars>
          <dgm:dir/>
          <dgm:resizeHandles val="exact"/>
        </dgm:presLayoutVars>
      </dgm:prSet>
      <dgm:spPr/>
    </dgm:pt>
    <dgm:pt modelId="{0A971159-2FA5-49F8-9379-7DFDEC522630}" type="pres">
      <dgm:prSet presAssocID="{3741311E-5F03-486F-87EF-B2BADCD5EE96}" presName="node" presStyleLbl="node1" presStyleIdx="0" presStyleCnt="6" custScaleX="156687" custScaleY="77483">
        <dgm:presLayoutVars>
          <dgm:bulletEnabled val="1"/>
        </dgm:presLayoutVars>
      </dgm:prSet>
      <dgm:spPr/>
    </dgm:pt>
    <dgm:pt modelId="{ABCB961D-9714-46CE-8A43-7E7D9239E90D}" type="pres">
      <dgm:prSet presAssocID="{3741311E-5F03-486F-87EF-B2BADCD5EE96}" presName="spNode" presStyleCnt="0"/>
      <dgm:spPr/>
    </dgm:pt>
    <dgm:pt modelId="{5DAFF906-88C4-40C6-B6A8-F32251651E77}" type="pres">
      <dgm:prSet presAssocID="{BFC871D6-CC0E-4DC5-92AA-8229DBC0AB0A}" presName="sibTrans" presStyleLbl="sibTrans1D1" presStyleIdx="0" presStyleCnt="6"/>
      <dgm:spPr/>
    </dgm:pt>
    <dgm:pt modelId="{40CC6FAE-BB9B-4A74-8211-2E5AE5EA582F}" type="pres">
      <dgm:prSet presAssocID="{21802F9C-9E23-4BB7-B711-3312AED9470E}" presName="node" presStyleLbl="node1" presStyleIdx="1" presStyleCnt="6" custScaleX="156687" custScaleY="77483">
        <dgm:presLayoutVars>
          <dgm:bulletEnabled val="1"/>
        </dgm:presLayoutVars>
      </dgm:prSet>
      <dgm:spPr/>
    </dgm:pt>
    <dgm:pt modelId="{16E34488-2EC8-4483-AAD5-B263EF115DBD}" type="pres">
      <dgm:prSet presAssocID="{21802F9C-9E23-4BB7-B711-3312AED9470E}" presName="spNode" presStyleCnt="0"/>
      <dgm:spPr/>
    </dgm:pt>
    <dgm:pt modelId="{B3C5F432-E9C3-4B94-BC8E-336DAFB3DEEB}" type="pres">
      <dgm:prSet presAssocID="{3C1FED70-C3D8-412B-8A46-5A92CAA85D87}" presName="sibTrans" presStyleLbl="sibTrans1D1" presStyleIdx="1" presStyleCnt="6"/>
      <dgm:spPr/>
    </dgm:pt>
    <dgm:pt modelId="{62450E01-B5BB-4596-AA84-C6B68BA22E17}" type="pres">
      <dgm:prSet presAssocID="{F11B055B-CC52-4315-BE2D-29EB2EA3C8A9}" presName="node" presStyleLbl="node1" presStyleIdx="2" presStyleCnt="6" custScaleX="156687" custScaleY="77483">
        <dgm:presLayoutVars>
          <dgm:bulletEnabled val="1"/>
        </dgm:presLayoutVars>
      </dgm:prSet>
      <dgm:spPr/>
    </dgm:pt>
    <dgm:pt modelId="{F1281664-0016-48A2-AF4D-2A3D067E2A8F}" type="pres">
      <dgm:prSet presAssocID="{F11B055B-CC52-4315-BE2D-29EB2EA3C8A9}" presName="spNode" presStyleCnt="0"/>
      <dgm:spPr/>
    </dgm:pt>
    <dgm:pt modelId="{B35B1855-F262-43FF-894C-A1EE99B468B4}" type="pres">
      <dgm:prSet presAssocID="{7730BF96-EA4B-4D3F-BDA6-AA42BC99BB8B}" presName="sibTrans" presStyleLbl="sibTrans1D1" presStyleIdx="2" presStyleCnt="6"/>
      <dgm:spPr/>
    </dgm:pt>
    <dgm:pt modelId="{B44B9DB0-22E3-4707-B3E4-E1543465D50B}" type="pres">
      <dgm:prSet presAssocID="{C8244B64-C847-41C7-A433-4AFC5B7DE007}" presName="node" presStyleLbl="node1" presStyleIdx="3" presStyleCnt="6" custScaleX="156687" custScaleY="77483">
        <dgm:presLayoutVars>
          <dgm:bulletEnabled val="1"/>
        </dgm:presLayoutVars>
      </dgm:prSet>
      <dgm:spPr/>
    </dgm:pt>
    <dgm:pt modelId="{9D337E41-961D-47FC-B78E-561E0C315A45}" type="pres">
      <dgm:prSet presAssocID="{C8244B64-C847-41C7-A433-4AFC5B7DE007}" presName="spNode" presStyleCnt="0"/>
      <dgm:spPr/>
    </dgm:pt>
    <dgm:pt modelId="{786B7CA3-072A-477E-9BB0-5E4FFECF36A3}" type="pres">
      <dgm:prSet presAssocID="{708F456B-365E-4C49-9338-C62732FF670E}" presName="sibTrans" presStyleLbl="sibTrans1D1" presStyleIdx="3" presStyleCnt="6"/>
      <dgm:spPr/>
    </dgm:pt>
    <dgm:pt modelId="{915311B5-19A6-4DFB-BB07-40FB8DC75694}" type="pres">
      <dgm:prSet presAssocID="{52D31CAE-0EDF-4703-8082-A2C63C625157}" presName="node" presStyleLbl="node1" presStyleIdx="4" presStyleCnt="6" custScaleX="156687" custScaleY="77483">
        <dgm:presLayoutVars>
          <dgm:bulletEnabled val="1"/>
        </dgm:presLayoutVars>
      </dgm:prSet>
      <dgm:spPr/>
    </dgm:pt>
    <dgm:pt modelId="{16637554-0651-47F4-BCD0-42775E58BEEE}" type="pres">
      <dgm:prSet presAssocID="{52D31CAE-0EDF-4703-8082-A2C63C625157}" presName="spNode" presStyleCnt="0"/>
      <dgm:spPr/>
    </dgm:pt>
    <dgm:pt modelId="{260B3A5C-B4DF-4637-AAD0-5A1939C13163}" type="pres">
      <dgm:prSet presAssocID="{1225470D-AF80-4196-BBCD-C1C71E9D0646}" presName="sibTrans" presStyleLbl="sibTrans1D1" presStyleIdx="4" presStyleCnt="6"/>
      <dgm:spPr/>
    </dgm:pt>
    <dgm:pt modelId="{4E3BB357-1501-4432-A9A2-E699F344F756}" type="pres">
      <dgm:prSet presAssocID="{50A2E25B-D0A9-437D-9767-84872DD2625D}" presName="node" presStyleLbl="node1" presStyleIdx="5" presStyleCnt="6" custScaleX="156687" custScaleY="77483">
        <dgm:presLayoutVars>
          <dgm:bulletEnabled val="1"/>
        </dgm:presLayoutVars>
      </dgm:prSet>
      <dgm:spPr/>
    </dgm:pt>
    <dgm:pt modelId="{A3410190-38BE-4402-9CFF-3B2EEB2D664F}" type="pres">
      <dgm:prSet presAssocID="{50A2E25B-D0A9-437D-9767-84872DD2625D}" presName="spNode" presStyleCnt="0"/>
      <dgm:spPr/>
    </dgm:pt>
    <dgm:pt modelId="{EA345D5A-595B-4FF0-B478-25F4B45C5BA1}" type="pres">
      <dgm:prSet presAssocID="{1184089A-1186-474E-96A8-F01D78979F6B}" presName="sibTrans" presStyleLbl="sibTrans1D1" presStyleIdx="5" presStyleCnt="6"/>
      <dgm:spPr/>
    </dgm:pt>
  </dgm:ptLst>
  <dgm:cxnLst>
    <dgm:cxn modelId="{E9EC4D23-117F-4AD3-AFA6-9E64AEFEF8E6}" srcId="{831DC046-4C52-4843-9155-5C20D87AD492}" destId="{50A2E25B-D0A9-437D-9767-84872DD2625D}" srcOrd="5" destOrd="0" parTransId="{4546EF1B-F525-4FA7-B26B-F8B2BA6C71B9}" sibTransId="{1184089A-1186-474E-96A8-F01D78979F6B}"/>
    <dgm:cxn modelId="{864FB527-14B6-49C0-AF22-C5CE47BFF835}" type="presOf" srcId="{708F456B-365E-4C49-9338-C62732FF670E}" destId="{786B7CA3-072A-477E-9BB0-5E4FFECF36A3}" srcOrd="0" destOrd="0" presId="urn:microsoft.com/office/officeart/2005/8/layout/cycle6"/>
    <dgm:cxn modelId="{8DA6C938-E100-4D8F-8247-24C49AEC3D88}" type="presOf" srcId="{1225470D-AF80-4196-BBCD-C1C71E9D0646}" destId="{260B3A5C-B4DF-4637-AAD0-5A1939C13163}" srcOrd="0" destOrd="0" presId="urn:microsoft.com/office/officeart/2005/8/layout/cycle6"/>
    <dgm:cxn modelId="{AB672B3A-9F8B-4C1C-8CCF-F5AE1741E255}" type="presOf" srcId="{C8244B64-C847-41C7-A433-4AFC5B7DE007}" destId="{B44B9DB0-22E3-4707-B3E4-E1543465D50B}" srcOrd="0" destOrd="0" presId="urn:microsoft.com/office/officeart/2005/8/layout/cycle6"/>
    <dgm:cxn modelId="{5E46BD61-9429-4E38-A525-84B3ECC612A7}" srcId="{831DC046-4C52-4843-9155-5C20D87AD492}" destId="{21802F9C-9E23-4BB7-B711-3312AED9470E}" srcOrd="1" destOrd="0" parTransId="{D265CC33-E4B3-4985-93D6-9FAC6B4C286B}" sibTransId="{3C1FED70-C3D8-412B-8A46-5A92CAA85D87}"/>
    <dgm:cxn modelId="{4BF17462-48EF-43C0-8350-E7547AA0BFFB}" type="presOf" srcId="{7730BF96-EA4B-4D3F-BDA6-AA42BC99BB8B}" destId="{B35B1855-F262-43FF-894C-A1EE99B468B4}" srcOrd="0" destOrd="0" presId="urn:microsoft.com/office/officeart/2005/8/layout/cycle6"/>
    <dgm:cxn modelId="{72A6D966-C2F7-4656-B1E4-E4B916B9216B}" type="presOf" srcId="{21802F9C-9E23-4BB7-B711-3312AED9470E}" destId="{40CC6FAE-BB9B-4A74-8211-2E5AE5EA582F}" srcOrd="0" destOrd="0" presId="urn:microsoft.com/office/officeart/2005/8/layout/cycle6"/>
    <dgm:cxn modelId="{DEF34967-05E0-477A-AAD8-493126A130A8}" type="presOf" srcId="{BFC871D6-CC0E-4DC5-92AA-8229DBC0AB0A}" destId="{5DAFF906-88C4-40C6-B6A8-F32251651E77}" srcOrd="0" destOrd="0" presId="urn:microsoft.com/office/officeart/2005/8/layout/cycle6"/>
    <dgm:cxn modelId="{602D8F84-672E-44D7-BD67-5BA883CAB2AA}" srcId="{831DC046-4C52-4843-9155-5C20D87AD492}" destId="{3741311E-5F03-486F-87EF-B2BADCD5EE96}" srcOrd="0" destOrd="0" parTransId="{FCDFA520-CE8E-4E28-ADD3-4912F9128C8F}" sibTransId="{BFC871D6-CC0E-4DC5-92AA-8229DBC0AB0A}"/>
    <dgm:cxn modelId="{87D13686-7F06-4063-9A6B-AB8D21F2AAD0}" type="presOf" srcId="{52D31CAE-0EDF-4703-8082-A2C63C625157}" destId="{915311B5-19A6-4DFB-BB07-40FB8DC75694}" srcOrd="0" destOrd="0" presId="urn:microsoft.com/office/officeart/2005/8/layout/cycle6"/>
    <dgm:cxn modelId="{1406299E-465B-46F7-B281-1BB29984647D}" type="presOf" srcId="{1184089A-1186-474E-96A8-F01D78979F6B}" destId="{EA345D5A-595B-4FF0-B478-25F4B45C5BA1}" srcOrd="0" destOrd="0" presId="urn:microsoft.com/office/officeart/2005/8/layout/cycle6"/>
    <dgm:cxn modelId="{0F27DCA1-D615-4DC1-996A-E97D646D5842}" srcId="{831DC046-4C52-4843-9155-5C20D87AD492}" destId="{52D31CAE-0EDF-4703-8082-A2C63C625157}" srcOrd="4" destOrd="0" parTransId="{650402EA-3A99-4FFC-A613-D6197078E953}" sibTransId="{1225470D-AF80-4196-BBCD-C1C71E9D0646}"/>
    <dgm:cxn modelId="{221539A7-DC1E-46F0-88EF-B4269BF3ECF0}" type="presOf" srcId="{3741311E-5F03-486F-87EF-B2BADCD5EE96}" destId="{0A971159-2FA5-49F8-9379-7DFDEC522630}" srcOrd="0" destOrd="0" presId="urn:microsoft.com/office/officeart/2005/8/layout/cycle6"/>
    <dgm:cxn modelId="{C2DB76AE-1598-4FFA-A45B-FA068A9155B3}" type="presOf" srcId="{831DC046-4C52-4843-9155-5C20D87AD492}" destId="{D96F5415-542E-4C01-B84C-631CB43A98F1}" srcOrd="0" destOrd="0" presId="urn:microsoft.com/office/officeart/2005/8/layout/cycle6"/>
    <dgm:cxn modelId="{009DD4C9-0CEE-4BD4-8661-3143D9E1C815}" type="presOf" srcId="{3C1FED70-C3D8-412B-8A46-5A92CAA85D87}" destId="{B3C5F432-E9C3-4B94-BC8E-336DAFB3DEEB}" srcOrd="0" destOrd="0" presId="urn:microsoft.com/office/officeart/2005/8/layout/cycle6"/>
    <dgm:cxn modelId="{765411D1-C832-4EDF-9C8B-D78154281000}" srcId="{831DC046-4C52-4843-9155-5C20D87AD492}" destId="{C8244B64-C847-41C7-A433-4AFC5B7DE007}" srcOrd="3" destOrd="0" parTransId="{683C62E3-52CC-40DE-BE5E-841CD810FB66}" sibTransId="{708F456B-365E-4C49-9338-C62732FF670E}"/>
    <dgm:cxn modelId="{BDA40AE3-430E-4FFD-A62E-E75C8ED94038}" type="presOf" srcId="{F11B055B-CC52-4315-BE2D-29EB2EA3C8A9}" destId="{62450E01-B5BB-4596-AA84-C6B68BA22E17}" srcOrd="0" destOrd="0" presId="urn:microsoft.com/office/officeart/2005/8/layout/cycle6"/>
    <dgm:cxn modelId="{1EFDAFF7-5650-4BE1-9AB3-A92BBE66C42B}" srcId="{831DC046-4C52-4843-9155-5C20D87AD492}" destId="{F11B055B-CC52-4315-BE2D-29EB2EA3C8A9}" srcOrd="2" destOrd="0" parTransId="{64B8375C-9389-41D4-B1D8-1A3B0C73F2A2}" sibTransId="{7730BF96-EA4B-4D3F-BDA6-AA42BC99BB8B}"/>
    <dgm:cxn modelId="{1FEEB8FE-23CB-415C-A0BF-4B48D34DD663}" type="presOf" srcId="{50A2E25B-D0A9-437D-9767-84872DD2625D}" destId="{4E3BB357-1501-4432-A9A2-E699F344F756}" srcOrd="0" destOrd="0" presId="urn:microsoft.com/office/officeart/2005/8/layout/cycle6"/>
    <dgm:cxn modelId="{EE23AB14-9151-4D59-A408-1B1A352726FA}" type="presParOf" srcId="{D96F5415-542E-4C01-B84C-631CB43A98F1}" destId="{0A971159-2FA5-49F8-9379-7DFDEC522630}" srcOrd="0" destOrd="0" presId="urn:microsoft.com/office/officeart/2005/8/layout/cycle6"/>
    <dgm:cxn modelId="{2D971C38-B6AC-4BD9-96AE-FF9EB863EAED}" type="presParOf" srcId="{D96F5415-542E-4C01-B84C-631CB43A98F1}" destId="{ABCB961D-9714-46CE-8A43-7E7D9239E90D}" srcOrd="1" destOrd="0" presId="urn:microsoft.com/office/officeart/2005/8/layout/cycle6"/>
    <dgm:cxn modelId="{B316E018-5F39-40AD-B3D0-8C3E0E079097}" type="presParOf" srcId="{D96F5415-542E-4C01-B84C-631CB43A98F1}" destId="{5DAFF906-88C4-40C6-B6A8-F32251651E77}" srcOrd="2" destOrd="0" presId="urn:microsoft.com/office/officeart/2005/8/layout/cycle6"/>
    <dgm:cxn modelId="{E7180766-0374-43E7-B4AA-26E02C3CD626}" type="presParOf" srcId="{D96F5415-542E-4C01-B84C-631CB43A98F1}" destId="{40CC6FAE-BB9B-4A74-8211-2E5AE5EA582F}" srcOrd="3" destOrd="0" presId="urn:microsoft.com/office/officeart/2005/8/layout/cycle6"/>
    <dgm:cxn modelId="{A2A0B03D-989B-4AF3-844E-8D0656DA4104}" type="presParOf" srcId="{D96F5415-542E-4C01-B84C-631CB43A98F1}" destId="{16E34488-2EC8-4483-AAD5-B263EF115DBD}" srcOrd="4" destOrd="0" presId="urn:microsoft.com/office/officeart/2005/8/layout/cycle6"/>
    <dgm:cxn modelId="{608EC486-EC60-4809-B92B-13C0A23FC271}" type="presParOf" srcId="{D96F5415-542E-4C01-B84C-631CB43A98F1}" destId="{B3C5F432-E9C3-4B94-BC8E-336DAFB3DEEB}" srcOrd="5" destOrd="0" presId="urn:microsoft.com/office/officeart/2005/8/layout/cycle6"/>
    <dgm:cxn modelId="{4CA0FFE7-344F-49C8-9805-C19D7C175DDA}" type="presParOf" srcId="{D96F5415-542E-4C01-B84C-631CB43A98F1}" destId="{62450E01-B5BB-4596-AA84-C6B68BA22E17}" srcOrd="6" destOrd="0" presId="urn:microsoft.com/office/officeart/2005/8/layout/cycle6"/>
    <dgm:cxn modelId="{72209C4F-BCB1-4338-9A27-D687211248A8}" type="presParOf" srcId="{D96F5415-542E-4C01-B84C-631CB43A98F1}" destId="{F1281664-0016-48A2-AF4D-2A3D067E2A8F}" srcOrd="7" destOrd="0" presId="urn:microsoft.com/office/officeart/2005/8/layout/cycle6"/>
    <dgm:cxn modelId="{0893D4B7-190B-4746-80AF-6837EF77FADD}" type="presParOf" srcId="{D96F5415-542E-4C01-B84C-631CB43A98F1}" destId="{B35B1855-F262-43FF-894C-A1EE99B468B4}" srcOrd="8" destOrd="0" presId="urn:microsoft.com/office/officeart/2005/8/layout/cycle6"/>
    <dgm:cxn modelId="{156374E5-6F55-44C0-A1B6-7E1BE7792EC0}" type="presParOf" srcId="{D96F5415-542E-4C01-B84C-631CB43A98F1}" destId="{B44B9DB0-22E3-4707-B3E4-E1543465D50B}" srcOrd="9" destOrd="0" presId="urn:microsoft.com/office/officeart/2005/8/layout/cycle6"/>
    <dgm:cxn modelId="{D6FD6CCA-023D-4E18-AD1A-B37590E4F9ED}" type="presParOf" srcId="{D96F5415-542E-4C01-B84C-631CB43A98F1}" destId="{9D337E41-961D-47FC-B78E-561E0C315A45}" srcOrd="10" destOrd="0" presId="urn:microsoft.com/office/officeart/2005/8/layout/cycle6"/>
    <dgm:cxn modelId="{D9F49B3D-D1DE-44F7-A90D-18454D5F2A54}" type="presParOf" srcId="{D96F5415-542E-4C01-B84C-631CB43A98F1}" destId="{786B7CA3-072A-477E-9BB0-5E4FFECF36A3}" srcOrd="11" destOrd="0" presId="urn:microsoft.com/office/officeart/2005/8/layout/cycle6"/>
    <dgm:cxn modelId="{6F2D5906-8F9A-482C-9449-E6307E638251}" type="presParOf" srcId="{D96F5415-542E-4C01-B84C-631CB43A98F1}" destId="{915311B5-19A6-4DFB-BB07-40FB8DC75694}" srcOrd="12" destOrd="0" presId="urn:microsoft.com/office/officeart/2005/8/layout/cycle6"/>
    <dgm:cxn modelId="{9CC01D7B-9726-44DF-B2E7-764191E45E96}" type="presParOf" srcId="{D96F5415-542E-4C01-B84C-631CB43A98F1}" destId="{16637554-0651-47F4-BCD0-42775E58BEEE}" srcOrd="13" destOrd="0" presId="urn:microsoft.com/office/officeart/2005/8/layout/cycle6"/>
    <dgm:cxn modelId="{A4F30427-BCFF-4688-865D-05D0FAB3FC72}" type="presParOf" srcId="{D96F5415-542E-4C01-B84C-631CB43A98F1}" destId="{260B3A5C-B4DF-4637-AAD0-5A1939C13163}" srcOrd="14" destOrd="0" presId="urn:microsoft.com/office/officeart/2005/8/layout/cycle6"/>
    <dgm:cxn modelId="{003E16C6-8C32-4F15-A6CA-0BB3FB6CD862}" type="presParOf" srcId="{D96F5415-542E-4C01-B84C-631CB43A98F1}" destId="{4E3BB357-1501-4432-A9A2-E699F344F756}" srcOrd="15" destOrd="0" presId="urn:microsoft.com/office/officeart/2005/8/layout/cycle6"/>
    <dgm:cxn modelId="{74B4E4AC-2C9C-4E03-9943-21458DB03172}" type="presParOf" srcId="{D96F5415-542E-4C01-B84C-631CB43A98F1}" destId="{A3410190-38BE-4402-9CFF-3B2EEB2D664F}" srcOrd="16" destOrd="0" presId="urn:microsoft.com/office/officeart/2005/8/layout/cycle6"/>
    <dgm:cxn modelId="{46C7300F-7F55-4432-AFF8-6ABFA586079D}" type="presParOf" srcId="{D96F5415-542E-4C01-B84C-631CB43A98F1}" destId="{EA345D5A-595B-4FF0-B478-25F4B45C5BA1}" srcOrd="17" destOrd="0" presId="urn:microsoft.com/office/officeart/2005/8/layout/cycle6"/>
  </dgm:cxnLst>
  <dgm:bg/>
  <dgm:whole>
    <a:ln w="38100"/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31DC046-4C52-4843-9155-5C20D87AD492}" type="doc">
      <dgm:prSet loTypeId="urn:microsoft.com/office/officeart/2005/8/layout/cycle6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741311E-5F03-486F-87EF-B2BADCD5EE96}">
      <dgm:prSet phldrT="[Text]" phldr="0" custT="1"/>
      <dgm:spPr>
        <a:solidFill>
          <a:schemeClr val="bg1">
            <a:lumMod val="50000"/>
          </a:schemeClr>
        </a:solidFill>
        <a:ln w="38100">
          <a:solidFill>
            <a:schemeClr val="bg1"/>
          </a:solidFill>
        </a:ln>
      </dgm:spPr>
      <dgm:t>
        <a:bodyPr/>
        <a:lstStyle/>
        <a:p>
          <a:r>
            <a:rPr lang="de-DE" sz="1800" dirty="0"/>
            <a:t>Attitude</a:t>
          </a:r>
          <a:br>
            <a:rPr lang="de-DE" sz="1800" dirty="0"/>
          </a:br>
          <a:r>
            <a:rPr lang="de-DE" sz="1800" dirty="0"/>
            <a:t>Parameterisation</a:t>
          </a:r>
          <a:endParaRPr lang="en-US" sz="1800" dirty="0"/>
        </a:p>
      </dgm:t>
    </dgm:pt>
    <dgm:pt modelId="{FCDFA520-CE8E-4E28-ADD3-4912F9128C8F}" type="parTrans" cxnId="{602D8F84-672E-44D7-BD67-5BA883CAB2AA}">
      <dgm:prSet/>
      <dgm:spPr/>
      <dgm:t>
        <a:bodyPr/>
        <a:lstStyle/>
        <a:p>
          <a:endParaRPr lang="en-US"/>
        </a:p>
      </dgm:t>
    </dgm:pt>
    <dgm:pt modelId="{BFC871D6-CC0E-4DC5-92AA-8229DBC0AB0A}" type="sibTrans" cxnId="{602D8F84-672E-44D7-BD67-5BA883CAB2AA}">
      <dgm:prSet/>
      <dgm:spPr>
        <a:ln w="38100">
          <a:solidFill>
            <a:schemeClr val="bg1"/>
          </a:solidFill>
        </a:ln>
      </dgm:spPr>
      <dgm:t>
        <a:bodyPr/>
        <a:lstStyle/>
        <a:p>
          <a:endParaRPr lang="en-US"/>
        </a:p>
      </dgm:t>
    </dgm:pt>
    <dgm:pt modelId="{21802F9C-9E23-4BB7-B711-3312AED9470E}">
      <dgm:prSet phldrT="[Text]" phldr="0" custT="1"/>
      <dgm:spPr>
        <a:solidFill>
          <a:schemeClr val="tx1">
            <a:lumMod val="50000"/>
          </a:schemeClr>
        </a:solidFill>
        <a:ln w="38100">
          <a:solidFill>
            <a:schemeClr val="bg1"/>
          </a:solidFill>
        </a:ln>
      </dgm:spPr>
      <dgm:t>
        <a:bodyPr/>
        <a:lstStyle/>
        <a:p>
          <a:r>
            <a:rPr lang="de-DE" sz="1800" dirty="0"/>
            <a:t>Dynamics</a:t>
          </a:r>
          <a:br>
            <a:rPr lang="de-DE" sz="1800" dirty="0"/>
          </a:br>
          <a:r>
            <a:rPr lang="de-DE" sz="1800" dirty="0"/>
            <a:t>Formulation</a:t>
          </a:r>
          <a:endParaRPr lang="en-US" sz="1800" dirty="0"/>
        </a:p>
      </dgm:t>
    </dgm:pt>
    <dgm:pt modelId="{D265CC33-E4B3-4985-93D6-9FAC6B4C286B}" type="parTrans" cxnId="{5E46BD61-9429-4E38-A525-84B3ECC612A7}">
      <dgm:prSet/>
      <dgm:spPr/>
      <dgm:t>
        <a:bodyPr/>
        <a:lstStyle/>
        <a:p>
          <a:endParaRPr lang="en-US"/>
        </a:p>
      </dgm:t>
    </dgm:pt>
    <dgm:pt modelId="{3C1FED70-C3D8-412B-8A46-5A92CAA85D87}" type="sibTrans" cxnId="{5E46BD61-9429-4E38-A525-84B3ECC612A7}">
      <dgm:prSet/>
      <dgm:spPr>
        <a:ln w="38100">
          <a:solidFill>
            <a:schemeClr val="bg1"/>
          </a:solidFill>
        </a:ln>
      </dgm:spPr>
      <dgm:t>
        <a:bodyPr/>
        <a:lstStyle/>
        <a:p>
          <a:endParaRPr lang="en-US"/>
        </a:p>
      </dgm:t>
    </dgm:pt>
    <dgm:pt modelId="{C8244B64-C847-41C7-A433-4AFC5B7DE007}">
      <dgm:prSet phldrT="[Text]" phldr="0" custT="1"/>
      <dgm:spPr>
        <a:solidFill>
          <a:schemeClr val="tx1">
            <a:lumMod val="50000"/>
          </a:schemeClr>
        </a:solidFill>
        <a:ln w="38100">
          <a:solidFill>
            <a:schemeClr val="bg1"/>
          </a:solidFill>
        </a:ln>
      </dgm:spPr>
      <dgm:t>
        <a:bodyPr/>
        <a:lstStyle/>
        <a:p>
          <a:r>
            <a:rPr lang="de-DE" sz="1800" dirty="0"/>
            <a:t>Optimisation</a:t>
          </a:r>
          <a:br>
            <a:rPr lang="de-DE" sz="1800" dirty="0"/>
          </a:br>
          <a:r>
            <a:rPr lang="de-DE" sz="1800" dirty="0"/>
            <a:t>Methodology</a:t>
          </a:r>
          <a:endParaRPr lang="en-US" sz="1800" dirty="0"/>
        </a:p>
      </dgm:t>
    </dgm:pt>
    <dgm:pt modelId="{683C62E3-52CC-40DE-BE5E-841CD810FB66}" type="parTrans" cxnId="{765411D1-C832-4EDF-9C8B-D78154281000}">
      <dgm:prSet/>
      <dgm:spPr/>
      <dgm:t>
        <a:bodyPr/>
        <a:lstStyle/>
        <a:p>
          <a:endParaRPr lang="en-US"/>
        </a:p>
      </dgm:t>
    </dgm:pt>
    <dgm:pt modelId="{708F456B-365E-4C49-9338-C62732FF670E}" type="sibTrans" cxnId="{765411D1-C832-4EDF-9C8B-D78154281000}">
      <dgm:prSet/>
      <dgm:spPr>
        <a:ln w="38100">
          <a:solidFill>
            <a:schemeClr val="bg1"/>
          </a:solidFill>
        </a:ln>
      </dgm:spPr>
      <dgm:t>
        <a:bodyPr/>
        <a:lstStyle/>
        <a:p>
          <a:endParaRPr lang="en-US"/>
        </a:p>
      </dgm:t>
    </dgm:pt>
    <dgm:pt modelId="{52D31CAE-0EDF-4703-8082-A2C63C625157}">
      <dgm:prSet phldrT="[Text]" phldr="0" custT="1"/>
      <dgm:spPr>
        <a:solidFill>
          <a:schemeClr val="tx1">
            <a:lumMod val="50000"/>
          </a:schemeClr>
        </a:solidFill>
        <a:ln w="38100">
          <a:solidFill>
            <a:schemeClr val="bg1"/>
          </a:solidFill>
        </a:ln>
      </dgm:spPr>
      <dgm:t>
        <a:bodyPr/>
        <a:lstStyle/>
        <a:p>
          <a:r>
            <a:rPr lang="de-DE" sz="1800" dirty="0"/>
            <a:t>Computational</a:t>
          </a:r>
          <a:br>
            <a:rPr lang="de-DE" sz="1800" dirty="0"/>
          </a:br>
          <a:r>
            <a:rPr lang="de-DE" sz="1800" dirty="0"/>
            <a:t>Framework</a:t>
          </a:r>
          <a:endParaRPr lang="en-US" sz="1800" dirty="0"/>
        </a:p>
      </dgm:t>
    </dgm:pt>
    <dgm:pt modelId="{650402EA-3A99-4FFC-A613-D6197078E953}" type="parTrans" cxnId="{0F27DCA1-D615-4DC1-996A-E97D646D5842}">
      <dgm:prSet/>
      <dgm:spPr/>
      <dgm:t>
        <a:bodyPr/>
        <a:lstStyle/>
        <a:p>
          <a:endParaRPr lang="en-US"/>
        </a:p>
      </dgm:t>
    </dgm:pt>
    <dgm:pt modelId="{1225470D-AF80-4196-BBCD-C1C71E9D0646}" type="sibTrans" cxnId="{0F27DCA1-D615-4DC1-996A-E97D646D5842}">
      <dgm:prSet/>
      <dgm:spPr>
        <a:ln w="38100">
          <a:solidFill>
            <a:schemeClr val="bg1"/>
          </a:solidFill>
        </a:ln>
      </dgm:spPr>
      <dgm:t>
        <a:bodyPr/>
        <a:lstStyle/>
        <a:p>
          <a:endParaRPr lang="en-US"/>
        </a:p>
      </dgm:t>
    </dgm:pt>
    <dgm:pt modelId="{50A2E25B-D0A9-437D-9767-84872DD2625D}">
      <dgm:prSet phldrT="[Text]" phldr="0" custT="1"/>
      <dgm:spPr>
        <a:solidFill>
          <a:schemeClr val="tx1">
            <a:lumMod val="50000"/>
          </a:schemeClr>
        </a:solidFill>
        <a:ln w="38100">
          <a:solidFill>
            <a:schemeClr val="bg1"/>
          </a:solidFill>
        </a:ln>
      </dgm:spPr>
      <dgm:t>
        <a:bodyPr/>
        <a:lstStyle/>
        <a:p>
          <a:r>
            <a:rPr lang="de-DE" sz="1800" dirty="0"/>
            <a:t>NLP</a:t>
          </a:r>
          <a:br>
            <a:rPr lang="de-DE" sz="1800" dirty="0"/>
          </a:br>
          <a:r>
            <a:rPr lang="de-DE" sz="1800" dirty="0"/>
            <a:t>Solver</a:t>
          </a:r>
          <a:endParaRPr lang="en-US" sz="1800" dirty="0"/>
        </a:p>
      </dgm:t>
    </dgm:pt>
    <dgm:pt modelId="{4546EF1B-F525-4FA7-B26B-F8B2BA6C71B9}" type="parTrans" cxnId="{E9EC4D23-117F-4AD3-AFA6-9E64AEFEF8E6}">
      <dgm:prSet/>
      <dgm:spPr/>
      <dgm:t>
        <a:bodyPr/>
        <a:lstStyle/>
        <a:p>
          <a:endParaRPr lang="en-US"/>
        </a:p>
      </dgm:t>
    </dgm:pt>
    <dgm:pt modelId="{1184089A-1186-474E-96A8-F01D78979F6B}" type="sibTrans" cxnId="{E9EC4D23-117F-4AD3-AFA6-9E64AEFEF8E6}">
      <dgm:prSet/>
      <dgm:spPr>
        <a:ln w="38100">
          <a:solidFill>
            <a:schemeClr val="bg1"/>
          </a:solidFill>
        </a:ln>
      </dgm:spPr>
      <dgm:t>
        <a:bodyPr/>
        <a:lstStyle/>
        <a:p>
          <a:endParaRPr lang="en-US"/>
        </a:p>
      </dgm:t>
    </dgm:pt>
    <dgm:pt modelId="{F11B055B-CC52-4315-BE2D-29EB2EA3C8A9}">
      <dgm:prSet custT="1"/>
      <dgm:spPr>
        <a:solidFill>
          <a:srgbClr val="7030A0"/>
        </a:solidFill>
        <a:ln w="38100">
          <a:solidFill>
            <a:schemeClr val="bg1"/>
          </a:solidFill>
        </a:ln>
      </dgm:spPr>
      <dgm:t>
        <a:bodyPr/>
        <a:lstStyle/>
        <a:p>
          <a:r>
            <a:rPr lang="de-DE" sz="1800" dirty="0"/>
            <a:t>Control</a:t>
          </a:r>
          <a:br>
            <a:rPr lang="de-DE" sz="1800" dirty="0"/>
          </a:br>
          <a:r>
            <a:rPr lang="de-DE" sz="1800" dirty="0"/>
            <a:t>Parameterisation</a:t>
          </a:r>
          <a:endParaRPr lang="en-US" sz="1800" dirty="0"/>
        </a:p>
      </dgm:t>
    </dgm:pt>
    <dgm:pt modelId="{64B8375C-9389-41D4-B1D8-1A3B0C73F2A2}" type="parTrans" cxnId="{1EFDAFF7-5650-4BE1-9AB3-A92BBE66C42B}">
      <dgm:prSet/>
      <dgm:spPr/>
      <dgm:t>
        <a:bodyPr/>
        <a:lstStyle/>
        <a:p>
          <a:endParaRPr lang="en-US"/>
        </a:p>
      </dgm:t>
    </dgm:pt>
    <dgm:pt modelId="{7730BF96-EA4B-4D3F-BDA6-AA42BC99BB8B}" type="sibTrans" cxnId="{1EFDAFF7-5650-4BE1-9AB3-A92BBE66C42B}">
      <dgm:prSet/>
      <dgm:spPr>
        <a:ln w="38100">
          <a:solidFill>
            <a:schemeClr val="bg1"/>
          </a:solidFill>
        </a:ln>
      </dgm:spPr>
      <dgm:t>
        <a:bodyPr/>
        <a:lstStyle/>
        <a:p>
          <a:endParaRPr lang="en-US"/>
        </a:p>
      </dgm:t>
    </dgm:pt>
    <dgm:pt modelId="{D96F5415-542E-4C01-B84C-631CB43A98F1}" type="pres">
      <dgm:prSet presAssocID="{831DC046-4C52-4843-9155-5C20D87AD492}" presName="cycle" presStyleCnt="0">
        <dgm:presLayoutVars>
          <dgm:dir/>
          <dgm:resizeHandles val="exact"/>
        </dgm:presLayoutVars>
      </dgm:prSet>
      <dgm:spPr/>
    </dgm:pt>
    <dgm:pt modelId="{0A971159-2FA5-49F8-9379-7DFDEC522630}" type="pres">
      <dgm:prSet presAssocID="{3741311E-5F03-486F-87EF-B2BADCD5EE96}" presName="node" presStyleLbl="node1" presStyleIdx="0" presStyleCnt="6" custScaleX="156687" custScaleY="77483">
        <dgm:presLayoutVars>
          <dgm:bulletEnabled val="1"/>
        </dgm:presLayoutVars>
      </dgm:prSet>
      <dgm:spPr/>
    </dgm:pt>
    <dgm:pt modelId="{ABCB961D-9714-46CE-8A43-7E7D9239E90D}" type="pres">
      <dgm:prSet presAssocID="{3741311E-5F03-486F-87EF-B2BADCD5EE96}" presName="spNode" presStyleCnt="0"/>
      <dgm:spPr/>
    </dgm:pt>
    <dgm:pt modelId="{5DAFF906-88C4-40C6-B6A8-F32251651E77}" type="pres">
      <dgm:prSet presAssocID="{BFC871D6-CC0E-4DC5-92AA-8229DBC0AB0A}" presName="sibTrans" presStyleLbl="sibTrans1D1" presStyleIdx="0" presStyleCnt="6"/>
      <dgm:spPr/>
    </dgm:pt>
    <dgm:pt modelId="{40CC6FAE-BB9B-4A74-8211-2E5AE5EA582F}" type="pres">
      <dgm:prSet presAssocID="{21802F9C-9E23-4BB7-B711-3312AED9470E}" presName="node" presStyleLbl="node1" presStyleIdx="1" presStyleCnt="6" custScaleX="156687" custScaleY="77483">
        <dgm:presLayoutVars>
          <dgm:bulletEnabled val="1"/>
        </dgm:presLayoutVars>
      </dgm:prSet>
      <dgm:spPr/>
    </dgm:pt>
    <dgm:pt modelId="{16E34488-2EC8-4483-AAD5-B263EF115DBD}" type="pres">
      <dgm:prSet presAssocID="{21802F9C-9E23-4BB7-B711-3312AED9470E}" presName="spNode" presStyleCnt="0"/>
      <dgm:spPr/>
    </dgm:pt>
    <dgm:pt modelId="{B3C5F432-E9C3-4B94-BC8E-336DAFB3DEEB}" type="pres">
      <dgm:prSet presAssocID="{3C1FED70-C3D8-412B-8A46-5A92CAA85D87}" presName="sibTrans" presStyleLbl="sibTrans1D1" presStyleIdx="1" presStyleCnt="6"/>
      <dgm:spPr/>
    </dgm:pt>
    <dgm:pt modelId="{62450E01-B5BB-4596-AA84-C6B68BA22E17}" type="pres">
      <dgm:prSet presAssocID="{F11B055B-CC52-4315-BE2D-29EB2EA3C8A9}" presName="node" presStyleLbl="node1" presStyleIdx="2" presStyleCnt="6" custScaleX="156687" custScaleY="77483">
        <dgm:presLayoutVars>
          <dgm:bulletEnabled val="1"/>
        </dgm:presLayoutVars>
      </dgm:prSet>
      <dgm:spPr/>
    </dgm:pt>
    <dgm:pt modelId="{F1281664-0016-48A2-AF4D-2A3D067E2A8F}" type="pres">
      <dgm:prSet presAssocID="{F11B055B-CC52-4315-BE2D-29EB2EA3C8A9}" presName="spNode" presStyleCnt="0"/>
      <dgm:spPr/>
    </dgm:pt>
    <dgm:pt modelId="{B35B1855-F262-43FF-894C-A1EE99B468B4}" type="pres">
      <dgm:prSet presAssocID="{7730BF96-EA4B-4D3F-BDA6-AA42BC99BB8B}" presName="sibTrans" presStyleLbl="sibTrans1D1" presStyleIdx="2" presStyleCnt="6"/>
      <dgm:spPr/>
    </dgm:pt>
    <dgm:pt modelId="{B44B9DB0-22E3-4707-B3E4-E1543465D50B}" type="pres">
      <dgm:prSet presAssocID="{C8244B64-C847-41C7-A433-4AFC5B7DE007}" presName="node" presStyleLbl="node1" presStyleIdx="3" presStyleCnt="6" custScaleX="156687" custScaleY="77483">
        <dgm:presLayoutVars>
          <dgm:bulletEnabled val="1"/>
        </dgm:presLayoutVars>
      </dgm:prSet>
      <dgm:spPr/>
    </dgm:pt>
    <dgm:pt modelId="{9D337E41-961D-47FC-B78E-561E0C315A45}" type="pres">
      <dgm:prSet presAssocID="{C8244B64-C847-41C7-A433-4AFC5B7DE007}" presName="spNode" presStyleCnt="0"/>
      <dgm:spPr/>
    </dgm:pt>
    <dgm:pt modelId="{786B7CA3-072A-477E-9BB0-5E4FFECF36A3}" type="pres">
      <dgm:prSet presAssocID="{708F456B-365E-4C49-9338-C62732FF670E}" presName="sibTrans" presStyleLbl="sibTrans1D1" presStyleIdx="3" presStyleCnt="6"/>
      <dgm:spPr/>
    </dgm:pt>
    <dgm:pt modelId="{915311B5-19A6-4DFB-BB07-40FB8DC75694}" type="pres">
      <dgm:prSet presAssocID="{52D31CAE-0EDF-4703-8082-A2C63C625157}" presName="node" presStyleLbl="node1" presStyleIdx="4" presStyleCnt="6" custScaleX="156687" custScaleY="77483">
        <dgm:presLayoutVars>
          <dgm:bulletEnabled val="1"/>
        </dgm:presLayoutVars>
      </dgm:prSet>
      <dgm:spPr/>
    </dgm:pt>
    <dgm:pt modelId="{16637554-0651-47F4-BCD0-42775E58BEEE}" type="pres">
      <dgm:prSet presAssocID="{52D31CAE-0EDF-4703-8082-A2C63C625157}" presName="spNode" presStyleCnt="0"/>
      <dgm:spPr/>
    </dgm:pt>
    <dgm:pt modelId="{260B3A5C-B4DF-4637-AAD0-5A1939C13163}" type="pres">
      <dgm:prSet presAssocID="{1225470D-AF80-4196-BBCD-C1C71E9D0646}" presName="sibTrans" presStyleLbl="sibTrans1D1" presStyleIdx="4" presStyleCnt="6"/>
      <dgm:spPr/>
    </dgm:pt>
    <dgm:pt modelId="{4E3BB357-1501-4432-A9A2-E699F344F756}" type="pres">
      <dgm:prSet presAssocID="{50A2E25B-D0A9-437D-9767-84872DD2625D}" presName="node" presStyleLbl="node1" presStyleIdx="5" presStyleCnt="6" custScaleX="156687" custScaleY="77483">
        <dgm:presLayoutVars>
          <dgm:bulletEnabled val="1"/>
        </dgm:presLayoutVars>
      </dgm:prSet>
      <dgm:spPr/>
    </dgm:pt>
    <dgm:pt modelId="{A3410190-38BE-4402-9CFF-3B2EEB2D664F}" type="pres">
      <dgm:prSet presAssocID="{50A2E25B-D0A9-437D-9767-84872DD2625D}" presName="spNode" presStyleCnt="0"/>
      <dgm:spPr/>
    </dgm:pt>
    <dgm:pt modelId="{EA345D5A-595B-4FF0-B478-25F4B45C5BA1}" type="pres">
      <dgm:prSet presAssocID="{1184089A-1186-474E-96A8-F01D78979F6B}" presName="sibTrans" presStyleLbl="sibTrans1D1" presStyleIdx="5" presStyleCnt="6"/>
      <dgm:spPr/>
    </dgm:pt>
  </dgm:ptLst>
  <dgm:cxnLst>
    <dgm:cxn modelId="{E9EC4D23-117F-4AD3-AFA6-9E64AEFEF8E6}" srcId="{831DC046-4C52-4843-9155-5C20D87AD492}" destId="{50A2E25B-D0A9-437D-9767-84872DD2625D}" srcOrd="5" destOrd="0" parTransId="{4546EF1B-F525-4FA7-B26B-F8B2BA6C71B9}" sibTransId="{1184089A-1186-474E-96A8-F01D78979F6B}"/>
    <dgm:cxn modelId="{864FB527-14B6-49C0-AF22-C5CE47BFF835}" type="presOf" srcId="{708F456B-365E-4C49-9338-C62732FF670E}" destId="{786B7CA3-072A-477E-9BB0-5E4FFECF36A3}" srcOrd="0" destOrd="0" presId="urn:microsoft.com/office/officeart/2005/8/layout/cycle6"/>
    <dgm:cxn modelId="{8DA6C938-E100-4D8F-8247-24C49AEC3D88}" type="presOf" srcId="{1225470D-AF80-4196-BBCD-C1C71E9D0646}" destId="{260B3A5C-B4DF-4637-AAD0-5A1939C13163}" srcOrd="0" destOrd="0" presId="urn:microsoft.com/office/officeart/2005/8/layout/cycle6"/>
    <dgm:cxn modelId="{AB672B3A-9F8B-4C1C-8CCF-F5AE1741E255}" type="presOf" srcId="{C8244B64-C847-41C7-A433-4AFC5B7DE007}" destId="{B44B9DB0-22E3-4707-B3E4-E1543465D50B}" srcOrd="0" destOrd="0" presId="urn:microsoft.com/office/officeart/2005/8/layout/cycle6"/>
    <dgm:cxn modelId="{5E46BD61-9429-4E38-A525-84B3ECC612A7}" srcId="{831DC046-4C52-4843-9155-5C20D87AD492}" destId="{21802F9C-9E23-4BB7-B711-3312AED9470E}" srcOrd="1" destOrd="0" parTransId="{D265CC33-E4B3-4985-93D6-9FAC6B4C286B}" sibTransId="{3C1FED70-C3D8-412B-8A46-5A92CAA85D87}"/>
    <dgm:cxn modelId="{4BF17462-48EF-43C0-8350-E7547AA0BFFB}" type="presOf" srcId="{7730BF96-EA4B-4D3F-BDA6-AA42BC99BB8B}" destId="{B35B1855-F262-43FF-894C-A1EE99B468B4}" srcOrd="0" destOrd="0" presId="urn:microsoft.com/office/officeart/2005/8/layout/cycle6"/>
    <dgm:cxn modelId="{72A6D966-C2F7-4656-B1E4-E4B916B9216B}" type="presOf" srcId="{21802F9C-9E23-4BB7-B711-3312AED9470E}" destId="{40CC6FAE-BB9B-4A74-8211-2E5AE5EA582F}" srcOrd="0" destOrd="0" presId="urn:microsoft.com/office/officeart/2005/8/layout/cycle6"/>
    <dgm:cxn modelId="{DEF34967-05E0-477A-AAD8-493126A130A8}" type="presOf" srcId="{BFC871D6-CC0E-4DC5-92AA-8229DBC0AB0A}" destId="{5DAFF906-88C4-40C6-B6A8-F32251651E77}" srcOrd="0" destOrd="0" presId="urn:microsoft.com/office/officeart/2005/8/layout/cycle6"/>
    <dgm:cxn modelId="{602D8F84-672E-44D7-BD67-5BA883CAB2AA}" srcId="{831DC046-4C52-4843-9155-5C20D87AD492}" destId="{3741311E-5F03-486F-87EF-B2BADCD5EE96}" srcOrd="0" destOrd="0" parTransId="{FCDFA520-CE8E-4E28-ADD3-4912F9128C8F}" sibTransId="{BFC871D6-CC0E-4DC5-92AA-8229DBC0AB0A}"/>
    <dgm:cxn modelId="{87D13686-7F06-4063-9A6B-AB8D21F2AAD0}" type="presOf" srcId="{52D31CAE-0EDF-4703-8082-A2C63C625157}" destId="{915311B5-19A6-4DFB-BB07-40FB8DC75694}" srcOrd="0" destOrd="0" presId="urn:microsoft.com/office/officeart/2005/8/layout/cycle6"/>
    <dgm:cxn modelId="{1406299E-465B-46F7-B281-1BB29984647D}" type="presOf" srcId="{1184089A-1186-474E-96A8-F01D78979F6B}" destId="{EA345D5A-595B-4FF0-B478-25F4B45C5BA1}" srcOrd="0" destOrd="0" presId="urn:microsoft.com/office/officeart/2005/8/layout/cycle6"/>
    <dgm:cxn modelId="{0F27DCA1-D615-4DC1-996A-E97D646D5842}" srcId="{831DC046-4C52-4843-9155-5C20D87AD492}" destId="{52D31CAE-0EDF-4703-8082-A2C63C625157}" srcOrd="4" destOrd="0" parTransId="{650402EA-3A99-4FFC-A613-D6197078E953}" sibTransId="{1225470D-AF80-4196-BBCD-C1C71E9D0646}"/>
    <dgm:cxn modelId="{221539A7-DC1E-46F0-88EF-B4269BF3ECF0}" type="presOf" srcId="{3741311E-5F03-486F-87EF-B2BADCD5EE96}" destId="{0A971159-2FA5-49F8-9379-7DFDEC522630}" srcOrd="0" destOrd="0" presId="urn:microsoft.com/office/officeart/2005/8/layout/cycle6"/>
    <dgm:cxn modelId="{C2DB76AE-1598-4FFA-A45B-FA068A9155B3}" type="presOf" srcId="{831DC046-4C52-4843-9155-5C20D87AD492}" destId="{D96F5415-542E-4C01-B84C-631CB43A98F1}" srcOrd="0" destOrd="0" presId="urn:microsoft.com/office/officeart/2005/8/layout/cycle6"/>
    <dgm:cxn modelId="{009DD4C9-0CEE-4BD4-8661-3143D9E1C815}" type="presOf" srcId="{3C1FED70-C3D8-412B-8A46-5A92CAA85D87}" destId="{B3C5F432-E9C3-4B94-BC8E-336DAFB3DEEB}" srcOrd="0" destOrd="0" presId="urn:microsoft.com/office/officeart/2005/8/layout/cycle6"/>
    <dgm:cxn modelId="{765411D1-C832-4EDF-9C8B-D78154281000}" srcId="{831DC046-4C52-4843-9155-5C20D87AD492}" destId="{C8244B64-C847-41C7-A433-4AFC5B7DE007}" srcOrd="3" destOrd="0" parTransId="{683C62E3-52CC-40DE-BE5E-841CD810FB66}" sibTransId="{708F456B-365E-4C49-9338-C62732FF670E}"/>
    <dgm:cxn modelId="{BDA40AE3-430E-4FFD-A62E-E75C8ED94038}" type="presOf" srcId="{F11B055B-CC52-4315-BE2D-29EB2EA3C8A9}" destId="{62450E01-B5BB-4596-AA84-C6B68BA22E17}" srcOrd="0" destOrd="0" presId="urn:microsoft.com/office/officeart/2005/8/layout/cycle6"/>
    <dgm:cxn modelId="{1EFDAFF7-5650-4BE1-9AB3-A92BBE66C42B}" srcId="{831DC046-4C52-4843-9155-5C20D87AD492}" destId="{F11B055B-CC52-4315-BE2D-29EB2EA3C8A9}" srcOrd="2" destOrd="0" parTransId="{64B8375C-9389-41D4-B1D8-1A3B0C73F2A2}" sibTransId="{7730BF96-EA4B-4D3F-BDA6-AA42BC99BB8B}"/>
    <dgm:cxn modelId="{1FEEB8FE-23CB-415C-A0BF-4B48D34DD663}" type="presOf" srcId="{50A2E25B-D0A9-437D-9767-84872DD2625D}" destId="{4E3BB357-1501-4432-A9A2-E699F344F756}" srcOrd="0" destOrd="0" presId="urn:microsoft.com/office/officeart/2005/8/layout/cycle6"/>
    <dgm:cxn modelId="{EE23AB14-9151-4D59-A408-1B1A352726FA}" type="presParOf" srcId="{D96F5415-542E-4C01-B84C-631CB43A98F1}" destId="{0A971159-2FA5-49F8-9379-7DFDEC522630}" srcOrd="0" destOrd="0" presId="urn:microsoft.com/office/officeart/2005/8/layout/cycle6"/>
    <dgm:cxn modelId="{2D971C38-B6AC-4BD9-96AE-FF9EB863EAED}" type="presParOf" srcId="{D96F5415-542E-4C01-B84C-631CB43A98F1}" destId="{ABCB961D-9714-46CE-8A43-7E7D9239E90D}" srcOrd="1" destOrd="0" presId="urn:microsoft.com/office/officeart/2005/8/layout/cycle6"/>
    <dgm:cxn modelId="{B316E018-5F39-40AD-B3D0-8C3E0E079097}" type="presParOf" srcId="{D96F5415-542E-4C01-B84C-631CB43A98F1}" destId="{5DAFF906-88C4-40C6-B6A8-F32251651E77}" srcOrd="2" destOrd="0" presId="urn:microsoft.com/office/officeart/2005/8/layout/cycle6"/>
    <dgm:cxn modelId="{E7180766-0374-43E7-B4AA-26E02C3CD626}" type="presParOf" srcId="{D96F5415-542E-4C01-B84C-631CB43A98F1}" destId="{40CC6FAE-BB9B-4A74-8211-2E5AE5EA582F}" srcOrd="3" destOrd="0" presId="urn:microsoft.com/office/officeart/2005/8/layout/cycle6"/>
    <dgm:cxn modelId="{A2A0B03D-989B-4AF3-844E-8D0656DA4104}" type="presParOf" srcId="{D96F5415-542E-4C01-B84C-631CB43A98F1}" destId="{16E34488-2EC8-4483-AAD5-B263EF115DBD}" srcOrd="4" destOrd="0" presId="urn:microsoft.com/office/officeart/2005/8/layout/cycle6"/>
    <dgm:cxn modelId="{608EC486-EC60-4809-B92B-13C0A23FC271}" type="presParOf" srcId="{D96F5415-542E-4C01-B84C-631CB43A98F1}" destId="{B3C5F432-E9C3-4B94-BC8E-336DAFB3DEEB}" srcOrd="5" destOrd="0" presId="urn:microsoft.com/office/officeart/2005/8/layout/cycle6"/>
    <dgm:cxn modelId="{4CA0FFE7-344F-49C8-9805-C19D7C175DDA}" type="presParOf" srcId="{D96F5415-542E-4C01-B84C-631CB43A98F1}" destId="{62450E01-B5BB-4596-AA84-C6B68BA22E17}" srcOrd="6" destOrd="0" presId="urn:microsoft.com/office/officeart/2005/8/layout/cycle6"/>
    <dgm:cxn modelId="{72209C4F-BCB1-4338-9A27-D687211248A8}" type="presParOf" srcId="{D96F5415-542E-4C01-B84C-631CB43A98F1}" destId="{F1281664-0016-48A2-AF4D-2A3D067E2A8F}" srcOrd="7" destOrd="0" presId="urn:microsoft.com/office/officeart/2005/8/layout/cycle6"/>
    <dgm:cxn modelId="{0893D4B7-190B-4746-80AF-6837EF77FADD}" type="presParOf" srcId="{D96F5415-542E-4C01-B84C-631CB43A98F1}" destId="{B35B1855-F262-43FF-894C-A1EE99B468B4}" srcOrd="8" destOrd="0" presId="urn:microsoft.com/office/officeart/2005/8/layout/cycle6"/>
    <dgm:cxn modelId="{156374E5-6F55-44C0-A1B6-7E1BE7792EC0}" type="presParOf" srcId="{D96F5415-542E-4C01-B84C-631CB43A98F1}" destId="{B44B9DB0-22E3-4707-B3E4-E1543465D50B}" srcOrd="9" destOrd="0" presId="urn:microsoft.com/office/officeart/2005/8/layout/cycle6"/>
    <dgm:cxn modelId="{D6FD6CCA-023D-4E18-AD1A-B37590E4F9ED}" type="presParOf" srcId="{D96F5415-542E-4C01-B84C-631CB43A98F1}" destId="{9D337E41-961D-47FC-B78E-561E0C315A45}" srcOrd="10" destOrd="0" presId="urn:microsoft.com/office/officeart/2005/8/layout/cycle6"/>
    <dgm:cxn modelId="{D9F49B3D-D1DE-44F7-A90D-18454D5F2A54}" type="presParOf" srcId="{D96F5415-542E-4C01-B84C-631CB43A98F1}" destId="{786B7CA3-072A-477E-9BB0-5E4FFECF36A3}" srcOrd="11" destOrd="0" presId="urn:microsoft.com/office/officeart/2005/8/layout/cycle6"/>
    <dgm:cxn modelId="{6F2D5906-8F9A-482C-9449-E6307E638251}" type="presParOf" srcId="{D96F5415-542E-4C01-B84C-631CB43A98F1}" destId="{915311B5-19A6-4DFB-BB07-40FB8DC75694}" srcOrd="12" destOrd="0" presId="urn:microsoft.com/office/officeart/2005/8/layout/cycle6"/>
    <dgm:cxn modelId="{9CC01D7B-9726-44DF-B2E7-764191E45E96}" type="presParOf" srcId="{D96F5415-542E-4C01-B84C-631CB43A98F1}" destId="{16637554-0651-47F4-BCD0-42775E58BEEE}" srcOrd="13" destOrd="0" presId="urn:microsoft.com/office/officeart/2005/8/layout/cycle6"/>
    <dgm:cxn modelId="{A4F30427-BCFF-4688-865D-05D0FAB3FC72}" type="presParOf" srcId="{D96F5415-542E-4C01-B84C-631CB43A98F1}" destId="{260B3A5C-B4DF-4637-AAD0-5A1939C13163}" srcOrd="14" destOrd="0" presId="urn:microsoft.com/office/officeart/2005/8/layout/cycle6"/>
    <dgm:cxn modelId="{003E16C6-8C32-4F15-A6CA-0BB3FB6CD862}" type="presParOf" srcId="{D96F5415-542E-4C01-B84C-631CB43A98F1}" destId="{4E3BB357-1501-4432-A9A2-E699F344F756}" srcOrd="15" destOrd="0" presId="urn:microsoft.com/office/officeart/2005/8/layout/cycle6"/>
    <dgm:cxn modelId="{74B4E4AC-2C9C-4E03-9943-21458DB03172}" type="presParOf" srcId="{D96F5415-542E-4C01-B84C-631CB43A98F1}" destId="{A3410190-38BE-4402-9CFF-3B2EEB2D664F}" srcOrd="16" destOrd="0" presId="urn:microsoft.com/office/officeart/2005/8/layout/cycle6"/>
    <dgm:cxn modelId="{46C7300F-7F55-4432-AFF8-6ABFA586079D}" type="presParOf" srcId="{D96F5415-542E-4C01-B84C-631CB43A98F1}" destId="{EA345D5A-595B-4FF0-B478-25F4B45C5BA1}" srcOrd="17" destOrd="0" presId="urn:microsoft.com/office/officeart/2005/8/layout/cycle6"/>
  </dgm:cxnLst>
  <dgm:bg/>
  <dgm:whole>
    <a:ln w="38100"/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31DC046-4C52-4843-9155-5C20D87AD492}" type="doc">
      <dgm:prSet loTypeId="urn:microsoft.com/office/officeart/2005/8/layout/cycle6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741311E-5F03-486F-87EF-B2BADCD5EE96}">
      <dgm:prSet phldrT="[Text]" phldr="0" custT="1"/>
      <dgm:spPr>
        <a:solidFill>
          <a:schemeClr val="bg1">
            <a:lumMod val="50000"/>
          </a:schemeClr>
        </a:solidFill>
        <a:ln w="38100">
          <a:solidFill>
            <a:schemeClr val="bg1"/>
          </a:solidFill>
        </a:ln>
      </dgm:spPr>
      <dgm:t>
        <a:bodyPr/>
        <a:lstStyle/>
        <a:p>
          <a:r>
            <a:rPr lang="de-DE" sz="1800" dirty="0"/>
            <a:t>Attitude</a:t>
          </a:r>
          <a:br>
            <a:rPr lang="de-DE" sz="1800" dirty="0"/>
          </a:br>
          <a:r>
            <a:rPr lang="de-DE" sz="1800" dirty="0"/>
            <a:t>Parameterisation</a:t>
          </a:r>
          <a:endParaRPr lang="en-US" sz="1800" dirty="0"/>
        </a:p>
      </dgm:t>
    </dgm:pt>
    <dgm:pt modelId="{FCDFA520-CE8E-4E28-ADD3-4912F9128C8F}" type="parTrans" cxnId="{602D8F84-672E-44D7-BD67-5BA883CAB2AA}">
      <dgm:prSet/>
      <dgm:spPr/>
      <dgm:t>
        <a:bodyPr/>
        <a:lstStyle/>
        <a:p>
          <a:endParaRPr lang="en-US"/>
        </a:p>
      </dgm:t>
    </dgm:pt>
    <dgm:pt modelId="{BFC871D6-CC0E-4DC5-92AA-8229DBC0AB0A}" type="sibTrans" cxnId="{602D8F84-672E-44D7-BD67-5BA883CAB2AA}">
      <dgm:prSet/>
      <dgm:spPr>
        <a:ln w="38100">
          <a:solidFill>
            <a:schemeClr val="bg1"/>
          </a:solidFill>
        </a:ln>
      </dgm:spPr>
      <dgm:t>
        <a:bodyPr/>
        <a:lstStyle/>
        <a:p>
          <a:endParaRPr lang="en-US"/>
        </a:p>
      </dgm:t>
    </dgm:pt>
    <dgm:pt modelId="{21802F9C-9E23-4BB7-B711-3312AED9470E}">
      <dgm:prSet phldrT="[Text]" phldr="0" custT="1"/>
      <dgm:spPr>
        <a:solidFill>
          <a:schemeClr val="tx1">
            <a:lumMod val="50000"/>
          </a:schemeClr>
        </a:solidFill>
        <a:ln w="38100">
          <a:solidFill>
            <a:schemeClr val="bg1"/>
          </a:solidFill>
        </a:ln>
      </dgm:spPr>
      <dgm:t>
        <a:bodyPr/>
        <a:lstStyle/>
        <a:p>
          <a:r>
            <a:rPr lang="de-DE" sz="1800" dirty="0"/>
            <a:t>Dynamics</a:t>
          </a:r>
          <a:br>
            <a:rPr lang="de-DE" sz="1800" dirty="0"/>
          </a:br>
          <a:r>
            <a:rPr lang="de-DE" sz="1800" dirty="0"/>
            <a:t>Formulation</a:t>
          </a:r>
          <a:endParaRPr lang="en-US" sz="1800" dirty="0"/>
        </a:p>
      </dgm:t>
    </dgm:pt>
    <dgm:pt modelId="{D265CC33-E4B3-4985-93D6-9FAC6B4C286B}" type="parTrans" cxnId="{5E46BD61-9429-4E38-A525-84B3ECC612A7}">
      <dgm:prSet/>
      <dgm:spPr/>
      <dgm:t>
        <a:bodyPr/>
        <a:lstStyle/>
        <a:p>
          <a:endParaRPr lang="en-US"/>
        </a:p>
      </dgm:t>
    </dgm:pt>
    <dgm:pt modelId="{3C1FED70-C3D8-412B-8A46-5A92CAA85D87}" type="sibTrans" cxnId="{5E46BD61-9429-4E38-A525-84B3ECC612A7}">
      <dgm:prSet/>
      <dgm:spPr>
        <a:ln w="38100">
          <a:solidFill>
            <a:schemeClr val="bg1"/>
          </a:solidFill>
        </a:ln>
      </dgm:spPr>
      <dgm:t>
        <a:bodyPr/>
        <a:lstStyle/>
        <a:p>
          <a:endParaRPr lang="en-US"/>
        </a:p>
      </dgm:t>
    </dgm:pt>
    <dgm:pt modelId="{C8244B64-C847-41C7-A433-4AFC5B7DE007}">
      <dgm:prSet phldrT="[Text]" phldr="0" custT="1"/>
      <dgm:spPr>
        <a:solidFill>
          <a:srgbClr val="7030A0"/>
        </a:solidFill>
        <a:ln w="38100">
          <a:solidFill>
            <a:schemeClr val="bg1"/>
          </a:solidFill>
        </a:ln>
      </dgm:spPr>
      <dgm:t>
        <a:bodyPr/>
        <a:lstStyle/>
        <a:p>
          <a:r>
            <a:rPr lang="de-DE" sz="1800" dirty="0"/>
            <a:t>Optimisation</a:t>
          </a:r>
          <a:br>
            <a:rPr lang="de-DE" sz="1800" dirty="0"/>
          </a:br>
          <a:r>
            <a:rPr lang="de-DE" sz="1800" dirty="0"/>
            <a:t>Methodology</a:t>
          </a:r>
          <a:endParaRPr lang="en-US" sz="1800" dirty="0"/>
        </a:p>
      </dgm:t>
    </dgm:pt>
    <dgm:pt modelId="{683C62E3-52CC-40DE-BE5E-841CD810FB66}" type="parTrans" cxnId="{765411D1-C832-4EDF-9C8B-D78154281000}">
      <dgm:prSet/>
      <dgm:spPr/>
      <dgm:t>
        <a:bodyPr/>
        <a:lstStyle/>
        <a:p>
          <a:endParaRPr lang="en-US"/>
        </a:p>
      </dgm:t>
    </dgm:pt>
    <dgm:pt modelId="{708F456B-365E-4C49-9338-C62732FF670E}" type="sibTrans" cxnId="{765411D1-C832-4EDF-9C8B-D78154281000}">
      <dgm:prSet/>
      <dgm:spPr>
        <a:ln w="38100">
          <a:solidFill>
            <a:schemeClr val="bg1"/>
          </a:solidFill>
        </a:ln>
      </dgm:spPr>
      <dgm:t>
        <a:bodyPr/>
        <a:lstStyle/>
        <a:p>
          <a:endParaRPr lang="en-US"/>
        </a:p>
      </dgm:t>
    </dgm:pt>
    <dgm:pt modelId="{52D31CAE-0EDF-4703-8082-A2C63C625157}">
      <dgm:prSet phldrT="[Text]" phldr="0" custT="1"/>
      <dgm:spPr>
        <a:solidFill>
          <a:schemeClr val="tx1">
            <a:lumMod val="50000"/>
          </a:schemeClr>
        </a:solidFill>
        <a:ln w="38100">
          <a:solidFill>
            <a:schemeClr val="bg1"/>
          </a:solidFill>
        </a:ln>
      </dgm:spPr>
      <dgm:t>
        <a:bodyPr/>
        <a:lstStyle/>
        <a:p>
          <a:r>
            <a:rPr lang="de-DE" sz="1800" dirty="0"/>
            <a:t>Computational</a:t>
          </a:r>
          <a:br>
            <a:rPr lang="de-DE" sz="1800" dirty="0"/>
          </a:br>
          <a:r>
            <a:rPr lang="de-DE" sz="1800" dirty="0"/>
            <a:t>Framework</a:t>
          </a:r>
          <a:endParaRPr lang="en-US" sz="1800" dirty="0"/>
        </a:p>
      </dgm:t>
    </dgm:pt>
    <dgm:pt modelId="{650402EA-3A99-4FFC-A613-D6197078E953}" type="parTrans" cxnId="{0F27DCA1-D615-4DC1-996A-E97D646D5842}">
      <dgm:prSet/>
      <dgm:spPr/>
      <dgm:t>
        <a:bodyPr/>
        <a:lstStyle/>
        <a:p>
          <a:endParaRPr lang="en-US"/>
        </a:p>
      </dgm:t>
    </dgm:pt>
    <dgm:pt modelId="{1225470D-AF80-4196-BBCD-C1C71E9D0646}" type="sibTrans" cxnId="{0F27DCA1-D615-4DC1-996A-E97D646D5842}">
      <dgm:prSet/>
      <dgm:spPr>
        <a:ln w="38100">
          <a:solidFill>
            <a:schemeClr val="bg1"/>
          </a:solidFill>
        </a:ln>
      </dgm:spPr>
      <dgm:t>
        <a:bodyPr/>
        <a:lstStyle/>
        <a:p>
          <a:endParaRPr lang="en-US"/>
        </a:p>
      </dgm:t>
    </dgm:pt>
    <dgm:pt modelId="{50A2E25B-D0A9-437D-9767-84872DD2625D}">
      <dgm:prSet phldrT="[Text]" phldr="0" custT="1"/>
      <dgm:spPr>
        <a:solidFill>
          <a:schemeClr val="tx1">
            <a:lumMod val="50000"/>
          </a:schemeClr>
        </a:solidFill>
        <a:ln w="38100">
          <a:solidFill>
            <a:schemeClr val="bg1"/>
          </a:solidFill>
        </a:ln>
      </dgm:spPr>
      <dgm:t>
        <a:bodyPr/>
        <a:lstStyle/>
        <a:p>
          <a:r>
            <a:rPr lang="de-DE" sz="1800" dirty="0"/>
            <a:t>NLP</a:t>
          </a:r>
          <a:br>
            <a:rPr lang="de-DE" sz="1800" dirty="0"/>
          </a:br>
          <a:r>
            <a:rPr lang="de-DE" sz="1800" dirty="0"/>
            <a:t>Solver</a:t>
          </a:r>
          <a:endParaRPr lang="en-US" sz="1800" dirty="0"/>
        </a:p>
      </dgm:t>
    </dgm:pt>
    <dgm:pt modelId="{4546EF1B-F525-4FA7-B26B-F8B2BA6C71B9}" type="parTrans" cxnId="{E9EC4D23-117F-4AD3-AFA6-9E64AEFEF8E6}">
      <dgm:prSet/>
      <dgm:spPr/>
      <dgm:t>
        <a:bodyPr/>
        <a:lstStyle/>
        <a:p>
          <a:endParaRPr lang="en-US"/>
        </a:p>
      </dgm:t>
    </dgm:pt>
    <dgm:pt modelId="{1184089A-1186-474E-96A8-F01D78979F6B}" type="sibTrans" cxnId="{E9EC4D23-117F-4AD3-AFA6-9E64AEFEF8E6}">
      <dgm:prSet/>
      <dgm:spPr>
        <a:ln w="38100">
          <a:solidFill>
            <a:schemeClr val="bg1"/>
          </a:solidFill>
        </a:ln>
      </dgm:spPr>
      <dgm:t>
        <a:bodyPr/>
        <a:lstStyle/>
        <a:p>
          <a:endParaRPr lang="en-US"/>
        </a:p>
      </dgm:t>
    </dgm:pt>
    <dgm:pt modelId="{F11B055B-CC52-4315-BE2D-29EB2EA3C8A9}">
      <dgm:prSet custT="1"/>
      <dgm:spPr>
        <a:solidFill>
          <a:schemeClr val="tx1">
            <a:lumMod val="50000"/>
          </a:schemeClr>
        </a:solidFill>
        <a:ln w="38100">
          <a:solidFill>
            <a:schemeClr val="bg1"/>
          </a:solidFill>
        </a:ln>
      </dgm:spPr>
      <dgm:t>
        <a:bodyPr/>
        <a:lstStyle/>
        <a:p>
          <a:r>
            <a:rPr lang="de-DE" sz="1800" dirty="0"/>
            <a:t>Control</a:t>
          </a:r>
          <a:br>
            <a:rPr lang="de-DE" sz="1800" dirty="0"/>
          </a:br>
          <a:r>
            <a:rPr lang="de-DE" sz="1800" dirty="0"/>
            <a:t>Parameterisation</a:t>
          </a:r>
          <a:endParaRPr lang="en-US" sz="1800" dirty="0"/>
        </a:p>
      </dgm:t>
    </dgm:pt>
    <dgm:pt modelId="{64B8375C-9389-41D4-B1D8-1A3B0C73F2A2}" type="parTrans" cxnId="{1EFDAFF7-5650-4BE1-9AB3-A92BBE66C42B}">
      <dgm:prSet/>
      <dgm:spPr/>
      <dgm:t>
        <a:bodyPr/>
        <a:lstStyle/>
        <a:p>
          <a:endParaRPr lang="en-US"/>
        </a:p>
      </dgm:t>
    </dgm:pt>
    <dgm:pt modelId="{7730BF96-EA4B-4D3F-BDA6-AA42BC99BB8B}" type="sibTrans" cxnId="{1EFDAFF7-5650-4BE1-9AB3-A92BBE66C42B}">
      <dgm:prSet/>
      <dgm:spPr>
        <a:ln w="38100">
          <a:solidFill>
            <a:schemeClr val="bg1"/>
          </a:solidFill>
        </a:ln>
      </dgm:spPr>
      <dgm:t>
        <a:bodyPr/>
        <a:lstStyle/>
        <a:p>
          <a:endParaRPr lang="en-US"/>
        </a:p>
      </dgm:t>
    </dgm:pt>
    <dgm:pt modelId="{D96F5415-542E-4C01-B84C-631CB43A98F1}" type="pres">
      <dgm:prSet presAssocID="{831DC046-4C52-4843-9155-5C20D87AD492}" presName="cycle" presStyleCnt="0">
        <dgm:presLayoutVars>
          <dgm:dir/>
          <dgm:resizeHandles val="exact"/>
        </dgm:presLayoutVars>
      </dgm:prSet>
      <dgm:spPr/>
    </dgm:pt>
    <dgm:pt modelId="{0A971159-2FA5-49F8-9379-7DFDEC522630}" type="pres">
      <dgm:prSet presAssocID="{3741311E-5F03-486F-87EF-B2BADCD5EE96}" presName="node" presStyleLbl="node1" presStyleIdx="0" presStyleCnt="6" custScaleX="156687" custScaleY="77483">
        <dgm:presLayoutVars>
          <dgm:bulletEnabled val="1"/>
        </dgm:presLayoutVars>
      </dgm:prSet>
      <dgm:spPr/>
    </dgm:pt>
    <dgm:pt modelId="{ABCB961D-9714-46CE-8A43-7E7D9239E90D}" type="pres">
      <dgm:prSet presAssocID="{3741311E-5F03-486F-87EF-B2BADCD5EE96}" presName="spNode" presStyleCnt="0"/>
      <dgm:spPr/>
    </dgm:pt>
    <dgm:pt modelId="{5DAFF906-88C4-40C6-B6A8-F32251651E77}" type="pres">
      <dgm:prSet presAssocID="{BFC871D6-CC0E-4DC5-92AA-8229DBC0AB0A}" presName="sibTrans" presStyleLbl="sibTrans1D1" presStyleIdx="0" presStyleCnt="6"/>
      <dgm:spPr/>
    </dgm:pt>
    <dgm:pt modelId="{40CC6FAE-BB9B-4A74-8211-2E5AE5EA582F}" type="pres">
      <dgm:prSet presAssocID="{21802F9C-9E23-4BB7-B711-3312AED9470E}" presName="node" presStyleLbl="node1" presStyleIdx="1" presStyleCnt="6" custScaleX="156687" custScaleY="77483">
        <dgm:presLayoutVars>
          <dgm:bulletEnabled val="1"/>
        </dgm:presLayoutVars>
      </dgm:prSet>
      <dgm:spPr/>
    </dgm:pt>
    <dgm:pt modelId="{16E34488-2EC8-4483-AAD5-B263EF115DBD}" type="pres">
      <dgm:prSet presAssocID="{21802F9C-9E23-4BB7-B711-3312AED9470E}" presName="spNode" presStyleCnt="0"/>
      <dgm:spPr/>
    </dgm:pt>
    <dgm:pt modelId="{B3C5F432-E9C3-4B94-BC8E-336DAFB3DEEB}" type="pres">
      <dgm:prSet presAssocID="{3C1FED70-C3D8-412B-8A46-5A92CAA85D87}" presName="sibTrans" presStyleLbl="sibTrans1D1" presStyleIdx="1" presStyleCnt="6"/>
      <dgm:spPr/>
    </dgm:pt>
    <dgm:pt modelId="{62450E01-B5BB-4596-AA84-C6B68BA22E17}" type="pres">
      <dgm:prSet presAssocID="{F11B055B-CC52-4315-BE2D-29EB2EA3C8A9}" presName="node" presStyleLbl="node1" presStyleIdx="2" presStyleCnt="6" custScaleX="156687" custScaleY="77483">
        <dgm:presLayoutVars>
          <dgm:bulletEnabled val="1"/>
        </dgm:presLayoutVars>
      </dgm:prSet>
      <dgm:spPr/>
    </dgm:pt>
    <dgm:pt modelId="{F1281664-0016-48A2-AF4D-2A3D067E2A8F}" type="pres">
      <dgm:prSet presAssocID="{F11B055B-CC52-4315-BE2D-29EB2EA3C8A9}" presName="spNode" presStyleCnt="0"/>
      <dgm:spPr/>
    </dgm:pt>
    <dgm:pt modelId="{B35B1855-F262-43FF-894C-A1EE99B468B4}" type="pres">
      <dgm:prSet presAssocID="{7730BF96-EA4B-4D3F-BDA6-AA42BC99BB8B}" presName="sibTrans" presStyleLbl="sibTrans1D1" presStyleIdx="2" presStyleCnt="6"/>
      <dgm:spPr/>
    </dgm:pt>
    <dgm:pt modelId="{B44B9DB0-22E3-4707-B3E4-E1543465D50B}" type="pres">
      <dgm:prSet presAssocID="{C8244B64-C847-41C7-A433-4AFC5B7DE007}" presName="node" presStyleLbl="node1" presStyleIdx="3" presStyleCnt="6" custScaleX="156687" custScaleY="77483">
        <dgm:presLayoutVars>
          <dgm:bulletEnabled val="1"/>
        </dgm:presLayoutVars>
      </dgm:prSet>
      <dgm:spPr/>
    </dgm:pt>
    <dgm:pt modelId="{9D337E41-961D-47FC-B78E-561E0C315A45}" type="pres">
      <dgm:prSet presAssocID="{C8244B64-C847-41C7-A433-4AFC5B7DE007}" presName="spNode" presStyleCnt="0"/>
      <dgm:spPr/>
    </dgm:pt>
    <dgm:pt modelId="{786B7CA3-072A-477E-9BB0-5E4FFECF36A3}" type="pres">
      <dgm:prSet presAssocID="{708F456B-365E-4C49-9338-C62732FF670E}" presName="sibTrans" presStyleLbl="sibTrans1D1" presStyleIdx="3" presStyleCnt="6"/>
      <dgm:spPr/>
    </dgm:pt>
    <dgm:pt modelId="{915311B5-19A6-4DFB-BB07-40FB8DC75694}" type="pres">
      <dgm:prSet presAssocID="{52D31CAE-0EDF-4703-8082-A2C63C625157}" presName="node" presStyleLbl="node1" presStyleIdx="4" presStyleCnt="6" custScaleX="156687" custScaleY="77483">
        <dgm:presLayoutVars>
          <dgm:bulletEnabled val="1"/>
        </dgm:presLayoutVars>
      </dgm:prSet>
      <dgm:spPr/>
    </dgm:pt>
    <dgm:pt modelId="{16637554-0651-47F4-BCD0-42775E58BEEE}" type="pres">
      <dgm:prSet presAssocID="{52D31CAE-0EDF-4703-8082-A2C63C625157}" presName="spNode" presStyleCnt="0"/>
      <dgm:spPr/>
    </dgm:pt>
    <dgm:pt modelId="{260B3A5C-B4DF-4637-AAD0-5A1939C13163}" type="pres">
      <dgm:prSet presAssocID="{1225470D-AF80-4196-BBCD-C1C71E9D0646}" presName="sibTrans" presStyleLbl="sibTrans1D1" presStyleIdx="4" presStyleCnt="6"/>
      <dgm:spPr/>
    </dgm:pt>
    <dgm:pt modelId="{4E3BB357-1501-4432-A9A2-E699F344F756}" type="pres">
      <dgm:prSet presAssocID="{50A2E25B-D0A9-437D-9767-84872DD2625D}" presName="node" presStyleLbl="node1" presStyleIdx="5" presStyleCnt="6" custScaleX="156687" custScaleY="77483">
        <dgm:presLayoutVars>
          <dgm:bulletEnabled val="1"/>
        </dgm:presLayoutVars>
      </dgm:prSet>
      <dgm:spPr/>
    </dgm:pt>
    <dgm:pt modelId="{A3410190-38BE-4402-9CFF-3B2EEB2D664F}" type="pres">
      <dgm:prSet presAssocID="{50A2E25B-D0A9-437D-9767-84872DD2625D}" presName="spNode" presStyleCnt="0"/>
      <dgm:spPr/>
    </dgm:pt>
    <dgm:pt modelId="{EA345D5A-595B-4FF0-B478-25F4B45C5BA1}" type="pres">
      <dgm:prSet presAssocID="{1184089A-1186-474E-96A8-F01D78979F6B}" presName="sibTrans" presStyleLbl="sibTrans1D1" presStyleIdx="5" presStyleCnt="6"/>
      <dgm:spPr/>
    </dgm:pt>
  </dgm:ptLst>
  <dgm:cxnLst>
    <dgm:cxn modelId="{E9EC4D23-117F-4AD3-AFA6-9E64AEFEF8E6}" srcId="{831DC046-4C52-4843-9155-5C20D87AD492}" destId="{50A2E25B-D0A9-437D-9767-84872DD2625D}" srcOrd="5" destOrd="0" parTransId="{4546EF1B-F525-4FA7-B26B-F8B2BA6C71B9}" sibTransId="{1184089A-1186-474E-96A8-F01D78979F6B}"/>
    <dgm:cxn modelId="{864FB527-14B6-49C0-AF22-C5CE47BFF835}" type="presOf" srcId="{708F456B-365E-4C49-9338-C62732FF670E}" destId="{786B7CA3-072A-477E-9BB0-5E4FFECF36A3}" srcOrd="0" destOrd="0" presId="urn:microsoft.com/office/officeart/2005/8/layout/cycle6"/>
    <dgm:cxn modelId="{8DA6C938-E100-4D8F-8247-24C49AEC3D88}" type="presOf" srcId="{1225470D-AF80-4196-BBCD-C1C71E9D0646}" destId="{260B3A5C-B4DF-4637-AAD0-5A1939C13163}" srcOrd="0" destOrd="0" presId="urn:microsoft.com/office/officeart/2005/8/layout/cycle6"/>
    <dgm:cxn modelId="{AB672B3A-9F8B-4C1C-8CCF-F5AE1741E255}" type="presOf" srcId="{C8244B64-C847-41C7-A433-4AFC5B7DE007}" destId="{B44B9DB0-22E3-4707-B3E4-E1543465D50B}" srcOrd="0" destOrd="0" presId="urn:microsoft.com/office/officeart/2005/8/layout/cycle6"/>
    <dgm:cxn modelId="{5E46BD61-9429-4E38-A525-84B3ECC612A7}" srcId="{831DC046-4C52-4843-9155-5C20D87AD492}" destId="{21802F9C-9E23-4BB7-B711-3312AED9470E}" srcOrd="1" destOrd="0" parTransId="{D265CC33-E4B3-4985-93D6-9FAC6B4C286B}" sibTransId="{3C1FED70-C3D8-412B-8A46-5A92CAA85D87}"/>
    <dgm:cxn modelId="{4BF17462-48EF-43C0-8350-E7547AA0BFFB}" type="presOf" srcId="{7730BF96-EA4B-4D3F-BDA6-AA42BC99BB8B}" destId="{B35B1855-F262-43FF-894C-A1EE99B468B4}" srcOrd="0" destOrd="0" presId="urn:microsoft.com/office/officeart/2005/8/layout/cycle6"/>
    <dgm:cxn modelId="{72A6D966-C2F7-4656-B1E4-E4B916B9216B}" type="presOf" srcId="{21802F9C-9E23-4BB7-B711-3312AED9470E}" destId="{40CC6FAE-BB9B-4A74-8211-2E5AE5EA582F}" srcOrd="0" destOrd="0" presId="urn:microsoft.com/office/officeart/2005/8/layout/cycle6"/>
    <dgm:cxn modelId="{DEF34967-05E0-477A-AAD8-493126A130A8}" type="presOf" srcId="{BFC871D6-CC0E-4DC5-92AA-8229DBC0AB0A}" destId="{5DAFF906-88C4-40C6-B6A8-F32251651E77}" srcOrd="0" destOrd="0" presId="urn:microsoft.com/office/officeart/2005/8/layout/cycle6"/>
    <dgm:cxn modelId="{602D8F84-672E-44D7-BD67-5BA883CAB2AA}" srcId="{831DC046-4C52-4843-9155-5C20D87AD492}" destId="{3741311E-5F03-486F-87EF-B2BADCD5EE96}" srcOrd="0" destOrd="0" parTransId="{FCDFA520-CE8E-4E28-ADD3-4912F9128C8F}" sibTransId="{BFC871D6-CC0E-4DC5-92AA-8229DBC0AB0A}"/>
    <dgm:cxn modelId="{87D13686-7F06-4063-9A6B-AB8D21F2AAD0}" type="presOf" srcId="{52D31CAE-0EDF-4703-8082-A2C63C625157}" destId="{915311B5-19A6-4DFB-BB07-40FB8DC75694}" srcOrd="0" destOrd="0" presId="urn:microsoft.com/office/officeart/2005/8/layout/cycle6"/>
    <dgm:cxn modelId="{1406299E-465B-46F7-B281-1BB29984647D}" type="presOf" srcId="{1184089A-1186-474E-96A8-F01D78979F6B}" destId="{EA345D5A-595B-4FF0-B478-25F4B45C5BA1}" srcOrd="0" destOrd="0" presId="urn:microsoft.com/office/officeart/2005/8/layout/cycle6"/>
    <dgm:cxn modelId="{0F27DCA1-D615-4DC1-996A-E97D646D5842}" srcId="{831DC046-4C52-4843-9155-5C20D87AD492}" destId="{52D31CAE-0EDF-4703-8082-A2C63C625157}" srcOrd="4" destOrd="0" parTransId="{650402EA-3A99-4FFC-A613-D6197078E953}" sibTransId="{1225470D-AF80-4196-BBCD-C1C71E9D0646}"/>
    <dgm:cxn modelId="{221539A7-DC1E-46F0-88EF-B4269BF3ECF0}" type="presOf" srcId="{3741311E-5F03-486F-87EF-B2BADCD5EE96}" destId="{0A971159-2FA5-49F8-9379-7DFDEC522630}" srcOrd="0" destOrd="0" presId="urn:microsoft.com/office/officeart/2005/8/layout/cycle6"/>
    <dgm:cxn modelId="{C2DB76AE-1598-4FFA-A45B-FA068A9155B3}" type="presOf" srcId="{831DC046-4C52-4843-9155-5C20D87AD492}" destId="{D96F5415-542E-4C01-B84C-631CB43A98F1}" srcOrd="0" destOrd="0" presId="urn:microsoft.com/office/officeart/2005/8/layout/cycle6"/>
    <dgm:cxn modelId="{009DD4C9-0CEE-4BD4-8661-3143D9E1C815}" type="presOf" srcId="{3C1FED70-C3D8-412B-8A46-5A92CAA85D87}" destId="{B3C5F432-E9C3-4B94-BC8E-336DAFB3DEEB}" srcOrd="0" destOrd="0" presId="urn:microsoft.com/office/officeart/2005/8/layout/cycle6"/>
    <dgm:cxn modelId="{765411D1-C832-4EDF-9C8B-D78154281000}" srcId="{831DC046-4C52-4843-9155-5C20D87AD492}" destId="{C8244B64-C847-41C7-A433-4AFC5B7DE007}" srcOrd="3" destOrd="0" parTransId="{683C62E3-52CC-40DE-BE5E-841CD810FB66}" sibTransId="{708F456B-365E-4C49-9338-C62732FF670E}"/>
    <dgm:cxn modelId="{BDA40AE3-430E-4FFD-A62E-E75C8ED94038}" type="presOf" srcId="{F11B055B-CC52-4315-BE2D-29EB2EA3C8A9}" destId="{62450E01-B5BB-4596-AA84-C6B68BA22E17}" srcOrd="0" destOrd="0" presId="urn:microsoft.com/office/officeart/2005/8/layout/cycle6"/>
    <dgm:cxn modelId="{1EFDAFF7-5650-4BE1-9AB3-A92BBE66C42B}" srcId="{831DC046-4C52-4843-9155-5C20D87AD492}" destId="{F11B055B-CC52-4315-BE2D-29EB2EA3C8A9}" srcOrd="2" destOrd="0" parTransId="{64B8375C-9389-41D4-B1D8-1A3B0C73F2A2}" sibTransId="{7730BF96-EA4B-4D3F-BDA6-AA42BC99BB8B}"/>
    <dgm:cxn modelId="{1FEEB8FE-23CB-415C-A0BF-4B48D34DD663}" type="presOf" srcId="{50A2E25B-D0A9-437D-9767-84872DD2625D}" destId="{4E3BB357-1501-4432-A9A2-E699F344F756}" srcOrd="0" destOrd="0" presId="urn:microsoft.com/office/officeart/2005/8/layout/cycle6"/>
    <dgm:cxn modelId="{EE23AB14-9151-4D59-A408-1B1A352726FA}" type="presParOf" srcId="{D96F5415-542E-4C01-B84C-631CB43A98F1}" destId="{0A971159-2FA5-49F8-9379-7DFDEC522630}" srcOrd="0" destOrd="0" presId="urn:microsoft.com/office/officeart/2005/8/layout/cycle6"/>
    <dgm:cxn modelId="{2D971C38-B6AC-4BD9-96AE-FF9EB863EAED}" type="presParOf" srcId="{D96F5415-542E-4C01-B84C-631CB43A98F1}" destId="{ABCB961D-9714-46CE-8A43-7E7D9239E90D}" srcOrd="1" destOrd="0" presId="urn:microsoft.com/office/officeart/2005/8/layout/cycle6"/>
    <dgm:cxn modelId="{B316E018-5F39-40AD-B3D0-8C3E0E079097}" type="presParOf" srcId="{D96F5415-542E-4C01-B84C-631CB43A98F1}" destId="{5DAFF906-88C4-40C6-B6A8-F32251651E77}" srcOrd="2" destOrd="0" presId="urn:microsoft.com/office/officeart/2005/8/layout/cycle6"/>
    <dgm:cxn modelId="{E7180766-0374-43E7-B4AA-26E02C3CD626}" type="presParOf" srcId="{D96F5415-542E-4C01-B84C-631CB43A98F1}" destId="{40CC6FAE-BB9B-4A74-8211-2E5AE5EA582F}" srcOrd="3" destOrd="0" presId="urn:microsoft.com/office/officeart/2005/8/layout/cycle6"/>
    <dgm:cxn modelId="{A2A0B03D-989B-4AF3-844E-8D0656DA4104}" type="presParOf" srcId="{D96F5415-542E-4C01-B84C-631CB43A98F1}" destId="{16E34488-2EC8-4483-AAD5-B263EF115DBD}" srcOrd="4" destOrd="0" presId="urn:microsoft.com/office/officeart/2005/8/layout/cycle6"/>
    <dgm:cxn modelId="{608EC486-EC60-4809-B92B-13C0A23FC271}" type="presParOf" srcId="{D96F5415-542E-4C01-B84C-631CB43A98F1}" destId="{B3C5F432-E9C3-4B94-BC8E-336DAFB3DEEB}" srcOrd="5" destOrd="0" presId="urn:microsoft.com/office/officeart/2005/8/layout/cycle6"/>
    <dgm:cxn modelId="{4CA0FFE7-344F-49C8-9805-C19D7C175DDA}" type="presParOf" srcId="{D96F5415-542E-4C01-B84C-631CB43A98F1}" destId="{62450E01-B5BB-4596-AA84-C6B68BA22E17}" srcOrd="6" destOrd="0" presId="urn:microsoft.com/office/officeart/2005/8/layout/cycle6"/>
    <dgm:cxn modelId="{72209C4F-BCB1-4338-9A27-D687211248A8}" type="presParOf" srcId="{D96F5415-542E-4C01-B84C-631CB43A98F1}" destId="{F1281664-0016-48A2-AF4D-2A3D067E2A8F}" srcOrd="7" destOrd="0" presId="urn:microsoft.com/office/officeart/2005/8/layout/cycle6"/>
    <dgm:cxn modelId="{0893D4B7-190B-4746-80AF-6837EF77FADD}" type="presParOf" srcId="{D96F5415-542E-4C01-B84C-631CB43A98F1}" destId="{B35B1855-F262-43FF-894C-A1EE99B468B4}" srcOrd="8" destOrd="0" presId="urn:microsoft.com/office/officeart/2005/8/layout/cycle6"/>
    <dgm:cxn modelId="{156374E5-6F55-44C0-A1B6-7E1BE7792EC0}" type="presParOf" srcId="{D96F5415-542E-4C01-B84C-631CB43A98F1}" destId="{B44B9DB0-22E3-4707-B3E4-E1543465D50B}" srcOrd="9" destOrd="0" presId="urn:microsoft.com/office/officeart/2005/8/layout/cycle6"/>
    <dgm:cxn modelId="{D6FD6CCA-023D-4E18-AD1A-B37590E4F9ED}" type="presParOf" srcId="{D96F5415-542E-4C01-B84C-631CB43A98F1}" destId="{9D337E41-961D-47FC-B78E-561E0C315A45}" srcOrd="10" destOrd="0" presId="urn:microsoft.com/office/officeart/2005/8/layout/cycle6"/>
    <dgm:cxn modelId="{D9F49B3D-D1DE-44F7-A90D-18454D5F2A54}" type="presParOf" srcId="{D96F5415-542E-4C01-B84C-631CB43A98F1}" destId="{786B7CA3-072A-477E-9BB0-5E4FFECF36A3}" srcOrd="11" destOrd="0" presId="urn:microsoft.com/office/officeart/2005/8/layout/cycle6"/>
    <dgm:cxn modelId="{6F2D5906-8F9A-482C-9449-E6307E638251}" type="presParOf" srcId="{D96F5415-542E-4C01-B84C-631CB43A98F1}" destId="{915311B5-19A6-4DFB-BB07-40FB8DC75694}" srcOrd="12" destOrd="0" presId="urn:microsoft.com/office/officeart/2005/8/layout/cycle6"/>
    <dgm:cxn modelId="{9CC01D7B-9726-44DF-B2E7-764191E45E96}" type="presParOf" srcId="{D96F5415-542E-4C01-B84C-631CB43A98F1}" destId="{16637554-0651-47F4-BCD0-42775E58BEEE}" srcOrd="13" destOrd="0" presId="urn:microsoft.com/office/officeart/2005/8/layout/cycle6"/>
    <dgm:cxn modelId="{A4F30427-BCFF-4688-865D-05D0FAB3FC72}" type="presParOf" srcId="{D96F5415-542E-4C01-B84C-631CB43A98F1}" destId="{260B3A5C-B4DF-4637-AAD0-5A1939C13163}" srcOrd="14" destOrd="0" presId="urn:microsoft.com/office/officeart/2005/8/layout/cycle6"/>
    <dgm:cxn modelId="{003E16C6-8C32-4F15-A6CA-0BB3FB6CD862}" type="presParOf" srcId="{D96F5415-542E-4C01-B84C-631CB43A98F1}" destId="{4E3BB357-1501-4432-A9A2-E699F344F756}" srcOrd="15" destOrd="0" presId="urn:microsoft.com/office/officeart/2005/8/layout/cycle6"/>
    <dgm:cxn modelId="{74B4E4AC-2C9C-4E03-9943-21458DB03172}" type="presParOf" srcId="{D96F5415-542E-4C01-B84C-631CB43A98F1}" destId="{A3410190-38BE-4402-9CFF-3B2EEB2D664F}" srcOrd="16" destOrd="0" presId="urn:microsoft.com/office/officeart/2005/8/layout/cycle6"/>
    <dgm:cxn modelId="{46C7300F-7F55-4432-AFF8-6ABFA586079D}" type="presParOf" srcId="{D96F5415-542E-4C01-B84C-631CB43A98F1}" destId="{EA345D5A-595B-4FF0-B478-25F4B45C5BA1}" srcOrd="17" destOrd="0" presId="urn:microsoft.com/office/officeart/2005/8/layout/cycle6"/>
  </dgm:cxnLst>
  <dgm:bg/>
  <dgm:whole>
    <a:ln w="38100"/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31DC046-4C52-4843-9155-5C20D87AD492}" type="doc">
      <dgm:prSet loTypeId="urn:microsoft.com/office/officeart/2005/8/layout/cycle6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741311E-5F03-486F-87EF-B2BADCD5EE96}">
      <dgm:prSet phldrT="[Text]" phldr="0" custT="1"/>
      <dgm:spPr>
        <a:solidFill>
          <a:schemeClr val="bg1">
            <a:lumMod val="50000"/>
          </a:schemeClr>
        </a:solidFill>
        <a:ln w="38100">
          <a:solidFill>
            <a:schemeClr val="bg1"/>
          </a:solidFill>
        </a:ln>
      </dgm:spPr>
      <dgm:t>
        <a:bodyPr/>
        <a:lstStyle/>
        <a:p>
          <a:r>
            <a:rPr lang="de-DE" sz="1800" dirty="0"/>
            <a:t>Attitude</a:t>
          </a:r>
          <a:br>
            <a:rPr lang="de-DE" sz="1800" dirty="0"/>
          </a:br>
          <a:r>
            <a:rPr lang="de-DE" sz="1800" dirty="0"/>
            <a:t>Parameterisation</a:t>
          </a:r>
          <a:endParaRPr lang="en-US" sz="1800" dirty="0"/>
        </a:p>
      </dgm:t>
    </dgm:pt>
    <dgm:pt modelId="{FCDFA520-CE8E-4E28-ADD3-4912F9128C8F}" type="parTrans" cxnId="{602D8F84-672E-44D7-BD67-5BA883CAB2AA}">
      <dgm:prSet/>
      <dgm:spPr/>
      <dgm:t>
        <a:bodyPr/>
        <a:lstStyle/>
        <a:p>
          <a:endParaRPr lang="en-US"/>
        </a:p>
      </dgm:t>
    </dgm:pt>
    <dgm:pt modelId="{BFC871D6-CC0E-4DC5-92AA-8229DBC0AB0A}" type="sibTrans" cxnId="{602D8F84-672E-44D7-BD67-5BA883CAB2AA}">
      <dgm:prSet/>
      <dgm:spPr>
        <a:ln w="38100">
          <a:solidFill>
            <a:schemeClr val="bg1"/>
          </a:solidFill>
        </a:ln>
      </dgm:spPr>
      <dgm:t>
        <a:bodyPr/>
        <a:lstStyle/>
        <a:p>
          <a:endParaRPr lang="en-US"/>
        </a:p>
      </dgm:t>
    </dgm:pt>
    <dgm:pt modelId="{21802F9C-9E23-4BB7-B711-3312AED9470E}">
      <dgm:prSet phldrT="[Text]" phldr="0" custT="1"/>
      <dgm:spPr>
        <a:solidFill>
          <a:schemeClr val="tx1">
            <a:lumMod val="50000"/>
          </a:schemeClr>
        </a:solidFill>
        <a:ln w="38100">
          <a:solidFill>
            <a:schemeClr val="bg1"/>
          </a:solidFill>
        </a:ln>
      </dgm:spPr>
      <dgm:t>
        <a:bodyPr/>
        <a:lstStyle/>
        <a:p>
          <a:r>
            <a:rPr lang="de-DE" sz="1800" dirty="0"/>
            <a:t>Dynamics</a:t>
          </a:r>
          <a:br>
            <a:rPr lang="de-DE" sz="1800" dirty="0"/>
          </a:br>
          <a:r>
            <a:rPr lang="de-DE" sz="1800" dirty="0"/>
            <a:t>Formulation</a:t>
          </a:r>
          <a:endParaRPr lang="en-US" sz="1800" dirty="0"/>
        </a:p>
      </dgm:t>
    </dgm:pt>
    <dgm:pt modelId="{D265CC33-E4B3-4985-93D6-9FAC6B4C286B}" type="parTrans" cxnId="{5E46BD61-9429-4E38-A525-84B3ECC612A7}">
      <dgm:prSet/>
      <dgm:spPr/>
      <dgm:t>
        <a:bodyPr/>
        <a:lstStyle/>
        <a:p>
          <a:endParaRPr lang="en-US"/>
        </a:p>
      </dgm:t>
    </dgm:pt>
    <dgm:pt modelId="{3C1FED70-C3D8-412B-8A46-5A92CAA85D87}" type="sibTrans" cxnId="{5E46BD61-9429-4E38-A525-84B3ECC612A7}">
      <dgm:prSet/>
      <dgm:spPr>
        <a:ln w="38100">
          <a:solidFill>
            <a:schemeClr val="bg1"/>
          </a:solidFill>
        </a:ln>
      </dgm:spPr>
      <dgm:t>
        <a:bodyPr/>
        <a:lstStyle/>
        <a:p>
          <a:endParaRPr lang="en-US"/>
        </a:p>
      </dgm:t>
    </dgm:pt>
    <dgm:pt modelId="{C8244B64-C847-41C7-A433-4AFC5B7DE007}">
      <dgm:prSet phldrT="[Text]" phldr="0" custT="1"/>
      <dgm:spPr>
        <a:solidFill>
          <a:schemeClr val="bg1">
            <a:lumMod val="50000"/>
          </a:schemeClr>
        </a:solidFill>
        <a:ln w="38100">
          <a:solidFill>
            <a:schemeClr val="bg1"/>
          </a:solidFill>
        </a:ln>
      </dgm:spPr>
      <dgm:t>
        <a:bodyPr/>
        <a:lstStyle/>
        <a:p>
          <a:r>
            <a:rPr lang="de-DE" sz="1800" dirty="0"/>
            <a:t>Optimisation</a:t>
          </a:r>
          <a:br>
            <a:rPr lang="de-DE" sz="1800" dirty="0"/>
          </a:br>
          <a:r>
            <a:rPr lang="de-DE" sz="1800" dirty="0"/>
            <a:t>Methodology</a:t>
          </a:r>
          <a:endParaRPr lang="en-US" sz="1800" dirty="0"/>
        </a:p>
      </dgm:t>
    </dgm:pt>
    <dgm:pt modelId="{683C62E3-52CC-40DE-BE5E-841CD810FB66}" type="parTrans" cxnId="{765411D1-C832-4EDF-9C8B-D78154281000}">
      <dgm:prSet/>
      <dgm:spPr/>
      <dgm:t>
        <a:bodyPr/>
        <a:lstStyle/>
        <a:p>
          <a:endParaRPr lang="en-US"/>
        </a:p>
      </dgm:t>
    </dgm:pt>
    <dgm:pt modelId="{708F456B-365E-4C49-9338-C62732FF670E}" type="sibTrans" cxnId="{765411D1-C832-4EDF-9C8B-D78154281000}">
      <dgm:prSet/>
      <dgm:spPr>
        <a:ln w="38100">
          <a:solidFill>
            <a:schemeClr val="bg1"/>
          </a:solidFill>
        </a:ln>
      </dgm:spPr>
      <dgm:t>
        <a:bodyPr/>
        <a:lstStyle/>
        <a:p>
          <a:endParaRPr lang="en-US"/>
        </a:p>
      </dgm:t>
    </dgm:pt>
    <dgm:pt modelId="{52D31CAE-0EDF-4703-8082-A2C63C625157}">
      <dgm:prSet phldrT="[Text]" phldr="0" custT="1"/>
      <dgm:spPr>
        <a:solidFill>
          <a:srgbClr val="7030A0"/>
        </a:solidFill>
        <a:ln w="38100">
          <a:solidFill>
            <a:schemeClr val="bg1"/>
          </a:solidFill>
        </a:ln>
      </dgm:spPr>
      <dgm:t>
        <a:bodyPr/>
        <a:lstStyle/>
        <a:p>
          <a:r>
            <a:rPr lang="de-DE" sz="1800" dirty="0"/>
            <a:t>Computational</a:t>
          </a:r>
          <a:br>
            <a:rPr lang="de-DE" sz="1800" dirty="0"/>
          </a:br>
          <a:r>
            <a:rPr lang="de-DE" sz="1800" dirty="0"/>
            <a:t>Framework</a:t>
          </a:r>
          <a:endParaRPr lang="en-US" sz="1800" dirty="0"/>
        </a:p>
      </dgm:t>
    </dgm:pt>
    <dgm:pt modelId="{650402EA-3A99-4FFC-A613-D6197078E953}" type="parTrans" cxnId="{0F27DCA1-D615-4DC1-996A-E97D646D5842}">
      <dgm:prSet/>
      <dgm:spPr/>
      <dgm:t>
        <a:bodyPr/>
        <a:lstStyle/>
        <a:p>
          <a:endParaRPr lang="en-US"/>
        </a:p>
      </dgm:t>
    </dgm:pt>
    <dgm:pt modelId="{1225470D-AF80-4196-BBCD-C1C71E9D0646}" type="sibTrans" cxnId="{0F27DCA1-D615-4DC1-996A-E97D646D5842}">
      <dgm:prSet/>
      <dgm:spPr>
        <a:ln w="38100">
          <a:solidFill>
            <a:schemeClr val="bg1"/>
          </a:solidFill>
        </a:ln>
      </dgm:spPr>
      <dgm:t>
        <a:bodyPr/>
        <a:lstStyle/>
        <a:p>
          <a:endParaRPr lang="en-US"/>
        </a:p>
      </dgm:t>
    </dgm:pt>
    <dgm:pt modelId="{50A2E25B-D0A9-437D-9767-84872DD2625D}">
      <dgm:prSet phldrT="[Text]" phldr="0" custT="1"/>
      <dgm:spPr>
        <a:solidFill>
          <a:schemeClr val="bg1">
            <a:lumMod val="50000"/>
          </a:schemeClr>
        </a:solidFill>
        <a:ln w="38100">
          <a:solidFill>
            <a:schemeClr val="bg1"/>
          </a:solidFill>
        </a:ln>
      </dgm:spPr>
      <dgm:t>
        <a:bodyPr/>
        <a:lstStyle/>
        <a:p>
          <a:r>
            <a:rPr lang="de-DE" sz="1800" dirty="0"/>
            <a:t>NLP</a:t>
          </a:r>
          <a:br>
            <a:rPr lang="de-DE" sz="1800" dirty="0"/>
          </a:br>
          <a:r>
            <a:rPr lang="de-DE" sz="1800" dirty="0"/>
            <a:t>Solver</a:t>
          </a:r>
          <a:endParaRPr lang="en-US" sz="1800" dirty="0"/>
        </a:p>
      </dgm:t>
    </dgm:pt>
    <dgm:pt modelId="{4546EF1B-F525-4FA7-B26B-F8B2BA6C71B9}" type="parTrans" cxnId="{E9EC4D23-117F-4AD3-AFA6-9E64AEFEF8E6}">
      <dgm:prSet/>
      <dgm:spPr/>
      <dgm:t>
        <a:bodyPr/>
        <a:lstStyle/>
        <a:p>
          <a:endParaRPr lang="en-US"/>
        </a:p>
      </dgm:t>
    </dgm:pt>
    <dgm:pt modelId="{1184089A-1186-474E-96A8-F01D78979F6B}" type="sibTrans" cxnId="{E9EC4D23-117F-4AD3-AFA6-9E64AEFEF8E6}">
      <dgm:prSet/>
      <dgm:spPr>
        <a:ln w="38100">
          <a:solidFill>
            <a:schemeClr val="bg1"/>
          </a:solidFill>
        </a:ln>
      </dgm:spPr>
      <dgm:t>
        <a:bodyPr/>
        <a:lstStyle/>
        <a:p>
          <a:endParaRPr lang="en-US"/>
        </a:p>
      </dgm:t>
    </dgm:pt>
    <dgm:pt modelId="{F11B055B-CC52-4315-BE2D-29EB2EA3C8A9}">
      <dgm:prSet custT="1"/>
      <dgm:spPr>
        <a:solidFill>
          <a:schemeClr val="tx1">
            <a:lumMod val="50000"/>
          </a:schemeClr>
        </a:solidFill>
        <a:ln w="38100">
          <a:solidFill>
            <a:schemeClr val="bg1"/>
          </a:solidFill>
        </a:ln>
      </dgm:spPr>
      <dgm:t>
        <a:bodyPr/>
        <a:lstStyle/>
        <a:p>
          <a:r>
            <a:rPr lang="de-DE" sz="1800" dirty="0"/>
            <a:t>Control</a:t>
          </a:r>
          <a:br>
            <a:rPr lang="de-DE" sz="1800" dirty="0"/>
          </a:br>
          <a:r>
            <a:rPr lang="de-DE" sz="1800" dirty="0"/>
            <a:t>Parameterisation</a:t>
          </a:r>
          <a:endParaRPr lang="en-US" sz="1800" dirty="0"/>
        </a:p>
      </dgm:t>
    </dgm:pt>
    <dgm:pt modelId="{64B8375C-9389-41D4-B1D8-1A3B0C73F2A2}" type="parTrans" cxnId="{1EFDAFF7-5650-4BE1-9AB3-A92BBE66C42B}">
      <dgm:prSet/>
      <dgm:spPr/>
      <dgm:t>
        <a:bodyPr/>
        <a:lstStyle/>
        <a:p>
          <a:endParaRPr lang="en-US"/>
        </a:p>
      </dgm:t>
    </dgm:pt>
    <dgm:pt modelId="{7730BF96-EA4B-4D3F-BDA6-AA42BC99BB8B}" type="sibTrans" cxnId="{1EFDAFF7-5650-4BE1-9AB3-A92BBE66C42B}">
      <dgm:prSet/>
      <dgm:spPr>
        <a:ln w="38100">
          <a:solidFill>
            <a:schemeClr val="bg1"/>
          </a:solidFill>
        </a:ln>
      </dgm:spPr>
      <dgm:t>
        <a:bodyPr/>
        <a:lstStyle/>
        <a:p>
          <a:endParaRPr lang="en-US"/>
        </a:p>
      </dgm:t>
    </dgm:pt>
    <dgm:pt modelId="{D96F5415-542E-4C01-B84C-631CB43A98F1}" type="pres">
      <dgm:prSet presAssocID="{831DC046-4C52-4843-9155-5C20D87AD492}" presName="cycle" presStyleCnt="0">
        <dgm:presLayoutVars>
          <dgm:dir/>
          <dgm:resizeHandles val="exact"/>
        </dgm:presLayoutVars>
      </dgm:prSet>
      <dgm:spPr/>
    </dgm:pt>
    <dgm:pt modelId="{0A971159-2FA5-49F8-9379-7DFDEC522630}" type="pres">
      <dgm:prSet presAssocID="{3741311E-5F03-486F-87EF-B2BADCD5EE96}" presName="node" presStyleLbl="node1" presStyleIdx="0" presStyleCnt="6" custScaleX="156687" custScaleY="77483">
        <dgm:presLayoutVars>
          <dgm:bulletEnabled val="1"/>
        </dgm:presLayoutVars>
      </dgm:prSet>
      <dgm:spPr/>
    </dgm:pt>
    <dgm:pt modelId="{ABCB961D-9714-46CE-8A43-7E7D9239E90D}" type="pres">
      <dgm:prSet presAssocID="{3741311E-5F03-486F-87EF-B2BADCD5EE96}" presName="spNode" presStyleCnt="0"/>
      <dgm:spPr/>
    </dgm:pt>
    <dgm:pt modelId="{5DAFF906-88C4-40C6-B6A8-F32251651E77}" type="pres">
      <dgm:prSet presAssocID="{BFC871D6-CC0E-4DC5-92AA-8229DBC0AB0A}" presName="sibTrans" presStyleLbl="sibTrans1D1" presStyleIdx="0" presStyleCnt="6"/>
      <dgm:spPr/>
    </dgm:pt>
    <dgm:pt modelId="{40CC6FAE-BB9B-4A74-8211-2E5AE5EA582F}" type="pres">
      <dgm:prSet presAssocID="{21802F9C-9E23-4BB7-B711-3312AED9470E}" presName="node" presStyleLbl="node1" presStyleIdx="1" presStyleCnt="6" custScaleX="156687" custScaleY="77483">
        <dgm:presLayoutVars>
          <dgm:bulletEnabled val="1"/>
        </dgm:presLayoutVars>
      </dgm:prSet>
      <dgm:spPr/>
    </dgm:pt>
    <dgm:pt modelId="{16E34488-2EC8-4483-AAD5-B263EF115DBD}" type="pres">
      <dgm:prSet presAssocID="{21802F9C-9E23-4BB7-B711-3312AED9470E}" presName="spNode" presStyleCnt="0"/>
      <dgm:spPr/>
    </dgm:pt>
    <dgm:pt modelId="{B3C5F432-E9C3-4B94-BC8E-336DAFB3DEEB}" type="pres">
      <dgm:prSet presAssocID="{3C1FED70-C3D8-412B-8A46-5A92CAA85D87}" presName="sibTrans" presStyleLbl="sibTrans1D1" presStyleIdx="1" presStyleCnt="6"/>
      <dgm:spPr/>
    </dgm:pt>
    <dgm:pt modelId="{62450E01-B5BB-4596-AA84-C6B68BA22E17}" type="pres">
      <dgm:prSet presAssocID="{F11B055B-CC52-4315-BE2D-29EB2EA3C8A9}" presName="node" presStyleLbl="node1" presStyleIdx="2" presStyleCnt="6" custScaleX="156687" custScaleY="77483">
        <dgm:presLayoutVars>
          <dgm:bulletEnabled val="1"/>
        </dgm:presLayoutVars>
      </dgm:prSet>
      <dgm:spPr/>
    </dgm:pt>
    <dgm:pt modelId="{F1281664-0016-48A2-AF4D-2A3D067E2A8F}" type="pres">
      <dgm:prSet presAssocID="{F11B055B-CC52-4315-BE2D-29EB2EA3C8A9}" presName="spNode" presStyleCnt="0"/>
      <dgm:spPr/>
    </dgm:pt>
    <dgm:pt modelId="{B35B1855-F262-43FF-894C-A1EE99B468B4}" type="pres">
      <dgm:prSet presAssocID="{7730BF96-EA4B-4D3F-BDA6-AA42BC99BB8B}" presName="sibTrans" presStyleLbl="sibTrans1D1" presStyleIdx="2" presStyleCnt="6"/>
      <dgm:spPr/>
    </dgm:pt>
    <dgm:pt modelId="{B44B9DB0-22E3-4707-B3E4-E1543465D50B}" type="pres">
      <dgm:prSet presAssocID="{C8244B64-C847-41C7-A433-4AFC5B7DE007}" presName="node" presStyleLbl="node1" presStyleIdx="3" presStyleCnt="6" custScaleX="156687" custScaleY="77483">
        <dgm:presLayoutVars>
          <dgm:bulletEnabled val="1"/>
        </dgm:presLayoutVars>
      </dgm:prSet>
      <dgm:spPr/>
    </dgm:pt>
    <dgm:pt modelId="{9D337E41-961D-47FC-B78E-561E0C315A45}" type="pres">
      <dgm:prSet presAssocID="{C8244B64-C847-41C7-A433-4AFC5B7DE007}" presName="spNode" presStyleCnt="0"/>
      <dgm:spPr/>
    </dgm:pt>
    <dgm:pt modelId="{786B7CA3-072A-477E-9BB0-5E4FFECF36A3}" type="pres">
      <dgm:prSet presAssocID="{708F456B-365E-4C49-9338-C62732FF670E}" presName="sibTrans" presStyleLbl="sibTrans1D1" presStyleIdx="3" presStyleCnt="6"/>
      <dgm:spPr/>
    </dgm:pt>
    <dgm:pt modelId="{915311B5-19A6-4DFB-BB07-40FB8DC75694}" type="pres">
      <dgm:prSet presAssocID="{52D31CAE-0EDF-4703-8082-A2C63C625157}" presName="node" presStyleLbl="node1" presStyleIdx="4" presStyleCnt="6" custScaleX="156687" custScaleY="77483">
        <dgm:presLayoutVars>
          <dgm:bulletEnabled val="1"/>
        </dgm:presLayoutVars>
      </dgm:prSet>
      <dgm:spPr/>
    </dgm:pt>
    <dgm:pt modelId="{16637554-0651-47F4-BCD0-42775E58BEEE}" type="pres">
      <dgm:prSet presAssocID="{52D31CAE-0EDF-4703-8082-A2C63C625157}" presName="spNode" presStyleCnt="0"/>
      <dgm:spPr/>
    </dgm:pt>
    <dgm:pt modelId="{260B3A5C-B4DF-4637-AAD0-5A1939C13163}" type="pres">
      <dgm:prSet presAssocID="{1225470D-AF80-4196-BBCD-C1C71E9D0646}" presName="sibTrans" presStyleLbl="sibTrans1D1" presStyleIdx="4" presStyleCnt="6"/>
      <dgm:spPr/>
    </dgm:pt>
    <dgm:pt modelId="{4E3BB357-1501-4432-A9A2-E699F344F756}" type="pres">
      <dgm:prSet presAssocID="{50A2E25B-D0A9-437D-9767-84872DD2625D}" presName="node" presStyleLbl="node1" presStyleIdx="5" presStyleCnt="6" custScaleX="156687" custScaleY="77483">
        <dgm:presLayoutVars>
          <dgm:bulletEnabled val="1"/>
        </dgm:presLayoutVars>
      </dgm:prSet>
      <dgm:spPr/>
    </dgm:pt>
    <dgm:pt modelId="{A3410190-38BE-4402-9CFF-3B2EEB2D664F}" type="pres">
      <dgm:prSet presAssocID="{50A2E25B-D0A9-437D-9767-84872DD2625D}" presName="spNode" presStyleCnt="0"/>
      <dgm:spPr/>
    </dgm:pt>
    <dgm:pt modelId="{EA345D5A-595B-4FF0-B478-25F4B45C5BA1}" type="pres">
      <dgm:prSet presAssocID="{1184089A-1186-474E-96A8-F01D78979F6B}" presName="sibTrans" presStyleLbl="sibTrans1D1" presStyleIdx="5" presStyleCnt="6"/>
      <dgm:spPr/>
    </dgm:pt>
  </dgm:ptLst>
  <dgm:cxnLst>
    <dgm:cxn modelId="{E9EC4D23-117F-4AD3-AFA6-9E64AEFEF8E6}" srcId="{831DC046-4C52-4843-9155-5C20D87AD492}" destId="{50A2E25B-D0A9-437D-9767-84872DD2625D}" srcOrd="5" destOrd="0" parTransId="{4546EF1B-F525-4FA7-B26B-F8B2BA6C71B9}" sibTransId="{1184089A-1186-474E-96A8-F01D78979F6B}"/>
    <dgm:cxn modelId="{864FB527-14B6-49C0-AF22-C5CE47BFF835}" type="presOf" srcId="{708F456B-365E-4C49-9338-C62732FF670E}" destId="{786B7CA3-072A-477E-9BB0-5E4FFECF36A3}" srcOrd="0" destOrd="0" presId="urn:microsoft.com/office/officeart/2005/8/layout/cycle6"/>
    <dgm:cxn modelId="{8DA6C938-E100-4D8F-8247-24C49AEC3D88}" type="presOf" srcId="{1225470D-AF80-4196-BBCD-C1C71E9D0646}" destId="{260B3A5C-B4DF-4637-AAD0-5A1939C13163}" srcOrd="0" destOrd="0" presId="urn:microsoft.com/office/officeart/2005/8/layout/cycle6"/>
    <dgm:cxn modelId="{AB672B3A-9F8B-4C1C-8CCF-F5AE1741E255}" type="presOf" srcId="{C8244B64-C847-41C7-A433-4AFC5B7DE007}" destId="{B44B9DB0-22E3-4707-B3E4-E1543465D50B}" srcOrd="0" destOrd="0" presId="urn:microsoft.com/office/officeart/2005/8/layout/cycle6"/>
    <dgm:cxn modelId="{5E46BD61-9429-4E38-A525-84B3ECC612A7}" srcId="{831DC046-4C52-4843-9155-5C20D87AD492}" destId="{21802F9C-9E23-4BB7-B711-3312AED9470E}" srcOrd="1" destOrd="0" parTransId="{D265CC33-E4B3-4985-93D6-9FAC6B4C286B}" sibTransId="{3C1FED70-C3D8-412B-8A46-5A92CAA85D87}"/>
    <dgm:cxn modelId="{4BF17462-48EF-43C0-8350-E7547AA0BFFB}" type="presOf" srcId="{7730BF96-EA4B-4D3F-BDA6-AA42BC99BB8B}" destId="{B35B1855-F262-43FF-894C-A1EE99B468B4}" srcOrd="0" destOrd="0" presId="urn:microsoft.com/office/officeart/2005/8/layout/cycle6"/>
    <dgm:cxn modelId="{72A6D966-C2F7-4656-B1E4-E4B916B9216B}" type="presOf" srcId="{21802F9C-9E23-4BB7-B711-3312AED9470E}" destId="{40CC6FAE-BB9B-4A74-8211-2E5AE5EA582F}" srcOrd="0" destOrd="0" presId="urn:microsoft.com/office/officeart/2005/8/layout/cycle6"/>
    <dgm:cxn modelId="{DEF34967-05E0-477A-AAD8-493126A130A8}" type="presOf" srcId="{BFC871D6-CC0E-4DC5-92AA-8229DBC0AB0A}" destId="{5DAFF906-88C4-40C6-B6A8-F32251651E77}" srcOrd="0" destOrd="0" presId="urn:microsoft.com/office/officeart/2005/8/layout/cycle6"/>
    <dgm:cxn modelId="{602D8F84-672E-44D7-BD67-5BA883CAB2AA}" srcId="{831DC046-4C52-4843-9155-5C20D87AD492}" destId="{3741311E-5F03-486F-87EF-B2BADCD5EE96}" srcOrd="0" destOrd="0" parTransId="{FCDFA520-CE8E-4E28-ADD3-4912F9128C8F}" sibTransId="{BFC871D6-CC0E-4DC5-92AA-8229DBC0AB0A}"/>
    <dgm:cxn modelId="{87D13686-7F06-4063-9A6B-AB8D21F2AAD0}" type="presOf" srcId="{52D31CAE-0EDF-4703-8082-A2C63C625157}" destId="{915311B5-19A6-4DFB-BB07-40FB8DC75694}" srcOrd="0" destOrd="0" presId="urn:microsoft.com/office/officeart/2005/8/layout/cycle6"/>
    <dgm:cxn modelId="{1406299E-465B-46F7-B281-1BB29984647D}" type="presOf" srcId="{1184089A-1186-474E-96A8-F01D78979F6B}" destId="{EA345D5A-595B-4FF0-B478-25F4B45C5BA1}" srcOrd="0" destOrd="0" presId="urn:microsoft.com/office/officeart/2005/8/layout/cycle6"/>
    <dgm:cxn modelId="{0F27DCA1-D615-4DC1-996A-E97D646D5842}" srcId="{831DC046-4C52-4843-9155-5C20D87AD492}" destId="{52D31CAE-0EDF-4703-8082-A2C63C625157}" srcOrd="4" destOrd="0" parTransId="{650402EA-3A99-4FFC-A613-D6197078E953}" sibTransId="{1225470D-AF80-4196-BBCD-C1C71E9D0646}"/>
    <dgm:cxn modelId="{221539A7-DC1E-46F0-88EF-B4269BF3ECF0}" type="presOf" srcId="{3741311E-5F03-486F-87EF-B2BADCD5EE96}" destId="{0A971159-2FA5-49F8-9379-7DFDEC522630}" srcOrd="0" destOrd="0" presId="urn:microsoft.com/office/officeart/2005/8/layout/cycle6"/>
    <dgm:cxn modelId="{C2DB76AE-1598-4FFA-A45B-FA068A9155B3}" type="presOf" srcId="{831DC046-4C52-4843-9155-5C20D87AD492}" destId="{D96F5415-542E-4C01-B84C-631CB43A98F1}" srcOrd="0" destOrd="0" presId="urn:microsoft.com/office/officeart/2005/8/layout/cycle6"/>
    <dgm:cxn modelId="{009DD4C9-0CEE-4BD4-8661-3143D9E1C815}" type="presOf" srcId="{3C1FED70-C3D8-412B-8A46-5A92CAA85D87}" destId="{B3C5F432-E9C3-4B94-BC8E-336DAFB3DEEB}" srcOrd="0" destOrd="0" presId="urn:microsoft.com/office/officeart/2005/8/layout/cycle6"/>
    <dgm:cxn modelId="{765411D1-C832-4EDF-9C8B-D78154281000}" srcId="{831DC046-4C52-4843-9155-5C20D87AD492}" destId="{C8244B64-C847-41C7-A433-4AFC5B7DE007}" srcOrd="3" destOrd="0" parTransId="{683C62E3-52CC-40DE-BE5E-841CD810FB66}" sibTransId="{708F456B-365E-4C49-9338-C62732FF670E}"/>
    <dgm:cxn modelId="{BDA40AE3-430E-4FFD-A62E-E75C8ED94038}" type="presOf" srcId="{F11B055B-CC52-4315-BE2D-29EB2EA3C8A9}" destId="{62450E01-B5BB-4596-AA84-C6B68BA22E17}" srcOrd="0" destOrd="0" presId="urn:microsoft.com/office/officeart/2005/8/layout/cycle6"/>
    <dgm:cxn modelId="{1EFDAFF7-5650-4BE1-9AB3-A92BBE66C42B}" srcId="{831DC046-4C52-4843-9155-5C20D87AD492}" destId="{F11B055B-CC52-4315-BE2D-29EB2EA3C8A9}" srcOrd="2" destOrd="0" parTransId="{64B8375C-9389-41D4-B1D8-1A3B0C73F2A2}" sibTransId="{7730BF96-EA4B-4D3F-BDA6-AA42BC99BB8B}"/>
    <dgm:cxn modelId="{1FEEB8FE-23CB-415C-A0BF-4B48D34DD663}" type="presOf" srcId="{50A2E25B-D0A9-437D-9767-84872DD2625D}" destId="{4E3BB357-1501-4432-A9A2-E699F344F756}" srcOrd="0" destOrd="0" presId="urn:microsoft.com/office/officeart/2005/8/layout/cycle6"/>
    <dgm:cxn modelId="{EE23AB14-9151-4D59-A408-1B1A352726FA}" type="presParOf" srcId="{D96F5415-542E-4C01-B84C-631CB43A98F1}" destId="{0A971159-2FA5-49F8-9379-7DFDEC522630}" srcOrd="0" destOrd="0" presId="urn:microsoft.com/office/officeart/2005/8/layout/cycle6"/>
    <dgm:cxn modelId="{2D971C38-B6AC-4BD9-96AE-FF9EB863EAED}" type="presParOf" srcId="{D96F5415-542E-4C01-B84C-631CB43A98F1}" destId="{ABCB961D-9714-46CE-8A43-7E7D9239E90D}" srcOrd="1" destOrd="0" presId="urn:microsoft.com/office/officeart/2005/8/layout/cycle6"/>
    <dgm:cxn modelId="{B316E018-5F39-40AD-B3D0-8C3E0E079097}" type="presParOf" srcId="{D96F5415-542E-4C01-B84C-631CB43A98F1}" destId="{5DAFF906-88C4-40C6-B6A8-F32251651E77}" srcOrd="2" destOrd="0" presId="urn:microsoft.com/office/officeart/2005/8/layout/cycle6"/>
    <dgm:cxn modelId="{E7180766-0374-43E7-B4AA-26E02C3CD626}" type="presParOf" srcId="{D96F5415-542E-4C01-B84C-631CB43A98F1}" destId="{40CC6FAE-BB9B-4A74-8211-2E5AE5EA582F}" srcOrd="3" destOrd="0" presId="urn:microsoft.com/office/officeart/2005/8/layout/cycle6"/>
    <dgm:cxn modelId="{A2A0B03D-989B-4AF3-844E-8D0656DA4104}" type="presParOf" srcId="{D96F5415-542E-4C01-B84C-631CB43A98F1}" destId="{16E34488-2EC8-4483-AAD5-B263EF115DBD}" srcOrd="4" destOrd="0" presId="urn:microsoft.com/office/officeart/2005/8/layout/cycle6"/>
    <dgm:cxn modelId="{608EC486-EC60-4809-B92B-13C0A23FC271}" type="presParOf" srcId="{D96F5415-542E-4C01-B84C-631CB43A98F1}" destId="{B3C5F432-E9C3-4B94-BC8E-336DAFB3DEEB}" srcOrd="5" destOrd="0" presId="urn:microsoft.com/office/officeart/2005/8/layout/cycle6"/>
    <dgm:cxn modelId="{4CA0FFE7-344F-49C8-9805-C19D7C175DDA}" type="presParOf" srcId="{D96F5415-542E-4C01-B84C-631CB43A98F1}" destId="{62450E01-B5BB-4596-AA84-C6B68BA22E17}" srcOrd="6" destOrd="0" presId="urn:microsoft.com/office/officeart/2005/8/layout/cycle6"/>
    <dgm:cxn modelId="{72209C4F-BCB1-4338-9A27-D687211248A8}" type="presParOf" srcId="{D96F5415-542E-4C01-B84C-631CB43A98F1}" destId="{F1281664-0016-48A2-AF4D-2A3D067E2A8F}" srcOrd="7" destOrd="0" presId="urn:microsoft.com/office/officeart/2005/8/layout/cycle6"/>
    <dgm:cxn modelId="{0893D4B7-190B-4746-80AF-6837EF77FADD}" type="presParOf" srcId="{D96F5415-542E-4C01-B84C-631CB43A98F1}" destId="{B35B1855-F262-43FF-894C-A1EE99B468B4}" srcOrd="8" destOrd="0" presId="urn:microsoft.com/office/officeart/2005/8/layout/cycle6"/>
    <dgm:cxn modelId="{156374E5-6F55-44C0-A1B6-7E1BE7792EC0}" type="presParOf" srcId="{D96F5415-542E-4C01-B84C-631CB43A98F1}" destId="{B44B9DB0-22E3-4707-B3E4-E1543465D50B}" srcOrd="9" destOrd="0" presId="urn:microsoft.com/office/officeart/2005/8/layout/cycle6"/>
    <dgm:cxn modelId="{D6FD6CCA-023D-4E18-AD1A-B37590E4F9ED}" type="presParOf" srcId="{D96F5415-542E-4C01-B84C-631CB43A98F1}" destId="{9D337E41-961D-47FC-B78E-561E0C315A45}" srcOrd="10" destOrd="0" presId="urn:microsoft.com/office/officeart/2005/8/layout/cycle6"/>
    <dgm:cxn modelId="{D9F49B3D-D1DE-44F7-A90D-18454D5F2A54}" type="presParOf" srcId="{D96F5415-542E-4C01-B84C-631CB43A98F1}" destId="{786B7CA3-072A-477E-9BB0-5E4FFECF36A3}" srcOrd="11" destOrd="0" presId="urn:microsoft.com/office/officeart/2005/8/layout/cycle6"/>
    <dgm:cxn modelId="{6F2D5906-8F9A-482C-9449-E6307E638251}" type="presParOf" srcId="{D96F5415-542E-4C01-B84C-631CB43A98F1}" destId="{915311B5-19A6-4DFB-BB07-40FB8DC75694}" srcOrd="12" destOrd="0" presId="urn:microsoft.com/office/officeart/2005/8/layout/cycle6"/>
    <dgm:cxn modelId="{9CC01D7B-9726-44DF-B2E7-764191E45E96}" type="presParOf" srcId="{D96F5415-542E-4C01-B84C-631CB43A98F1}" destId="{16637554-0651-47F4-BCD0-42775E58BEEE}" srcOrd="13" destOrd="0" presId="urn:microsoft.com/office/officeart/2005/8/layout/cycle6"/>
    <dgm:cxn modelId="{A4F30427-BCFF-4688-865D-05D0FAB3FC72}" type="presParOf" srcId="{D96F5415-542E-4C01-B84C-631CB43A98F1}" destId="{260B3A5C-B4DF-4637-AAD0-5A1939C13163}" srcOrd="14" destOrd="0" presId="urn:microsoft.com/office/officeart/2005/8/layout/cycle6"/>
    <dgm:cxn modelId="{003E16C6-8C32-4F15-A6CA-0BB3FB6CD862}" type="presParOf" srcId="{D96F5415-542E-4C01-B84C-631CB43A98F1}" destId="{4E3BB357-1501-4432-A9A2-E699F344F756}" srcOrd="15" destOrd="0" presId="urn:microsoft.com/office/officeart/2005/8/layout/cycle6"/>
    <dgm:cxn modelId="{74B4E4AC-2C9C-4E03-9943-21458DB03172}" type="presParOf" srcId="{D96F5415-542E-4C01-B84C-631CB43A98F1}" destId="{A3410190-38BE-4402-9CFF-3B2EEB2D664F}" srcOrd="16" destOrd="0" presId="urn:microsoft.com/office/officeart/2005/8/layout/cycle6"/>
    <dgm:cxn modelId="{46C7300F-7F55-4432-AFF8-6ABFA586079D}" type="presParOf" srcId="{D96F5415-542E-4C01-B84C-631CB43A98F1}" destId="{EA345D5A-595B-4FF0-B478-25F4B45C5BA1}" srcOrd="17" destOrd="0" presId="urn:microsoft.com/office/officeart/2005/8/layout/cycle6"/>
  </dgm:cxnLst>
  <dgm:bg/>
  <dgm:whole>
    <a:ln w="38100"/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831DC046-4C52-4843-9155-5C20D87AD492}" type="doc">
      <dgm:prSet loTypeId="urn:microsoft.com/office/officeart/2005/8/layout/cycle6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741311E-5F03-486F-87EF-B2BADCD5EE96}">
      <dgm:prSet phldrT="[Text]" phldr="0" custT="1"/>
      <dgm:spPr>
        <a:solidFill>
          <a:schemeClr val="bg1">
            <a:lumMod val="50000"/>
          </a:schemeClr>
        </a:solidFill>
        <a:ln w="38100">
          <a:solidFill>
            <a:schemeClr val="bg1"/>
          </a:solidFill>
        </a:ln>
      </dgm:spPr>
      <dgm:t>
        <a:bodyPr/>
        <a:lstStyle/>
        <a:p>
          <a:r>
            <a:rPr lang="de-DE" sz="1800" dirty="0"/>
            <a:t>Attitude</a:t>
          </a:r>
          <a:br>
            <a:rPr lang="de-DE" sz="1800" dirty="0"/>
          </a:br>
          <a:r>
            <a:rPr lang="de-DE" sz="1800" dirty="0"/>
            <a:t>Parameterisation</a:t>
          </a:r>
          <a:endParaRPr lang="en-US" sz="1800" dirty="0"/>
        </a:p>
      </dgm:t>
    </dgm:pt>
    <dgm:pt modelId="{FCDFA520-CE8E-4E28-ADD3-4912F9128C8F}" type="parTrans" cxnId="{602D8F84-672E-44D7-BD67-5BA883CAB2AA}">
      <dgm:prSet/>
      <dgm:spPr/>
      <dgm:t>
        <a:bodyPr/>
        <a:lstStyle/>
        <a:p>
          <a:endParaRPr lang="en-US"/>
        </a:p>
      </dgm:t>
    </dgm:pt>
    <dgm:pt modelId="{BFC871D6-CC0E-4DC5-92AA-8229DBC0AB0A}" type="sibTrans" cxnId="{602D8F84-672E-44D7-BD67-5BA883CAB2AA}">
      <dgm:prSet/>
      <dgm:spPr>
        <a:ln w="38100">
          <a:solidFill>
            <a:schemeClr val="bg1"/>
          </a:solidFill>
        </a:ln>
      </dgm:spPr>
      <dgm:t>
        <a:bodyPr/>
        <a:lstStyle/>
        <a:p>
          <a:endParaRPr lang="en-US"/>
        </a:p>
      </dgm:t>
    </dgm:pt>
    <dgm:pt modelId="{21802F9C-9E23-4BB7-B711-3312AED9470E}">
      <dgm:prSet phldrT="[Text]" phldr="0" custT="1"/>
      <dgm:spPr>
        <a:solidFill>
          <a:schemeClr val="tx1">
            <a:lumMod val="50000"/>
          </a:schemeClr>
        </a:solidFill>
        <a:ln w="38100">
          <a:solidFill>
            <a:schemeClr val="bg1"/>
          </a:solidFill>
        </a:ln>
      </dgm:spPr>
      <dgm:t>
        <a:bodyPr/>
        <a:lstStyle/>
        <a:p>
          <a:r>
            <a:rPr lang="de-DE" sz="1800" dirty="0"/>
            <a:t>Dynamics</a:t>
          </a:r>
          <a:br>
            <a:rPr lang="de-DE" sz="1800" dirty="0"/>
          </a:br>
          <a:r>
            <a:rPr lang="de-DE" sz="1800" dirty="0"/>
            <a:t>Formulation</a:t>
          </a:r>
          <a:endParaRPr lang="en-US" sz="1800" dirty="0"/>
        </a:p>
      </dgm:t>
    </dgm:pt>
    <dgm:pt modelId="{D265CC33-E4B3-4985-93D6-9FAC6B4C286B}" type="parTrans" cxnId="{5E46BD61-9429-4E38-A525-84B3ECC612A7}">
      <dgm:prSet/>
      <dgm:spPr/>
      <dgm:t>
        <a:bodyPr/>
        <a:lstStyle/>
        <a:p>
          <a:endParaRPr lang="en-US"/>
        </a:p>
      </dgm:t>
    </dgm:pt>
    <dgm:pt modelId="{3C1FED70-C3D8-412B-8A46-5A92CAA85D87}" type="sibTrans" cxnId="{5E46BD61-9429-4E38-A525-84B3ECC612A7}">
      <dgm:prSet/>
      <dgm:spPr>
        <a:ln w="38100">
          <a:solidFill>
            <a:schemeClr val="bg1"/>
          </a:solidFill>
        </a:ln>
      </dgm:spPr>
      <dgm:t>
        <a:bodyPr/>
        <a:lstStyle/>
        <a:p>
          <a:endParaRPr lang="en-US"/>
        </a:p>
      </dgm:t>
    </dgm:pt>
    <dgm:pt modelId="{C8244B64-C847-41C7-A433-4AFC5B7DE007}">
      <dgm:prSet phldrT="[Text]" phldr="0" custT="1"/>
      <dgm:spPr>
        <a:solidFill>
          <a:schemeClr val="bg1">
            <a:lumMod val="50000"/>
          </a:schemeClr>
        </a:solidFill>
        <a:ln w="38100">
          <a:solidFill>
            <a:schemeClr val="bg1"/>
          </a:solidFill>
        </a:ln>
      </dgm:spPr>
      <dgm:t>
        <a:bodyPr/>
        <a:lstStyle/>
        <a:p>
          <a:r>
            <a:rPr lang="de-DE" sz="1800" dirty="0"/>
            <a:t>Optimisation</a:t>
          </a:r>
          <a:br>
            <a:rPr lang="de-DE" sz="1800" dirty="0"/>
          </a:br>
          <a:r>
            <a:rPr lang="de-DE" sz="1800" dirty="0"/>
            <a:t>Methodology</a:t>
          </a:r>
          <a:endParaRPr lang="en-US" sz="1800" dirty="0"/>
        </a:p>
      </dgm:t>
    </dgm:pt>
    <dgm:pt modelId="{683C62E3-52CC-40DE-BE5E-841CD810FB66}" type="parTrans" cxnId="{765411D1-C832-4EDF-9C8B-D78154281000}">
      <dgm:prSet/>
      <dgm:spPr/>
      <dgm:t>
        <a:bodyPr/>
        <a:lstStyle/>
        <a:p>
          <a:endParaRPr lang="en-US"/>
        </a:p>
      </dgm:t>
    </dgm:pt>
    <dgm:pt modelId="{708F456B-365E-4C49-9338-C62732FF670E}" type="sibTrans" cxnId="{765411D1-C832-4EDF-9C8B-D78154281000}">
      <dgm:prSet/>
      <dgm:spPr>
        <a:ln w="38100">
          <a:solidFill>
            <a:schemeClr val="bg1"/>
          </a:solidFill>
        </a:ln>
      </dgm:spPr>
      <dgm:t>
        <a:bodyPr/>
        <a:lstStyle/>
        <a:p>
          <a:endParaRPr lang="en-US"/>
        </a:p>
      </dgm:t>
    </dgm:pt>
    <dgm:pt modelId="{52D31CAE-0EDF-4703-8082-A2C63C625157}">
      <dgm:prSet phldrT="[Text]" phldr="0" custT="1"/>
      <dgm:spPr>
        <a:solidFill>
          <a:schemeClr val="tx1">
            <a:lumMod val="50000"/>
          </a:schemeClr>
        </a:solidFill>
        <a:ln w="38100">
          <a:solidFill>
            <a:schemeClr val="bg1"/>
          </a:solidFill>
        </a:ln>
      </dgm:spPr>
      <dgm:t>
        <a:bodyPr/>
        <a:lstStyle/>
        <a:p>
          <a:r>
            <a:rPr lang="de-DE" sz="1800" dirty="0"/>
            <a:t>Computational</a:t>
          </a:r>
          <a:br>
            <a:rPr lang="de-DE" sz="1800" dirty="0"/>
          </a:br>
          <a:r>
            <a:rPr lang="de-DE" sz="1800" dirty="0"/>
            <a:t>Framework</a:t>
          </a:r>
          <a:endParaRPr lang="en-US" sz="1800" dirty="0"/>
        </a:p>
      </dgm:t>
    </dgm:pt>
    <dgm:pt modelId="{650402EA-3A99-4FFC-A613-D6197078E953}" type="parTrans" cxnId="{0F27DCA1-D615-4DC1-996A-E97D646D5842}">
      <dgm:prSet/>
      <dgm:spPr/>
      <dgm:t>
        <a:bodyPr/>
        <a:lstStyle/>
        <a:p>
          <a:endParaRPr lang="en-US"/>
        </a:p>
      </dgm:t>
    </dgm:pt>
    <dgm:pt modelId="{1225470D-AF80-4196-BBCD-C1C71E9D0646}" type="sibTrans" cxnId="{0F27DCA1-D615-4DC1-996A-E97D646D5842}">
      <dgm:prSet/>
      <dgm:spPr>
        <a:ln w="38100">
          <a:solidFill>
            <a:schemeClr val="bg1"/>
          </a:solidFill>
        </a:ln>
      </dgm:spPr>
      <dgm:t>
        <a:bodyPr/>
        <a:lstStyle/>
        <a:p>
          <a:endParaRPr lang="en-US"/>
        </a:p>
      </dgm:t>
    </dgm:pt>
    <dgm:pt modelId="{50A2E25B-D0A9-437D-9767-84872DD2625D}">
      <dgm:prSet phldrT="[Text]" phldr="0" custT="1"/>
      <dgm:spPr>
        <a:solidFill>
          <a:srgbClr val="7030A0"/>
        </a:solidFill>
        <a:ln w="38100">
          <a:solidFill>
            <a:schemeClr val="bg1"/>
          </a:solidFill>
        </a:ln>
      </dgm:spPr>
      <dgm:t>
        <a:bodyPr/>
        <a:lstStyle/>
        <a:p>
          <a:r>
            <a:rPr lang="de-DE" sz="1800" dirty="0"/>
            <a:t>NLP</a:t>
          </a:r>
          <a:br>
            <a:rPr lang="de-DE" sz="1800" dirty="0"/>
          </a:br>
          <a:r>
            <a:rPr lang="de-DE" sz="1800" dirty="0"/>
            <a:t>Solver</a:t>
          </a:r>
          <a:endParaRPr lang="en-US" sz="1800" dirty="0"/>
        </a:p>
      </dgm:t>
    </dgm:pt>
    <dgm:pt modelId="{4546EF1B-F525-4FA7-B26B-F8B2BA6C71B9}" type="parTrans" cxnId="{E9EC4D23-117F-4AD3-AFA6-9E64AEFEF8E6}">
      <dgm:prSet/>
      <dgm:spPr/>
      <dgm:t>
        <a:bodyPr/>
        <a:lstStyle/>
        <a:p>
          <a:endParaRPr lang="en-US"/>
        </a:p>
      </dgm:t>
    </dgm:pt>
    <dgm:pt modelId="{1184089A-1186-474E-96A8-F01D78979F6B}" type="sibTrans" cxnId="{E9EC4D23-117F-4AD3-AFA6-9E64AEFEF8E6}">
      <dgm:prSet/>
      <dgm:spPr>
        <a:ln w="38100">
          <a:solidFill>
            <a:schemeClr val="bg1"/>
          </a:solidFill>
        </a:ln>
      </dgm:spPr>
      <dgm:t>
        <a:bodyPr/>
        <a:lstStyle/>
        <a:p>
          <a:endParaRPr lang="en-US"/>
        </a:p>
      </dgm:t>
    </dgm:pt>
    <dgm:pt modelId="{F11B055B-CC52-4315-BE2D-29EB2EA3C8A9}">
      <dgm:prSet custT="1"/>
      <dgm:spPr>
        <a:solidFill>
          <a:schemeClr val="tx1">
            <a:lumMod val="50000"/>
          </a:schemeClr>
        </a:solidFill>
        <a:ln w="38100">
          <a:solidFill>
            <a:schemeClr val="bg1"/>
          </a:solidFill>
        </a:ln>
      </dgm:spPr>
      <dgm:t>
        <a:bodyPr/>
        <a:lstStyle/>
        <a:p>
          <a:r>
            <a:rPr lang="de-DE" sz="1800" dirty="0"/>
            <a:t>Control</a:t>
          </a:r>
          <a:br>
            <a:rPr lang="de-DE" sz="1800" dirty="0"/>
          </a:br>
          <a:r>
            <a:rPr lang="de-DE" sz="1800" dirty="0"/>
            <a:t>Parameterisation</a:t>
          </a:r>
          <a:endParaRPr lang="en-US" sz="1800" dirty="0"/>
        </a:p>
      </dgm:t>
    </dgm:pt>
    <dgm:pt modelId="{64B8375C-9389-41D4-B1D8-1A3B0C73F2A2}" type="parTrans" cxnId="{1EFDAFF7-5650-4BE1-9AB3-A92BBE66C42B}">
      <dgm:prSet/>
      <dgm:spPr/>
      <dgm:t>
        <a:bodyPr/>
        <a:lstStyle/>
        <a:p>
          <a:endParaRPr lang="en-US"/>
        </a:p>
      </dgm:t>
    </dgm:pt>
    <dgm:pt modelId="{7730BF96-EA4B-4D3F-BDA6-AA42BC99BB8B}" type="sibTrans" cxnId="{1EFDAFF7-5650-4BE1-9AB3-A92BBE66C42B}">
      <dgm:prSet/>
      <dgm:spPr>
        <a:ln w="38100">
          <a:solidFill>
            <a:schemeClr val="bg1"/>
          </a:solidFill>
        </a:ln>
      </dgm:spPr>
      <dgm:t>
        <a:bodyPr/>
        <a:lstStyle/>
        <a:p>
          <a:endParaRPr lang="en-US"/>
        </a:p>
      </dgm:t>
    </dgm:pt>
    <dgm:pt modelId="{D96F5415-542E-4C01-B84C-631CB43A98F1}" type="pres">
      <dgm:prSet presAssocID="{831DC046-4C52-4843-9155-5C20D87AD492}" presName="cycle" presStyleCnt="0">
        <dgm:presLayoutVars>
          <dgm:dir/>
          <dgm:resizeHandles val="exact"/>
        </dgm:presLayoutVars>
      </dgm:prSet>
      <dgm:spPr/>
    </dgm:pt>
    <dgm:pt modelId="{0A971159-2FA5-49F8-9379-7DFDEC522630}" type="pres">
      <dgm:prSet presAssocID="{3741311E-5F03-486F-87EF-B2BADCD5EE96}" presName="node" presStyleLbl="node1" presStyleIdx="0" presStyleCnt="6" custScaleX="156687" custScaleY="77483">
        <dgm:presLayoutVars>
          <dgm:bulletEnabled val="1"/>
        </dgm:presLayoutVars>
      </dgm:prSet>
      <dgm:spPr/>
    </dgm:pt>
    <dgm:pt modelId="{ABCB961D-9714-46CE-8A43-7E7D9239E90D}" type="pres">
      <dgm:prSet presAssocID="{3741311E-5F03-486F-87EF-B2BADCD5EE96}" presName="spNode" presStyleCnt="0"/>
      <dgm:spPr/>
    </dgm:pt>
    <dgm:pt modelId="{5DAFF906-88C4-40C6-B6A8-F32251651E77}" type="pres">
      <dgm:prSet presAssocID="{BFC871D6-CC0E-4DC5-92AA-8229DBC0AB0A}" presName="sibTrans" presStyleLbl="sibTrans1D1" presStyleIdx="0" presStyleCnt="6"/>
      <dgm:spPr/>
    </dgm:pt>
    <dgm:pt modelId="{40CC6FAE-BB9B-4A74-8211-2E5AE5EA582F}" type="pres">
      <dgm:prSet presAssocID="{21802F9C-9E23-4BB7-B711-3312AED9470E}" presName="node" presStyleLbl="node1" presStyleIdx="1" presStyleCnt="6" custScaleX="156687" custScaleY="77483">
        <dgm:presLayoutVars>
          <dgm:bulletEnabled val="1"/>
        </dgm:presLayoutVars>
      </dgm:prSet>
      <dgm:spPr/>
    </dgm:pt>
    <dgm:pt modelId="{16E34488-2EC8-4483-AAD5-B263EF115DBD}" type="pres">
      <dgm:prSet presAssocID="{21802F9C-9E23-4BB7-B711-3312AED9470E}" presName="spNode" presStyleCnt="0"/>
      <dgm:spPr/>
    </dgm:pt>
    <dgm:pt modelId="{B3C5F432-E9C3-4B94-BC8E-336DAFB3DEEB}" type="pres">
      <dgm:prSet presAssocID="{3C1FED70-C3D8-412B-8A46-5A92CAA85D87}" presName="sibTrans" presStyleLbl="sibTrans1D1" presStyleIdx="1" presStyleCnt="6"/>
      <dgm:spPr/>
    </dgm:pt>
    <dgm:pt modelId="{62450E01-B5BB-4596-AA84-C6B68BA22E17}" type="pres">
      <dgm:prSet presAssocID="{F11B055B-CC52-4315-BE2D-29EB2EA3C8A9}" presName="node" presStyleLbl="node1" presStyleIdx="2" presStyleCnt="6" custScaleX="156687" custScaleY="77483">
        <dgm:presLayoutVars>
          <dgm:bulletEnabled val="1"/>
        </dgm:presLayoutVars>
      </dgm:prSet>
      <dgm:spPr/>
    </dgm:pt>
    <dgm:pt modelId="{F1281664-0016-48A2-AF4D-2A3D067E2A8F}" type="pres">
      <dgm:prSet presAssocID="{F11B055B-CC52-4315-BE2D-29EB2EA3C8A9}" presName="spNode" presStyleCnt="0"/>
      <dgm:spPr/>
    </dgm:pt>
    <dgm:pt modelId="{B35B1855-F262-43FF-894C-A1EE99B468B4}" type="pres">
      <dgm:prSet presAssocID="{7730BF96-EA4B-4D3F-BDA6-AA42BC99BB8B}" presName="sibTrans" presStyleLbl="sibTrans1D1" presStyleIdx="2" presStyleCnt="6"/>
      <dgm:spPr/>
    </dgm:pt>
    <dgm:pt modelId="{B44B9DB0-22E3-4707-B3E4-E1543465D50B}" type="pres">
      <dgm:prSet presAssocID="{C8244B64-C847-41C7-A433-4AFC5B7DE007}" presName="node" presStyleLbl="node1" presStyleIdx="3" presStyleCnt="6" custScaleX="156687" custScaleY="77483">
        <dgm:presLayoutVars>
          <dgm:bulletEnabled val="1"/>
        </dgm:presLayoutVars>
      </dgm:prSet>
      <dgm:spPr/>
    </dgm:pt>
    <dgm:pt modelId="{9D337E41-961D-47FC-B78E-561E0C315A45}" type="pres">
      <dgm:prSet presAssocID="{C8244B64-C847-41C7-A433-4AFC5B7DE007}" presName="spNode" presStyleCnt="0"/>
      <dgm:spPr/>
    </dgm:pt>
    <dgm:pt modelId="{786B7CA3-072A-477E-9BB0-5E4FFECF36A3}" type="pres">
      <dgm:prSet presAssocID="{708F456B-365E-4C49-9338-C62732FF670E}" presName="sibTrans" presStyleLbl="sibTrans1D1" presStyleIdx="3" presStyleCnt="6"/>
      <dgm:spPr/>
    </dgm:pt>
    <dgm:pt modelId="{915311B5-19A6-4DFB-BB07-40FB8DC75694}" type="pres">
      <dgm:prSet presAssocID="{52D31CAE-0EDF-4703-8082-A2C63C625157}" presName="node" presStyleLbl="node1" presStyleIdx="4" presStyleCnt="6" custScaleX="156687" custScaleY="77483">
        <dgm:presLayoutVars>
          <dgm:bulletEnabled val="1"/>
        </dgm:presLayoutVars>
      </dgm:prSet>
      <dgm:spPr/>
    </dgm:pt>
    <dgm:pt modelId="{16637554-0651-47F4-BCD0-42775E58BEEE}" type="pres">
      <dgm:prSet presAssocID="{52D31CAE-0EDF-4703-8082-A2C63C625157}" presName="spNode" presStyleCnt="0"/>
      <dgm:spPr/>
    </dgm:pt>
    <dgm:pt modelId="{260B3A5C-B4DF-4637-AAD0-5A1939C13163}" type="pres">
      <dgm:prSet presAssocID="{1225470D-AF80-4196-BBCD-C1C71E9D0646}" presName="sibTrans" presStyleLbl="sibTrans1D1" presStyleIdx="4" presStyleCnt="6"/>
      <dgm:spPr/>
    </dgm:pt>
    <dgm:pt modelId="{4E3BB357-1501-4432-A9A2-E699F344F756}" type="pres">
      <dgm:prSet presAssocID="{50A2E25B-D0A9-437D-9767-84872DD2625D}" presName="node" presStyleLbl="node1" presStyleIdx="5" presStyleCnt="6" custScaleX="156687" custScaleY="77483">
        <dgm:presLayoutVars>
          <dgm:bulletEnabled val="1"/>
        </dgm:presLayoutVars>
      </dgm:prSet>
      <dgm:spPr/>
    </dgm:pt>
    <dgm:pt modelId="{A3410190-38BE-4402-9CFF-3B2EEB2D664F}" type="pres">
      <dgm:prSet presAssocID="{50A2E25B-D0A9-437D-9767-84872DD2625D}" presName="spNode" presStyleCnt="0"/>
      <dgm:spPr/>
    </dgm:pt>
    <dgm:pt modelId="{EA345D5A-595B-4FF0-B478-25F4B45C5BA1}" type="pres">
      <dgm:prSet presAssocID="{1184089A-1186-474E-96A8-F01D78979F6B}" presName="sibTrans" presStyleLbl="sibTrans1D1" presStyleIdx="5" presStyleCnt="6"/>
      <dgm:spPr/>
    </dgm:pt>
  </dgm:ptLst>
  <dgm:cxnLst>
    <dgm:cxn modelId="{E9EC4D23-117F-4AD3-AFA6-9E64AEFEF8E6}" srcId="{831DC046-4C52-4843-9155-5C20D87AD492}" destId="{50A2E25B-D0A9-437D-9767-84872DD2625D}" srcOrd="5" destOrd="0" parTransId="{4546EF1B-F525-4FA7-B26B-F8B2BA6C71B9}" sibTransId="{1184089A-1186-474E-96A8-F01D78979F6B}"/>
    <dgm:cxn modelId="{864FB527-14B6-49C0-AF22-C5CE47BFF835}" type="presOf" srcId="{708F456B-365E-4C49-9338-C62732FF670E}" destId="{786B7CA3-072A-477E-9BB0-5E4FFECF36A3}" srcOrd="0" destOrd="0" presId="urn:microsoft.com/office/officeart/2005/8/layout/cycle6"/>
    <dgm:cxn modelId="{8DA6C938-E100-4D8F-8247-24C49AEC3D88}" type="presOf" srcId="{1225470D-AF80-4196-BBCD-C1C71E9D0646}" destId="{260B3A5C-B4DF-4637-AAD0-5A1939C13163}" srcOrd="0" destOrd="0" presId="urn:microsoft.com/office/officeart/2005/8/layout/cycle6"/>
    <dgm:cxn modelId="{AB672B3A-9F8B-4C1C-8CCF-F5AE1741E255}" type="presOf" srcId="{C8244B64-C847-41C7-A433-4AFC5B7DE007}" destId="{B44B9DB0-22E3-4707-B3E4-E1543465D50B}" srcOrd="0" destOrd="0" presId="urn:microsoft.com/office/officeart/2005/8/layout/cycle6"/>
    <dgm:cxn modelId="{5E46BD61-9429-4E38-A525-84B3ECC612A7}" srcId="{831DC046-4C52-4843-9155-5C20D87AD492}" destId="{21802F9C-9E23-4BB7-B711-3312AED9470E}" srcOrd="1" destOrd="0" parTransId="{D265CC33-E4B3-4985-93D6-9FAC6B4C286B}" sibTransId="{3C1FED70-C3D8-412B-8A46-5A92CAA85D87}"/>
    <dgm:cxn modelId="{4BF17462-48EF-43C0-8350-E7547AA0BFFB}" type="presOf" srcId="{7730BF96-EA4B-4D3F-BDA6-AA42BC99BB8B}" destId="{B35B1855-F262-43FF-894C-A1EE99B468B4}" srcOrd="0" destOrd="0" presId="urn:microsoft.com/office/officeart/2005/8/layout/cycle6"/>
    <dgm:cxn modelId="{72A6D966-C2F7-4656-B1E4-E4B916B9216B}" type="presOf" srcId="{21802F9C-9E23-4BB7-B711-3312AED9470E}" destId="{40CC6FAE-BB9B-4A74-8211-2E5AE5EA582F}" srcOrd="0" destOrd="0" presId="urn:microsoft.com/office/officeart/2005/8/layout/cycle6"/>
    <dgm:cxn modelId="{DEF34967-05E0-477A-AAD8-493126A130A8}" type="presOf" srcId="{BFC871D6-CC0E-4DC5-92AA-8229DBC0AB0A}" destId="{5DAFF906-88C4-40C6-B6A8-F32251651E77}" srcOrd="0" destOrd="0" presId="urn:microsoft.com/office/officeart/2005/8/layout/cycle6"/>
    <dgm:cxn modelId="{602D8F84-672E-44D7-BD67-5BA883CAB2AA}" srcId="{831DC046-4C52-4843-9155-5C20D87AD492}" destId="{3741311E-5F03-486F-87EF-B2BADCD5EE96}" srcOrd="0" destOrd="0" parTransId="{FCDFA520-CE8E-4E28-ADD3-4912F9128C8F}" sibTransId="{BFC871D6-CC0E-4DC5-92AA-8229DBC0AB0A}"/>
    <dgm:cxn modelId="{87D13686-7F06-4063-9A6B-AB8D21F2AAD0}" type="presOf" srcId="{52D31CAE-0EDF-4703-8082-A2C63C625157}" destId="{915311B5-19A6-4DFB-BB07-40FB8DC75694}" srcOrd="0" destOrd="0" presId="urn:microsoft.com/office/officeart/2005/8/layout/cycle6"/>
    <dgm:cxn modelId="{1406299E-465B-46F7-B281-1BB29984647D}" type="presOf" srcId="{1184089A-1186-474E-96A8-F01D78979F6B}" destId="{EA345D5A-595B-4FF0-B478-25F4B45C5BA1}" srcOrd="0" destOrd="0" presId="urn:microsoft.com/office/officeart/2005/8/layout/cycle6"/>
    <dgm:cxn modelId="{0F27DCA1-D615-4DC1-996A-E97D646D5842}" srcId="{831DC046-4C52-4843-9155-5C20D87AD492}" destId="{52D31CAE-0EDF-4703-8082-A2C63C625157}" srcOrd="4" destOrd="0" parTransId="{650402EA-3A99-4FFC-A613-D6197078E953}" sibTransId="{1225470D-AF80-4196-BBCD-C1C71E9D0646}"/>
    <dgm:cxn modelId="{221539A7-DC1E-46F0-88EF-B4269BF3ECF0}" type="presOf" srcId="{3741311E-5F03-486F-87EF-B2BADCD5EE96}" destId="{0A971159-2FA5-49F8-9379-7DFDEC522630}" srcOrd="0" destOrd="0" presId="urn:microsoft.com/office/officeart/2005/8/layout/cycle6"/>
    <dgm:cxn modelId="{C2DB76AE-1598-4FFA-A45B-FA068A9155B3}" type="presOf" srcId="{831DC046-4C52-4843-9155-5C20D87AD492}" destId="{D96F5415-542E-4C01-B84C-631CB43A98F1}" srcOrd="0" destOrd="0" presId="urn:microsoft.com/office/officeart/2005/8/layout/cycle6"/>
    <dgm:cxn modelId="{009DD4C9-0CEE-4BD4-8661-3143D9E1C815}" type="presOf" srcId="{3C1FED70-C3D8-412B-8A46-5A92CAA85D87}" destId="{B3C5F432-E9C3-4B94-BC8E-336DAFB3DEEB}" srcOrd="0" destOrd="0" presId="urn:microsoft.com/office/officeart/2005/8/layout/cycle6"/>
    <dgm:cxn modelId="{765411D1-C832-4EDF-9C8B-D78154281000}" srcId="{831DC046-4C52-4843-9155-5C20D87AD492}" destId="{C8244B64-C847-41C7-A433-4AFC5B7DE007}" srcOrd="3" destOrd="0" parTransId="{683C62E3-52CC-40DE-BE5E-841CD810FB66}" sibTransId="{708F456B-365E-4C49-9338-C62732FF670E}"/>
    <dgm:cxn modelId="{BDA40AE3-430E-4FFD-A62E-E75C8ED94038}" type="presOf" srcId="{F11B055B-CC52-4315-BE2D-29EB2EA3C8A9}" destId="{62450E01-B5BB-4596-AA84-C6B68BA22E17}" srcOrd="0" destOrd="0" presId="urn:microsoft.com/office/officeart/2005/8/layout/cycle6"/>
    <dgm:cxn modelId="{1EFDAFF7-5650-4BE1-9AB3-A92BBE66C42B}" srcId="{831DC046-4C52-4843-9155-5C20D87AD492}" destId="{F11B055B-CC52-4315-BE2D-29EB2EA3C8A9}" srcOrd="2" destOrd="0" parTransId="{64B8375C-9389-41D4-B1D8-1A3B0C73F2A2}" sibTransId="{7730BF96-EA4B-4D3F-BDA6-AA42BC99BB8B}"/>
    <dgm:cxn modelId="{1FEEB8FE-23CB-415C-A0BF-4B48D34DD663}" type="presOf" srcId="{50A2E25B-D0A9-437D-9767-84872DD2625D}" destId="{4E3BB357-1501-4432-A9A2-E699F344F756}" srcOrd="0" destOrd="0" presId="urn:microsoft.com/office/officeart/2005/8/layout/cycle6"/>
    <dgm:cxn modelId="{EE23AB14-9151-4D59-A408-1B1A352726FA}" type="presParOf" srcId="{D96F5415-542E-4C01-B84C-631CB43A98F1}" destId="{0A971159-2FA5-49F8-9379-7DFDEC522630}" srcOrd="0" destOrd="0" presId="urn:microsoft.com/office/officeart/2005/8/layout/cycle6"/>
    <dgm:cxn modelId="{2D971C38-B6AC-4BD9-96AE-FF9EB863EAED}" type="presParOf" srcId="{D96F5415-542E-4C01-B84C-631CB43A98F1}" destId="{ABCB961D-9714-46CE-8A43-7E7D9239E90D}" srcOrd="1" destOrd="0" presId="urn:microsoft.com/office/officeart/2005/8/layout/cycle6"/>
    <dgm:cxn modelId="{B316E018-5F39-40AD-B3D0-8C3E0E079097}" type="presParOf" srcId="{D96F5415-542E-4C01-B84C-631CB43A98F1}" destId="{5DAFF906-88C4-40C6-B6A8-F32251651E77}" srcOrd="2" destOrd="0" presId="urn:microsoft.com/office/officeart/2005/8/layout/cycle6"/>
    <dgm:cxn modelId="{E7180766-0374-43E7-B4AA-26E02C3CD626}" type="presParOf" srcId="{D96F5415-542E-4C01-B84C-631CB43A98F1}" destId="{40CC6FAE-BB9B-4A74-8211-2E5AE5EA582F}" srcOrd="3" destOrd="0" presId="urn:microsoft.com/office/officeart/2005/8/layout/cycle6"/>
    <dgm:cxn modelId="{A2A0B03D-989B-4AF3-844E-8D0656DA4104}" type="presParOf" srcId="{D96F5415-542E-4C01-B84C-631CB43A98F1}" destId="{16E34488-2EC8-4483-AAD5-B263EF115DBD}" srcOrd="4" destOrd="0" presId="urn:microsoft.com/office/officeart/2005/8/layout/cycle6"/>
    <dgm:cxn modelId="{608EC486-EC60-4809-B92B-13C0A23FC271}" type="presParOf" srcId="{D96F5415-542E-4C01-B84C-631CB43A98F1}" destId="{B3C5F432-E9C3-4B94-BC8E-336DAFB3DEEB}" srcOrd="5" destOrd="0" presId="urn:microsoft.com/office/officeart/2005/8/layout/cycle6"/>
    <dgm:cxn modelId="{4CA0FFE7-344F-49C8-9805-C19D7C175DDA}" type="presParOf" srcId="{D96F5415-542E-4C01-B84C-631CB43A98F1}" destId="{62450E01-B5BB-4596-AA84-C6B68BA22E17}" srcOrd="6" destOrd="0" presId="urn:microsoft.com/office/officeart/2005/8/layout/cycle6"/>
    <dgm:cxn modelId="{72209C4F-BCB1-4338-9A27-D687211248A8}" type="presParOf" srcId="{D96F5415-542E-4C01-B84C-631CB43A98F1}" destId="{F1281664-0016-48A2-AF4D-2A3D067E2A8F}" srcOrd="7" destOrd="0" presId="urn:microsoft.com/office/officeart/2005/8/layout/cycle6"/>
    <dgm:cxn modelId="{0893D4B7-190B-4746-80AF-6837EF77FADD}" type="presParOf" srcId="{D96F5415-542E-4C01-B84C-631CB43A98F1}" destId="{B35B1855-F262-43FF-894C-A1EE99B468B4}" srcOrd="8" destOrd="0" presId="urn:microsoft.com/office/officeart/2005/8/layout/cycle6"/>
    <dgm:cxn modelId="{156374E5-6F55-44C0-A1B6-7E1BE7792EC0}" type="presParOf" srcId="{D96F5415-542E-4C01-B84C-631CB43A98F1}" destId="{B44B9DB0-22E3-4707-B3E4-E1543465D50B}" srcOrd="9" destOrd="0" presId="urn:microsoft.com/office/officeart/2005/8/layout/cycle6"/>
    <dgm:cxn modelId="{D6FD6CCA-023D-4E18-AD1A-B37590E4F9ED}" type="presParOf" srcId="{D96F5415-542E-4C01-B84C-631CB43A98F1}" destId="{9D337E41-961D-47FC-B78E-561E0C315A45}" srcOrd="10" destOrd="0" presId="urn:microsoft.com/office/officeart/2005/8/layout/cycle6"/>
    <dgm:cxn modelId="{D9F49B3D-D1DE-44F7-A90D-18454D5F2A54}" type="presParOf" srcId="{D96F5415-542E-4C01-B84C-631CB43A98F1}" destId="{786B7CA3-072A-477E-9BB0-5E4FFECF36A3}" srcOrd="11" destOrd="0" presId="urn:microsoft.com/office/officeart/2005/8/layout/cycle6"/>
    <dgm:cxn modelId="{6F2D5906-8F9A-482C-9449-E6307E638251}" type="presParOf" srcId="{D96F5415-542E-4C01-B84C-631CB43A98F1}" destId="{915311B5-19A6-4DFB-BB07-40FB8DC75694}" srcOrd="12" destOrd="0" presId="urn:microsoft.com/office/officeart/2005/8/layout/cycle6"/>
    <dgm:cxn modelId="{9CC01D7B-9726-44DF-B2E7-764191E45E96}" type="presParOf" srcId="{D96F5415-542E-4C01-B84C-631CB43A98F1}" destId="{16637554-0651-47F4-BCD0-42775E58BEEE}" srcOrd="13" destOrd="0" presId="urn:microsoft.com/office/officeart/2005/8/layout/cycle6"/>
    <dgm:cxn modelId="{A4F30427-BCFF-4688-865D-05D0FAB3FC72}" type="presParOf" srcId="{D96F5415-542E-4C01-B84C-631CB43A98F1}" destId="{260B3A5C-B4DF-4637-AAD0-5A1939C13163}" srcOrd="14" destOrd="0" presId="urn:microsoft.com/office/officeart/2005/8/layout/cycle6"/>
    <dgm:cxn modelId="{003E16C6-8C32-4F15-A6CA-0BB3FB6CD862}" type="presParOf" srcId="{D96F5415-542E-4C01-B84C-631CB43A98F1}" destId="{4E3BB357-1501-4432-A9A2-E699F344F756}" srcOrd="15" destOrd="0" presId="urn:microsoft.com/office/officeart/2005/8/layout/cycle6"/>
    <dgm:cxn modelId="{74B4E4AC-2C9C-4E03-9943-21458DB03172}" type="presParOf" srcId="{D96F5415-542E-4C01-B84C-631CB43A98F1}" destId="{A3410190-38BE-4402-9CFF-3B2EEB2D664F}" srcOrd="16" destOrd="0" presId="urn:microsoft.com/office/officeart/2005/8/layout/cycle6"/>
    <dgm:cxn modelId="{46C7300F-7F55-4432-AFF8-6ABFA586079D}" type="presParOf" srcId="{D96F5415-542E-4C01-B84C-631CB43A98F1}" destId="{EA345D5A-595B-4FF0-B478-25F4B45C5BA1}" srcOrd="17" destOrd="0" presId="urn:microsoft.com/office/officeart/2005/8/layout/cycle6"/>
  </dgm:cxnLst>
  <dgm:bg/>
  <dgm:whole>
    <a:ln w="38100"/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831DC046-4C52-4843-9155-5C20D87AD492}" type="doc">
      <dgm:prSet loTypeId="urn:microsoft.com/office/officeart/2005/8/layout/cycle6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741311E-5F03-486F-87EF-B2BADCD5EE96}">
      <dgm:prSet phldrT="[Text]" phldr="0" custT="1"/>
      <dgm:spPr>
        <a:solidFill>
          <a:schemeClr val="bg1">
            <a:lumMod val="50000"/>
          </a:schemeClr>
        </a:solidFill>
        <a:ln w="38100">
          <a:solidFill>
            <a:schemeClr val="bg1"/>
          </a:solidFill>
        </a:ln>
      </dgm:spPr>
      <dgm:t>
        <a:bodyPr/>
        <a:lstStyle/>
        <a:p>
          <a:r>
            <a:rPr lang="de-DE" sz="1800" dirty="0"/>
            <a:t>CGPOPS</a:t>
          </a:r>
          <a:endParaRPr lang="en-US" sz="1800" dirty="0"/>
        </a:p>
      </dgm:t>
    </dgm:pt>
    <dgm:pt modelId="{FCDFA520-CE8E-4E28-ADD3-4912F9128C8F}" type="parTrans" cxnId="{602D8F84-672E-44D7-BD67-5BA883CAB2AA}">
      <dgm:prSet/>
      <dgm:spPr/>
      <dgm:t>
        <a:bodyPr/>
        <a:lstStyle/>
        <a:p>
          <a:endParaRPr lang="en-US"/>
        </a:p>
      </dgm:t>
    </dgm:pt>
    <dgm:pt modelId="{BFC871D6-CC0E-4DC5-92AA-8229DBC0AB0A}" type="sibTrans" cxnId="{602D8F84-672E-44D7-BD67-5BA883CAB2AA}">
      <dgm:prSet/>
      <dgm:spPr>
        <a:ln w="76200">
          <a:solidFill>
            <a:schemeClr val="bg1"/>
          </a:solidFill>
        </a:ln>
      </dgm:spPr>
      <dgm:t>
        <a:bodyPr/>
        <a:lstStyle/>
        <a:p>
          <a:endParaRPr lang="en-US"/>
        </a:p>
      </dgm:t>
    </dgm:pt>
    <dgm:pt modelId="{52D31CAE-0EDF-4703-8082-A2C63C625157}">
      <dgm:prSet phldrT="[Text]" phldr="0" custT="1"/>
      <dgm:spPr>
        <a:solidFill>
          <a:schemeClr val="tx1">
            <a:lumMod val="50000"/>
          </a:schemeClr>
        </a:solidFill>
        <a:ln w="38100">
          <a:solidFill>
            <a:schemeClr val="bg1"/>
          </a:solidFill>
        </a:ln>
      </dgm:spPr>
      <dgm:t>
        <a:bodyPr/>
        <a:lstStyle/>
        <a:p>
          <a:r>
            <a:rPr lang="de-DE" sz="1800" dirty="0"/>
            <a:t>LGR</a:t>
          </a:r>
          <a:br>
            <a:rPr lang="de-DE" sz="1800" dirty="0"/>
          </a:br>
          <a:r>
            <a:rPr lang="de-DE" sz="1800" dirty="0"/>
            <a:t>Collocation</a:t>
          </a:r>
          <a:endParaRPr lang="en-US" sz="1800" dirty="0"/>
        </a:p>
      </dgm:t>
    </dgm:pt>
    <dgm:pt modelId="{650402EA-3A99-4FFC-A613-D6197078E953}" type="parTrans" cxnId="{0F27DCA1-D615-4DC1-996A-E97D646D5842}">
      <dgm:prSet/>
      <dgm:spPr/>
      <dgm:t>
        <a:bodyPr/>
        <a:lstStyle/>
        <a:p>
          <a:endParaRPr lang="en-US"/>
        </a:p>
      </dgm:t>
    </dgm:pt>
    <dgm:pt modelId="{1225470D-AF80-4196-BBCD-C1C71E9D0646}" type="sibTrans" cxnId="{0F27DCA1-D615-4DC1-996A-E97D646D5842}">
      <dgm:prSet/>
      <dgm:spPr>
        <a:ln w="76200">
          <a:solidFill>
            <a:schemeClr val="bg1"/>
          </a:solidFill>
        </a:ln>
      </dgm:spPr>
      <dgm:t>
        <a:bodyPr/>
        <a:lstStyle/>
        <a:p>
          <a:endParaRPr lang="en-US"/>
        </a:p>
      </dgm:t>
    </dgm:pt>
    <dgm:pt modelId="{50A2E25B-D0A9-437D-9767-84872DD2625D}">
      <dgm:prSet phldrT="[Text]" phldr="0" custT="1"/>
      <dgm:spPr>
        <a:solidFill>
          <a:schemeClr val="tx1">
            <a:lumMod val="50000"/>
          </a:schemeClr>
        </a:solidFill>
        <a:ln w="38100">
          <a:solidFill>
            <a:schemeClr val="bg1"/>
          </a:solidFill>
        </a:ln>
      </dgm:spPr>
      <dgm:t>
        <a:bodyPr/>
        <a:lstStyle/>
        <a:p>
          <a:r>
            <a:rPr lang="de-DE" sz="1800" dirty="0"/>
            <a:t>IPOPT</a:t>
          </a:r>
          <a:endParaRPr lang="en-US" sz="1800" dirty="0"/>
        </a:p>
      </dgm:t>
    </dgm:pt>
    <dgm:pt modelId="{4546EF1B-F525-4FA7-B26B-F8B2BA6C71B9}" type="parTrans" cxnId="{E9EC4D23-117F-4AD3-AFA6-9E64AEFEF8E6}">
      <dgm:prSet/>
      <dgm:spPr/>
      <dgm:t>
        <a:bodyPr/>
        <a:lstStyle/>
        <a:p>
          <a:endParaRPr lang="en-US"/>
        </a:p>
      </dgm:t>
    </dgm:pt>
    <dgm:pt modelId="{1184089A-1186-474E-96A8-F01D78979F6B}" type="sibTrans" cxnId="{E9EC4D23-117F-4AD3-AFA6-9E64AEFEF8E6}">
      <dgm:prSet/>
      <dgm:spPr>
        <a:ln w="76200">
          <a:solidFill>
            <a:schemeClr val="bg1"/>
          </a:solidFill>
        </a:ln>
      </dgm:spPr>
      <dgm:t>
        <a:bodyPr/>
        <a:lstStyle/>
        <a:p>
          <a:endParaRPr lang="en-US"/>
        </a:p>
      </dgm:t>
    </dgm:pt>
    <dgm:pt modelId="{D96F5415-542E-4C01-B84C-631CB43A98F1}" type="pres">
      <dgm:prSet presAssocID="{831DC046-4C52-4843-9155-5C20D87AD492}" presName="cycle" presStyleCnt="0">
        <dgm:presLayoutVars>
          <dgm:dir/>
          <dgm:resizeHandles val="exact"/>
        </dgm:presLayoutVars>
      </dgm:prSet>
      <dgm:spPr/>
    </dgm:pt>
    <dgm:pt modelId="{0A971159-2FA5-49F8-9379-7DFDEC522630}" type="pres">
      <dgm:prSet presAssocID="{3741311E-5F03-486F-87EF-B2BADCD5EE96}" presName="node" presStyleLbl="node1" presStyleIdx="0" presStyleCnt="3" custScaleX="72345" custScaleY="58947">
        <dgm:presLayoutVars>
          <dgm:bulletEnabled val="1"/>
        </dgm:presLayoutVars>
      </dgm:prSet>
      <dgm:spPr/>
    </dgm:pt>
    <dgm:pt modelId="{ABCB961D-9714-46CE-8A43-7E7D9239E90D}" type="pres">
      <dgm:prSet presAssocID="{3741311E-5F03-486F-87EF-B2BADCD5EE96}" presName="spNode" presStyleCnt="0"/>
      <dgm:spPr/>
    </dgm:pt>
    <dgm:pt modelId="{5DAFF906-88C4-40C6-B6A8-F32251651E77}" type="pres">
      <dgm:prSet presAssocID="{BFC871D6-CC0E-4DC5-92AA-8229DBC0AB0A}" presName="sibTrans" presStyleLbl="sibTrans1D1" presStyleIdx="0" presStyleCnt="3"/>
      <dgm:spPr/>
    </dgm:pt>
    <dgm:pt modelId="{915311B5-19A6-4DFB-BB07-40FB8DC75694}" type="pres">
      <dgm:prSet presAssocID="{52D31CAE-0EDF-4703-8082-A2C63C625157}" presName="node" presStyleLbl="node1" presStyleIdx="1" presStyleCnt="3" custScaleX="72345" custScaleY="58947" custRadScaleRad="107836" custRadScaleInc="-5941">
        <dgm:presLayoutVars>
          <dgm:bulletEnabled val="1"/>
        </dgm:presLayoutVars>
      </dgm:prSet>
      <dgm:spPr/>
    </dgm:pt>
    <dgm:pt modelId="{16637554-0651-47F4-BCD0-42775E58BEEE}" type="pres">
      <dgm:prSet presAssocID="{52D31CAE-0EDF-4703-8082-A2C63C625157}" presName="spNode" presStyleCnt="0"/>
      <dgm:spPr/>
    </dgm:pt>
    <dgm:pt modelId="{260B3A5C-B4DF-4637-AAD0-5A1939C13163}" type="pres">
      <dgm:prSet presAssocID="{1225470D-AF80-4196-BBCD-C1C71E9D0646}" presName="sibTrans" presStyleLbl="sibTrans1D1" presStyleIdx="1" presStyleCnt="3"/>
      <dgm:spPr/>
    </dgm:pt>
    <dgm:pt modelId="{4E3BB357-1501-4432-A9A2-E699F344F756}" type="pres">
      <dgm:prSet presAssocID="{50A2E25B-D0A9-437D-9767-84872DD2625D}" presName="node" presStyleLbl="node1" presStyleIdx="2" presStyleCnt="3" custScaleX="72345" custScaleY="58947" custRadScaleRad="109129" custRadScaleInc="6828">
        <dgm:presLayoutVars>
          <dgm:bulletEnabled val="1"/>
        </dgm:presLayoutVars>
      </dgm:prSet>
      <dgm:spPr/>
    </dgm:pt>
    <dgm:pt modelId="{A3410190-38BE-4402-9CFF-3B2EEB2D664F}" type="pres">
      <dgm:prSet presAssocID="{50A2E25B-D0A9-437D-9767-84872DD2625D}" presName="spNode" presStyleCnt="0"/>
      <dgm:spPr/>
    </dgm:pt>
    <dgm:pt modelId="{EA345D5A-595B-4FF0-B478-25F4B45C5BA1}" type="pres">
      <dgm:prSet presAssocID="{1184089A-1186-474E-96A8-F01D78979F6B}" presName="sibTrans" presStyleLbl="sibTrans1D1" presStyleIdx="2" presStyleCnt="3"/>
      <dgm:spPr/>
    </dgm:pt>
  </dgm:ptLst>
  <dgm:cxnLst>
    <dgm:cxn modelId="{E9EC4D23-117F-4AD3-AFA6-9E64AEFEF8E6}" srcId="{831DC046-4C52-4843-9155-5C20D87AD492}" destId="{50A2E25B-D0A9-437D-9767-84872DD2625D}" srcOrd="2" destOrd="0" parTransId="{4546EF1B-F525-4FA7-B26B-F8B2BA6C71B9}" sibTransId="{1184089A-1186-474E-96A8-F01D78979F6B}"/>
    <dgm:cxn modelId="{8DA6C938-E100-4D8F-8247-24C49AEC3D88}" type="presOf" srcId="{1225470D-AF80-4196-BBCD-C1C71E9D0646}" destId="{260B3A5C-B4DF-4637-AAD0-5A1939C13163}" srcOrd="0" destOrd="0" presId="urn:microsoft.com/office/officeart/2005/8/layout/cycle6"/>
    <dgm:cxn modelId="{DEF34967-05E0-477A-AAD8-493126A130A8}" type="presOf" srcId="{BFC871D6-CC0E-4DC5-92AA-8229DBC0AB0A}" destId="{5DAFF906-88C4-40C6-B6A8-F32251651E77}" srcOrd="0" destOrd="0" presId="urn:microsoft.com/office/officeart/2005/8/layout/cycle6"/>
    <dgm:cxn modelId="{602D8F84-672E-44D7-BD67-5BA883CAB2AA}" srcId="{831DC046-4C52-4843-9155-5C20D87AD492}" destId="{3741311E-5F03-486F-87EF-B2BADCD5EE96}" srcOrd="0" destOrd="0" parTransId="{FCDFA520-CE8E-4E28-ADD3-4912F9128C8F}" sibTransId="{BFC871D6-CC0E-4DC5-92AA-8229DBC0AB0A}"/>
    <dgm:cxn modelId="{87D13686-7F06-4063-9A6B-AB8D21F2AAD0}" type="presOf" srcId="{52D31CAE-0EDF-4703-8082-A2C63C625157}" destId="{915311B5-19A6-4DFB-BB07-40FB8DC75694}" srcOrd="0" destOrd="0" presId="urn:microsoft.com/office/officeart/2005/8/layout/cycle6"/>
    <dgm:cxn modelId="{1406299E-465B-46F7-B281-1BB29984647D}" type="presOf" srcId="{1184089A-1186-474E-96A8-F01D78979F6B}" destId="{EA345D5A-595B-4FF0-B478-25F4B45C5BA1}" srcOrd="0" destOrd="0" presId="urn:microsoft.com/office/officeart/2005/8/layout/cycle6"/>
    <dgm:cxn modelId="{0F27DCA1-D615-4DC1-996A-E97D646D5842}" srcId="{831DC046-4C52-4843-9155-5C20D87AD492}" destId="{52D31CAE-0EDF-4703-8082-A2C63C625157}" srcOrd="1" destOrd="0" parTransId="{650402EA-3A99-4FFC-A613-D6197078E953}" sibTransId="{1225470D-AF80-4196-BBCD-C1C71E9D0646}"/>
    <dgm:cxn modelId="{221539A7-DC1E-46F0-88EF-B4269BF3ECF0}" type="presOf" srcId="{3741311E-5F03-486F-87EF-B2BADCD5EE96}" destId="{0A971159-2FA5-49F8-9379-7DFDEC522630}" srcOrd="0" destOrd="0" presId="urn:microsoft.com/office/officeart/2005/8/layout/cycle6"/>
    <dgm:cxn modelId="{C2DB76AE-1598-4FFA-A45B-FA068A9155B3}" type="presOf" srcId="{831DC046-4C52-4843-9155-5C20D87AD492}" destId="{D96F5415-542E-4C01-B84C-631CB43A98F1}" srcOrd="0" destOrd="0" presId="urn:microsoft.com/office/officeart/2005/8/layout/cycle6"/>
    <dgm:cxn modelId="{1FEEB8FE-23CB-415C-A0BF-4B48D34DD663}" type="presOf" srcId="{50A2E25B-D0A9-437D-9767-84872DD2625D}" destId="{4E3BB357-1501-4432-A9A2-E699F344F756}" srcOrd="0" destOrd="0" presId="urn:microsoft.com/office/officeart/2005/8/layout/cycle6"/>
    <dgm:cxn modelId="{EE23AB14-9151-4D59-A408-1B1A352726FA}" type="presParOf" srcId="{D96F5415-542E-4C01-B84C-631CB43A98F1}" destId="{0A971159-2FA5-49F8-9379-7DFDEC522630}" srcOrd="0" destOrd="0" presId="urn:microsoft.com/office/officeart/2005/8/layout/cycle6"/>
    <dgm:cxn modelId="{2D971C38-B6AC-4BD9-96AE-FF9EB863EAED}" type="presParOf" srcId="{D96F5415-542E-4C01-B84C-631CB43A98F1}" destId="{ABCB961D-9714-46CE-8A43-7E7D9239E90D}" srcOrd="1" destOrd="0" presId="urn:microsoft.com/office/officeart/2005/8/layout/cycle6"/>
    <dgm:cxn modelId="{B316E018-5F39-40AD-B3D0-8C3E0E079097}" type="presParOf" srcId="{D96F5415-542E-4C01-B84C-631CB43A98F1}" destId="{5DAFF906-88C4-40C6-B6A8-F32251651E77}" srcOrd="2" destOrd="0" presId="urn:microsoft.com/office/officeart/2005/8/layout/cycle6"/>
    <dgm:cxn modelId="{6F2D5906-8F9A-482C-9449-E6307E638251}" type="presParOf" srcId="{D96F5415-542E-4C01-B84C-631CB43A98F1}" destId="{915311B5-19A6-4DFB-BB07-40FB8DC75694}" srcOrd="3" destOrd="0" presId="urn:microsoft.com/office/officeart/2005/8/layout/cycle6"/>
    <dgm:cxn modelId="{9CC01D7B-9726-44DF-B2E7-764191E45E96}" type="presParOf" srcId="{D96F5415-542E-4C01-B84C-631CB43A98F1}" destId="{16637554-0651-47F4-BCD0-42775E58BEEE}" srcOrd="4" destOrd="0" presId="urn:microsoft.com/office/officeart/2005/8/layout/cycle6"/>
    <dgm:cxn modelId="{A4F30427-BCFF-4688-865D-05D0FAB3FC72}" type="presParOf" srcId="{D96F5415-542E-4C01-B84C-631CB43A98F1}" destId="{260B3A5C-B4DF-4637-AAD0-5A1939C13163}" srcOrd="5" destOrd="0" presId="urn:microsoft.com/office/officeart/2005/8/layout/cycle6"/>
    <dgm:cxn modelId="{003E16C6-8C32-4F15-A6CA-0BB3FB6CD862}" type="presParOf" srcId="{D96F5415-542E-4C01-B84C-631CB43A98F1}" destId="{4E3BB357-1501-4432-A9A2-E699F344F756}" srcOrd="6" destOrd="0" presId="urn:microsoft.com/office/officeart/2005/8/layout/cycle6"/>
    <dgm:cxn modelId="{74B4E4AC-2C9C-4E03-9943-21458DB03172}" type="presParOf" srcId="{D96F5415-542E-4C01-B84C-631CB43A98F1}" destId="{A3410190-38BE-4402-9CFF-3B2EEB2D664F}" srcOrd="7" destOrd="0" presId="urn:microsoft.com/office/officeart/2005/8/layout/cycle6"/>
    <dgm:cxn modelId="{46C7300F-7F55-4432-AFF8-6ABFA586079D}" type="presParOf" srcId="{D96F5415-542E-4C01-B84C-631CB43A98F1}" destId="{EA345D5A-595B-4FF0-B478-25F4B45C5BA1}" srcOrd="8" destOrd="0" presId="urn:microsoft.com/office/officeart/2005/8/layout/cycle6"/>
  </dgm:cxnLst>
  <dgm:bg/>
  <dgm:whole>
    <a:ln w="38100"/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971159-2FA5-49F8-9379-7DFDEC522630}">
      <dsp:nvSpPr>
        <dsp:cNvPr id="0" name=""/>
        <dsp:cNvSpPr/>
      </dsp:nvSpPr>
      <dsp:spPr>
        <a:xfrm>
          <a:off x="2924457" y="109079"/>
          <a:ext cx="2279085" cy="732567"/>
        </a:xfrm>
        <a:prstGeom prst="roundRect">
          <a:avLst/>
        </a:prstGeom>
        <a:solidFill>
          <a:schemeClr val="tx1">
            <a:lumMod val="50000"/>
          </a:schemeClr>
        </a:solidFill>
        <a:ln w="381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 dirty="0"/>
            <a:t>Attitude</a:t>
          </a:r>
          <a:br>
            <a:rPr lang="de-DE" sz="1800" kern="1200" dirty="0"/>
          </a:br>
          <a:r>
            <a:rPr lang="de-DE" sz="1800" kern="1200" dirty="0"/>
            <a:t>Parameterisation</a:t>
          </a:r>
          <a:endParaRPr lang="en-US" sz="1800" kern="1200" dirty="0"/>
        </a:p>
      </dsp:txBody>
      <dsp:txXfrm>
        <a:off x="2960218" y="144840"/>
        <a:ext cx="2207563" cy="661045"/>
      </dsp:txXfrm>
    </dsp:sp>
    <dsp:sp modelId="{5DAFF906-88C4-40C6-B6A8-F32251651E77}">
      <dsp:nvSpPr>
        <dsp:cNvPr id="0" name=""/>
        <dsp:cNvSpPr/>
      </dsp:nvSpPr>
      <dsp:spPr>
        <a:xfrm>
          <a:off x="1838755" y="475363"/>
          <a:ext cx="4450488" cy="4450488"/>
        </a:xfrm>
        <a:custGeom>
          <a:avLst/>
          <a:gdLst/>
          <a:ahLst/>
          <a:cxnLst/>
          <a:rect l="0" t="0" r="0" b="0"/>
          <a:pathLst>
            <a:path>
              <a:moveTo>
                <a:pt x="3370611" y="317406"/>
              </a:moveTo>
              <a:arcTo wR="2225244" hR="2225244" stAng="18058706" swAng="1031693"/>
            </a:path>
          </a:pathLst>
        </a:custGeom>
        <a:noFill/>
        <a:ln w="381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0CC6FAE-BB9B-4A74-8211-2E5AE5EA582F}">
      <dsp:nvSpPr>
        <dsp:cNvPr id="0" name=""/>
        <dsp:cNvSpPr/>
      </dsp:nvSpPr>
      <dsp:spPr>
        <a:xfrm>
          <a:off x="4851575" y="1221702"/>
          <a:ext cx="2279085" cy="732567"/>
        </a:xfrm>
        <a:prstGeom prst="roundRect">
          <a:avLst/>
        </a:prstGeom>
        <a:solidFill>
          <a:schemeClr val="tx1">
            <a:lumMod val="50000"/>
          </a:schemeClr>
        </a:solidFill>
        <a:ln w="381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 dirty="0"/>
            <a:t>Dynamics</a:t>
          </a:r>
          <a:br>
            <a:rPr lang="de-DE" sz="1800" kern="1200" dirty="0"/>
          </a:br>
          <a:r>
            <a:rPr lang="de-DE" sz="1800" kern="1200" dirty="0"/>
            <a:t>Formulation</a:t>
          </a:r>
          <a:endParaRPr lang="en-US" sz="1800" kern="1200" dirty="0"/>
        </a:p>
      </dsp:txBody>
      <dsp:txXfrm>
        <a:off x="4887336" y="1257463"/>
        <a:ext cx="2207563" cy="661045"/>
      </dsp:txXfrm>
    </dsp:sp>
    <dsp:sp modelId="{B3C5F432-E9C3-4B94-BC8E-336DAFB3DEEB}">
      <dsp:nvSpPr>
        <dsp:cNvPr id="0" name=""/>
        <dsp:cNvSpPr/>
      </dsp:nvSpPr>
      <dsp:spPr>
        <a:xfrm>
          <a:off x="1838755" y="475363"/>
          <a:ext cx="4450488" cy="4450488"/>
        </a:xfrm>
        <a:custGeom>
          <a:avLst/>
          <a:gdLst/>
          <a:ahLst/>
          <a:cxnLst/>
          <a:rect l="0" t="0" r="0" b="0"/>
          <a:pathLst>
            <a:path>
              <a:moveTo>
                <a:pt x="4326555" y="1492984"/>
              </a:moveTo>
              <a:arcTo wR="2225244" hR="2225244" stAng="20447262" swAng="2305476"/>
            </a:path>
          </a:pathLst>
        </a:custGeom>
        <a:noFill/>
        <a:ln w="381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2450E01-B5BB-4596-AA84-C6B68BA22E17}">
      <dsp:nvSpPr>
        <dsp:cNvPr id="0" name=""/>
        <dsp:cNvSpPr/>
      </dsp:nvSpPr>
      <dsp:spPr>
        <a:xfrm>
          <a:off x="4851575" y="3446946"/>
          <a:ext cx="2279085" cy="732567"/>
        </a:xfrm>
        <a:prstGeom prst="roundRect">
          <a:avLst/>
        </a:prstGeom>
        <a:solidFill>
          <a:schemeClr val="tx1">
            <a:lumMod val="50000"/>
          </a:schemeClr>
        </a:solidFill>
        <a:ln w="381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 dirty="0"/>
            <a:t>Control</a:t>
          </a:r>
          <a:br>
            <a:rPr lang="de-DE" sz="1800" kern="1200" dirty="0"/>
          </a:br>
          <a:r>
            <a:rPr lang="de-DE" sz="1800" kern="1200" dirty="0"/>
            <a:t>Parameterisation</a:t>
          </a:r>
          <a:endParaRPr lang="en-US" sz="1800" kern="1200" dirty="0"/>
        </a:p>
      </dsp:txBody>
      <dsp:txXfrm>
        <a:off x="4887336" y="3482707"/>
        <a:ext cx="2207563" cy="661045"/>
      </dsp:txXfrm>
    </dsp:sp>
    <dsp:sp modelId="{B35B1855-F262-43FF-894C-A1EE99B468B4}">
      <dsp:nvSpPr>
        <dsp:cNvPr id="0" name=""/>
        <dsp:cNvSpPr/>
      </dsp:nvSpPr>
      <dsp:spPr>
        <a:xfrm>
          <a:off x="1838755" y="475363"/>
          <a:ext cx="4450488" cy="4450488"/>
        </a:xfrm>
        <a:custGeom>
          <a:avLst/>
          <a:gdLst/>
          <a:ahLst/>
          <a:cxnLst/>
          <a:rect l="0" t="0" r="0" b="0"/>
          <a:pathLst>
            <a:path>
              <a:moveTo>
                <a:pt x="3883419" y="3709214"/>
              </a:moveTo>
              <a:arcTo wR="2225244" hR="2225244" stAng="2509602" swAng="1031693"/>
            </a:path>
          </a:pathLst>
        </a:custGeom>
        <a:noFill/>
        <a:ln w="381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44B9DB0-22E3-4707-B3E4-E1543465D50B}">
      <dsp:nvSpPr>
        <dsp:cNvPr id="0" name=""/>
        <dsp:cNvSpPr/>
      </dsp:nvSpPr>
      <dsp:spPr>
        <a:xfrm>
          <a:off x="2924457" y="4559568"/>
          <a:ext cx="2279085" cy="732567"/>
        </a:xfrm>
        <a:prstGeom prst="roundRect">
          <a:avLst/>
        </a:prstGeom>
        <a:solidFill>
          <a:schemeClr val="tx1">
            <a:lumMod val="50000"/>
          </a:schemeClr>
        </a:solidFill>
        <a:ln w="381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 dirty="0"/>
            <a:t>Optimisation</a:t>
          </a:r>
          <a:br>
            <a:rPr lang="de-DE" sz="1800" kern="1200" dirty="0"/>
          </a:br>
          <a:r>
            <a:rPr lang="de-DE" sz="1800" kern="1200" dirty="0"/>
            <a:t>Methodology</a:t>
          </a:r>
          <a:endParaRPr lang="en-US" sz="1800" kern="1200" dirty="0"/>
        </a:p>
      </dsp:txBody>
      <dsp:txXfrm>
        <a:off x="2960218" y="4595329"/>
        <a:ext cx="2207563" cy="661045"/>
      </dsp:txXfrm>
    </dsp:sp>
    <dsp:sp modelId="{786B7CA3-072A-477E-9BB0-5E4FFECF36A3}">
      <dsp:nvSpPr>
        <dsp:cNvPr id="0" name=""/>
        <dsp:cNvSpPr/>
      </dsp:nvSpPr>
      <dsp:spPr>
        <a:xfrm>
          <a:off x="1838755" y="475363"/>
          <a:ext cx="4450488" cy="4450488"/>
        </a:xfrm>
        <a:custGeom>
          <a:avLst/>
          <a:gdLst/>
          <a:ahLst/>
          <a:cxnLst/>
          <a:rect l="0" t="0" r="0" b="0"/>
          <a:pathLst>
            <a:path>
              <a:moveTo>
                <a:pt x="1079877" y="4133082"/>
              </a:moveTo>
              <a:arcTo wR="2225244" hR="2225244" stAng="7258706" swAng="1031693"/>
            </a:path>
          </a:pathLst>
        </a:custGeom>
        <a:noFill/>
        <a:ln w="381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15311B5-19A6-4DFB-BB07-40FB8DC75694}">
      <dsp:nvSpPr>
        <dsp:cNvPr id="0" name=""/>
        <dsp:cNvSpPr/>
      </dsp:nvSpPr>
      <dsp:spPr>
        <a:xfrm>
          <a:off x="997338" y="3446946"/>
          <a:ext cx="2279085" cy="732567"/>
        </a:xfrm>
        <a:prstGeom prst="roundRect">
          <a:avLst/>
        </a:prstGeom>
        <a:solidFill>
          <a:schemeClr val="tx1">
            <a:lumMod val="50000"/>
          </a:schemeClr>
        </a:solidFill>
        <a:ln w="381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 dirty="0"/>
            <a:t>Computational</a:t>
          </a:r>
          <a:br>
            <a:rPr lang="de-DE" sz="1800" kern="1200" dirty="0"/>
          </a:br>
          <a:r>
            <a:rPr lang="de-DE" sz="1800" kern="1200" dirty="0"/>
            <a:t>Framework</a:t>
          </a:r>
          <a:endParaRPr lang="en-US" sz="1800" kern="1200" dirty="0"/>
        </a:p>
      </dsp:txBody>
      <dsp:txXfrm>
        <a:off x="1033099" y="3482707"/>
        <a:ext cx="2207563" cy="661045"/>
      </dsp:txXfrm>
    </dsp:sp>
    <dsp:sp modelId="{260B3A5C-B4DF-4637-AAD0-5A1939C13163}">
      <dsp:nvSpPr>
        <dsp:cNvPr id="0" name=""/>
        <dsp:cNvSpPr/>
      </dsp:nvSpPr>
      <dsp:spPr>
        <a:xfrm>
          <a:off x="1838755" y="475363"/>
          <a:ext cx="4450488" cy="4450488"/>
        </a:xfrm>
        <a:custGeom>
          <a:avLst/>
          <a:gdLst/>
          <a:ahLst/>
          <a:cxnLst/>
          <a:rect l="0" t="0" r="0" b="0"/>
          <a:pathLst>
            <a:path>
              <a:moveTo>
                <a:pt x="123933" y="2957504"/>
              </a:moveTo>
              <a:arcTo wR="2225244" hR="2225244" stAng="9647262" swAng="2305476"/>
            </a:path>
          </a:pathLst>
        </a:custGeom>
        <a:noFill/>
        <a:ln w="381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E3BB357-1501-4432-A9A2-E699F344F756}">
      <dsp:nvSpPr>
        <dsp:cNvPr id="0" name=""/>
        <dsp:cNvSpPr/>
      </dsp:nvSpPr>
      <dsp:spPr>
        <a:xfrm>
          <a:off x="997338" y="1221702"/>
          <a:ext cx="2279085" cy="732567"/>
        </a:xfrm>
        <a:prstGeom prst="roundRect">
          <a:avLst/>
        </a:prstGeom>
        <a:solidFill>
          <a:schemeClr val="tx1">
            <a:lumMod val="50000"/>
          </a:schemeClr>
        </a:solidFill>
        <a:ln w="381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 dirty="0"/>
            <a:t>NLP</a:t>
          </a:r>
          <a:br>
            <a:rPr lang="de-DE" sz="1800" kern="1200" dirty="0"/>
          </a:br>
          <a:r>
            <a:rPr lang="de-DE" sz="1800" kern="1200" dirty="0"/>
            <a:t>Solver</a:t>
          </a:r>
          <a:endParaRPr lang="en-US" sz="1800" kern="1200" dirty="0"/>
        </a:p>
      </dsp:txBody>
      <dsp:txXfrm>
        <a:off x="1033099" y="1257463"/>
        <a:ext cx="2207563" cy="661045"/>
      </dsp:txXfrm>
    </dsp:sp>
    <dsp:sp modelId="{EA345D5A-595B-4FF0-B478-25F4B45C5BA1}">
      <dsp:nvSpPr>
        <dsp:cNvPr id="0" name=""/>
        <dsp:cNvSpPr/>
      </dsp:nvSpPr>
      <dsp:spPr>
        <a:xfrm>
          <a:off x="1838755" y="475363"/>
          <a:ext cx="4450488" cy="4450488"/>
        </a:xfrm>
        <a:custGeom>
          <a:avLst/>
          <a:gdLst/>
          <a:ahLst/>
          <a:cxnLst/>
          <a:rect l="0" t="0" r="0" b="0"/>
          <a:pathLst>
            <a:path>
              <a:moveTo>
                <a:pt x="567069" y="741274"/>
              </a:moveTo>
              <a:arcTo wR="2225244" hR="2225244" stAng="13309602" swAng="1031693"/>
            </a:path>
          </a:pathLst>
        </a:custGeom>
        <a:noFill/>
        <a:ln w="381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971159-2FA5-49F8-9379-7DFDEC522630}">
      <dsp:nvSpPr>
        <dsp:cNvPr id="0" name=""/>
        <dsp:cNvSpPr/>
      </dsp:nvSpPr>
      <dsp:spPr>
        <a:xfrm>
          <a:off x="2924457" y="109079"/>
          <a:ext cx="2279085" cy="732567"/>
        </a:xfrm>
        <a:prstGeom prst="roundRect">
          <a:avLst/>
        </a:prstGeom>
        <a:solidFill>
          <a:srgbClr val="7030A0"/>
        </a:solidFill>
        <a:ln w="381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 dirty="0"/>
            <a:t>Attitude</a:t>
          </a:r>
          <a:br>
            <a:rPr lang="de-DE" sz="1800" kern="1200" dirty="0"/>
          </a:br>
          <a:r>
            <a:rPr lang="de-DE" sz="1800" kern="1200" dirty="0"/>
            <a:t>Parameterisation</a:t>
          </a:r>
          <a:endParaRPr lang="en-US" sz="1800" kern="1200" dirty="0"/>
        </a:p>
      </dsp:txBody>
      <dsp:txXfrm>
        <a:off x="2960218" y="144840"/>
        <a:ext cx="2207563" cy="661045"/>
      </dsp:txXfrm>
    </dsp:sp>
    <dsp:sp modelId="{5DAFF906-88C4-40C6-B6A8-F32251651E77}">
      <dsp:nvSpPr>
        <dsp:cNvPr id="0" name=""/>
        <dsp:cNvSpPr/>
      </dsp:nvSpPr>
      <dsp:spPr>
        <a:xfrm>
          <a:off x="1838755" y="475363"/>
          <a:ext cx="4450488" cy="4450488"/>
        </a:xfrm>
        <a:custGeom>
          <a:avLst/>
          <a:gdLst/>
          <a:ahLst/>
          <a:cxnLst/>
          <a:rect l="0" t="0" r="0" b="0"/>
          <a:pathLst>
            <a:path>
              <a:moveTo>
                <a:pt x="3370611" y="317406"/>
              </a:moveTo>
              <a:arcTo wR="2225244" hR="2225244" stAng="18058706" swAng="1031693"/>
            </a:path>
          </a:pathLst>
        </a:custGeom>
        <a:noFill/>
        <a:ln w="381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0CC6FAE-BB9B-4A74-8211-2E5AE5EA582F}">
      <dsp:nvSpPr>
        <dsp:cNvPr id="0" name=""/>
        <dsp:cNvSpPr/>
      </dsp:nvSpPr>
      <dsp:spPr>
        <a:xfrm>
          <a:off x="4851575" y="1221702"/>
          <a:ext cx="2279085" cy="732567"/>
        </a:xfrm>
        <a:prstGeom prst="roundRect">
          <a:avLst/>
        </a:prstGeom>
        <a:solidFill>
          <a:schemeClr val="tx1">
            <a:lumMod val="50000"/>
          </a:schemeClr>
        </a:solidFill>
        <a:ln w="381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 dirty="0"/>
            <a:t>Dynamics</a:t>
          </a:r>
          <a:br>
            <a:rPr lang="de-DE" sz="1800" kern="1200" dirty="0"/>
          </a:br>
          <a:r>
            <a:rPr lang="de-DE" sz="1800" kern="1200" dirty="0"/>
            <a:t>Formulation</a:t>
          </a:r>
          <a:endParaRPr lang="en-US" sz="1800" kern="1200" dirty="0"/>
        </a:p>
      </dsp:txBody>
      <dsp:txXfrm>
        <a:off x="4887336" y="1257463"/>
        <a:ext cx="2207563" cy="661045"/>
      </dsp:txXfrm>
    </dsp:sp>
    <dsp:sp modelId="{B3C5F432-E9C3-4B94-BC8E-336DAFB3DEEB}">
      <dsp:nvSpPr>
        <dsp:cNvPr id="0" name=""/>
        <dsp:cNvSpPr/>
      </dsp:nvSpPr>
      <dsp:spPr>
        <a:xfrm>
          <a:off x="1838755" y="475363"/>
          <a:ext cx="4450488" cy="4450488"/>
        </a:xfrm>
        <a:custGeom>
          <a:avLst/>
          <a:gdLst/>
          <a:ahLst/>
          <a:cxnLst/>
          <a:rect l="0" t="0" r="0" b="0"/>
          <a:pathLst>
            <a:path>
              <a:moveTo>
                <a:pt x="4326555" y="1492984"/>
              </a:moveTo>
              <a:arcTo wR="2225244" hR="2225244" stAng="20447262" swAng="2305476"/>
            </a:path>
          </a:pathLst>
        </a:custGeom>
        <a:noFill/>
        <a:ln w="381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2450E01-B5BB-4596-AA84-C6B68BA22E17}">
      <dsp:nvSpPr>
        <dsp:cNvPr id="0" name=""/>
        <dsp:cNvSpPr/>
      </dsp:nvSpPr>
      <dsp:spPr>
        <a:xfrm>
          <a:off x="4851575" y="3446946"/>
          <a:ext cx="2279085" cy="732567"/>
        </a:xfrm>
        <a:prstGeom prst="roundRect">
          <a:avLst/>
        </a:prstGeom>
        <a:solidFill>
          <a:schemeClr val="tx1">
            <a:lumMod val="50000"/>
          </a:schemeClr>
        </a:solidFill>
        <a:ln w="381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 dirty="0"/>
            <a:t>Control</a:t>
          </a:r>
          <a:br>
            <a:rPr lang="de-DE" sz="1800" kern="1200" dirty="0"/>
          </a:br>
          <a:r>
            <a:rPr lang="de-DE" sz="1800" kern="1200" dirty="0"/>
            <a:t>Parameterisation</a:t>
          </a:r>
          <a:endParaRPr lang="en-US" sz="1800" kern="1200" dirty="0"/>
        </a:p>
      </dsp:txBody>
      <dsp:txXfrm>
        <a:off x="4887336" y="3482707"/>
        <a:ext cx="2207563" cy="661045"/>
      </dsp:txXfrm>
    </dsp:sp>
    <dsp:sp modelId="{B35B1855-F262-43FF-894C-A1EE99B468B4}">
      <dsp:nvSpPr>
        <dsp:cNvPr id="0" name=""/>
        <dsp:cNvSpPr/>
      </dsp:nvSpPr>
      <dsp:spPr>
        <a:xfrm>
          <a:off x="1838755" y="475363"/>
          <a:ext cx="4450488" cy="4450488"/>
        </a:xfrm>
        <a:custGeom>
          <a:avLst/>
          <a:gdLst/>
          <a:ahLst/>
          <a:cxnLst/>
          <a:rect l="0" t="0" r="0" b="0"/>
          <a:pathLst>
            <a:path>
              <a:moveTo>
                <a:pt x="3883419" y="3709214"/>
              </a:moveTo>
              <a:arcTo wR="2225244" hR="2225244" stAng="2509602" swAng="1031693"/>
            </a:path>
          </a:pathLst>
        </a:custGeom>
        <a:noFill/>
        <a:ln w="381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44B9DB0-22E3-4707-B3E4-E1543465D50B}">
      <dsp:nvSpPr>
        <dsp:cNvPr id="0" name=""/>
        <dsp:cNvSpPr/>
      </dsp:nvSpPr>
      <dsp:spPr>
        <a:xfrm>
          <a:off x="2924457" y="4559568"/>
          <a:ext cx="2279085" cy="732567"/>
        </a:xfrm>
        <a:prstGeom prst="roundRect">
          <a:avLst/>
        </a:prstGeom>
        <a:solidFill>
          <a:schemeClr val="tx1">
            <a:lumMod val="50000"/>
          </a:schemeClr>
        </a:solidFill>
        <a:ln w="381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 dirty="0"/>
            <a:t>Optimisation</a:t>
          </a:r>
          <a:br>
            <a:rPr lang="de-DE" sz="1800" kern="1200" dirty="0"/>
          </a:br>
          <a:r>
            <a:rPr lang="de-DE" sz="1800" kern="1200" dirty="0"/>
            <a:t>Methodology</a:t>
          </a:r>
          <a:endParaRPr lang="en-US" sz="1800" kern="1200" dirty="0"/>
        </a:p>
      </dsp:txBody>
      <dsp:txXfrm>
        <a:off x="2960218" y="4595329"/>
        <a:ext cx="2207563" cy="661045"/>
      </dsp:txXfrm>
    </dsp:sp>
    <dsp:sp modelId="{786B7CA3-072A-477E-9BB0-5E4FFECF36A3}">
      <dsp:nvSpPr>
        <dsp:cNvPr id="0" name=""/>
        <dsp:cNvSpPr/>
      </dsp:nvSpPr>
      <dsp:spPr>
        <a:xfrm>
          <a:off x="1838755" y="475363"/>
          <a:ext cx="4450488" cy="4450488"/>
        </a:xfrm>
        <a:custGeom>
          <a:avLst/>
          <a:gdLst/>
          <a:ahLst/>
          <a:cxnLst/>
          <a:rect l="0" t="0" r="0" b="0"/>
          <a:pathLst>
            <a:path>
              <a:moveTo>
                <a:pt x="1079877" y="4133082"/>
              </a:moveTo>
              <a:arcTo wR="2225244" hR="2225244" stAng="7258706" swAng="1031693"/>
            </a:path>
          </a:pathLst>
        </a:custGeom>
        <a:noFill/>
        <a:ln w="381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15311B5-19A6-4DFB-BB07-40FB8DC75694}">
      <dsp:nvSpPr>
        <dsp:cNvPr id="0" name=""/>
        <dsp:cNvSpPr/>
      </dsp:nvSpPr>
      <dsp:spPr>
        <a:xfrm>
          <a:off x="997338" y="3446946"/>
          <a:ext cx="2279085" cy="732567"/>
        </a:xfrm>
        <a:prstGeom prst="roundRect">
          <a:avLst/>
        </a:prstGeom>
        <a:solidFill>
          <a:schemeClr val="tx1">
            <a:lumMod val="50000"/>
          </a:schemeClr>
        </a:solidFill>
        <a:ln w="381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 dirty="0"/>
            <a:t>Computational</a:t>
          </a:r>
          <a:br>
            <a:rPr lang="de-DE" sz="1800" kern="1200" dirty="0"/>
          </a:br>
          <a:r>
            <a:rPr lang="de-DE" sz="1800" kern="1200" dirty="0"/>
            <a:t>Framework</a:t>
          </a:r>
          <a:endParaRPr lang="en-US" sz="1800" kern="1200" dirty="0"/>
        </a:p>
      </dsp:txBody>
      <dsp:txXfrm>
        <a:off x="1033099" y="3482707"/>
        <a:ext cx="2207563" cy="661045"/>
      </dsp:txXfrm>
    </dsp:sp>
    <dsp:sp modelId="{260B3A5C-B4DF-4637-AAD0-5A1939C13163}">
      <dsp:nvSpPr>
        <dsp:cNvPr id="0" name=""/>
        <dsp:cNvSpPr/>
      </dsp:nvSpPr>
      <dsp:spPr>
        <a:xfrm>
          <a:off x="1838755" y="475363"/>
          <a:ext cx="4450488" cy="4450488"/>
        </a:xfrm>
        <a:custGeom>
          <a:avLst/>
          <a:gdLst/>
          <a:ahLst/>
          <a:cxnLst/>
          <a:rect l="0" t="0" r="0" b="0"/>
          <a:pathLst>
            <a:path>
              <a:moveTo>
                <a:pt x="123933" y="2957504"/>
              </a:moveTo>
              <a:arcTo wR="2225244" hR="2225244" stAng="9647262" swAng="2305476"/>
            </a:path>
          </a:pathLst>
        </a:custGeom>
        <a:noFill/>
        <a:ln w="381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E3BB357-1501-4432-A9A2-E699F344F756}">
      <dsp:nvSpPr>
        <dsp:cNvPr id="0" name=""/>
        <dsp:cNvSpPr/>
      </dsp:nvSpPr>
      <dsp:spPr>
        <a:xfrm>
          <a:off x="997338" y="1221702"/>
          <a:ext cx="2279085" cy="732567"/>
        </a:xfrm>
        <a:prstGeom prst="roundRect">
          <a:avLst/>
        </a:prstGeom>
        <a:solidFill>
          <a:schemeClr val="tx1">
            <a:lumMod val="50000"/>
          </a:schemeClr>
        </a:solidFill>
        <a:ln w="381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 dirty="0"/>
            <a:t>NLP</a:t>
          </a:r>
          <a:br>
            <a:rPr lang="de-DE" sz="1800" kern="1200" dirty="0"/>
          </a:br>
          <a:r>
            <a:rPr lang="de-DE" sz="1800" kern="1200" dirty="0"/>
            <a:t>Solver</a:t>
          </a:r>
          <a:endParaRPr lang="en-US" sz="1800" kern="1200" dirty="0"/>
        </a:p>
      </dsp:txBody>
      <dsp:txXfrm>
        <a:off x="1033099" y="1257463"/>
        <a:ext cx="2207563" cy="661045"/>
      </dsp:txXfrm>
    </dsp:sp>
    <dsp:sp modelId="{EA345D5A-595B-4FF0-B478-25F4B45C5BA1}">
      <dsp:nvSpPr>
        <dsp:cNvPr id="0" name=""/>
        <dsp:cNvSpPr/>
      </dsp:nvSpPr>
      <dsp:spPr>
        <a:xfrm>
          <a:off x="1838755" y="475363"/>
          <a:ext cx="4450488" cy="4450488"/>
        </a:xfrm>
        <a:custGeom>
          <a:avLst/>
          <a:gdLst/>
          <a:ahLst/>
          <a:cxnLst/>
          <a:rect l="0" t="0" r="0" b="0"/>
          <a:pathLst>
            <a:path>
              <a:moveTo>
                <a:pt x="567069" y="741274"/>
              </a:moveTo>
              <a:arcTo wR="2225244" hR="2225244" stAng="13309602" swAng="1031693"/>
            </a:path>
          </a:pathLst>
        </a:custGeom>
        <a:noFill/>
        <a:ln w="381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971159-2FA5-49F8-9379-7DFDEC522630}">
      <dsp:nvSpPr>
        <dsp:cNvPr id="0" name=""/>
        <dsp:cNvSpPr/>
      </dsp:nvSpPr>
      <dsp:spPr>
        <a:xfrm>
          <a:off x="2924457" y="109079"/>
          <a:ext cx="2279085" cy="732567"/>
        </a:xfrm>
        <a:prstGeom prst="roundRect">
          <a:avLst/>
        </a:prstGeom>
        <a:solidFill>
          <a:schemeClr val="bg1">
            <a:lumMod val="50000"/>
          </a:schemeClr>
        </a:solidFill>
        <a:ln w="381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 dirty="0"/>
            <a:t>Attitude</a:t>
          </a:r>
          <a:br>
            <a:rPr lang="de-DE" sz="1800" kern="1200" dirty="0"/>
          </a:br>
          <a:r>
            <a:rPr lang="de-DE" sz="1800" kern="1200" dirty="0"/>
            <a:t>Parameterisation</a:t>
          </a:r>
          <a:endParaRPr lang="en-US" sz="1800" kern="1200" dirty="0"/>
        </a:p>
      </dsp:txBody>
      <dsp:txXfrm>
        <a:off x="2960218" y="144840"/>
        <a:ext cx="2207563" cy="661045"/>
      </dsp:txXfrm>
    </dsp:sp>
    <dsp:sp modelId="{5DAFF906-88C4-40C6-B6A8-F32251651E77}">
      <dsp:nvSpPr>
        <dsp:cNvPr id="0" name=""/>
        <dsp:cNvSpPr/>
      </dsp:nvSpPr>
      <dsp:spPr>
        <a:xfrm>
          <a:off x="1838755" y="475363"/>
          <a:ext cx="4450488" cy="4450488"/>
        </a:xfrm>
        <a:custGeom>
          <a:avLst/>
          <a:gdLst/>
          <a:ahLst/>
          <a:cxnLst/>
          <a:rect l="0" t="0" r="0" b="0"/>
          <a:pathLst>
            <a:path>
              <a:moveTo>
                <a:pt x="3370611" y="317406"/>
              </a:moveTo>
              <a:arcTo wR="2225244" hR="2225244" stAng="18058706" swAng="1031693"/>
            </a:path>
          </a:pathLst>
        </a:custGeom>
        <a:noFill/>
        <a:ln w="381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0CC6FAE-BB9B-4A74-8211-2E5AE5EA582F}">
      <dsp:nvSpPr>
        <dsp:cNvPr id="0" name=""/>
        <dsp:cNvSpPr/>
      </dsp:nvSpPr>
      <dsp:spPr>
        <a:xfrm>
          <a:off x="4851575" y="1221702"/>
          <a:ext cx="2279085" cy="732567"/>
        </a:xfrm>
        <a:prstGeom prst="roundRect">
          <a:avLst/>
        </a:prstGeom>
        <a:solidFill>
          <a:srgbClr val="7030A0"/>
        </a:solidFill>
        <a:ln w="381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 dirty="0"/>
            <a:t>Dynamics</a:t>
          </a:r>
          <a:br>
            <a:rPr lang="de-DE" sz="1800" kern="1200" dirty="0"/>
          </a:br>
          <a:r>
            <a:rPr lang="de-DE" sz="1800" kern="1200" dirty="0"/>
            <a:t>Formulation</a:t>
          </a:r>
          <a:endParaRPr lang="en-US" sz="1800" kern="1200" dirty="0"/>
        </a:p>
      </dsp:txBody>
      <dsp:txXfrm>
        <a:off x="4887336" y="1257463"/>
        <a:ext cx="2207563" cy="661045"/>
      </dsp:txXfrm>
    </dsp:sp>
    <dsp:sp modelId="{B3C5F432-E9C3-4B94-BC8E-336DAFB3DEEB}">
      <dsp:nvSpPr>
        <dsp:cNvPr id="0" name=""/>
        <dsp:cNvSpPr/>
      </dsp:nvSpPr>
      <dsp:spPr>
        <a:xfrm>
          <a:off x="1838755" y="475363"/>
          <a:ext cx="4450488" cy="4450488"/>
        </a:xfrm>
        <a:custGeom>
          <a:avLst/>
          <a:gdLst/>
          <a:ahLst/>
          <a:cxnLst/>
          <a:rect l="0" t="0" r="0" b="0"/>
          <a:pathLst>
            <a:path>
              <a:moveTo>
                <a:pt x="4326555" y="1492984"/>
              </a:moveTo>
              <a:arcTo wR="2225244" hR="2225244" stAng="20447262" swAng="2305476"/>
            </a:path>
          </a:pathLst>
        </a:custGeom>
        <a:noFill/>
        <a:ln w="381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2450E01-B5BB-4596-AA84-C6B68BA22E17}">
      <dsp:nvSpPr>
        <dsp:cNvPr id="0" name=""/>
        <dsp:cNvSpPr/>
      </dsp:nvSpPr>
      <dsp:spPr>
        <a:xfrm>
          <a:off x="4851575" y="3446946"/>
          <a:ext cx="2279085" cy="732567"/>
        </a:xfrm>
        <a:prstGeom prst="roundRect">
          <a:avLst/>
        </a:prstGeom>
        <a:solidFill>
          <a:schemeClr val="tx1">
            <a:lumMod val="50000"/>
          </a:schemeClr>
        </a:solidFill>
        <a:ln w="381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 dirty="0"/>
            <a:t>Control</a:t>
          </a:r>
          <a:br>
            <a:rPr lang="de-DE" sz="1800" kern="1200" dirty="0"/>
          </a:br>
          <a:r>
            <a:rPr lang="de-DE" sz="1800" kern="1200" dirty="0"/>
            <a:t>Parameterisation</a:t>
          </a:r>
          <a:endParaRPr lang="en-US" sz="1800" kern="1200" dirty="0"/>
        </a:p>
      </dsp:txBody>
      <dsp:txXfrm>
        <a:off x="4887336" y="3482707"/>
        <a:ext cx="2207563" cy="661045"/>
      </dsp:txXfrm>
    </dsp:sp>
    <dsp:sp modelId="{B35B1855-F262-43FF-894C-A1EE99B468B4}">
      <dsp:nvSpPr>
        <dsp:cNvPr id="0" name=""/>
        <dsp:cNvSpPr/>
      </dsp:nvSpPr>
      <dsp:spPr>
        <a:xfrm>
          <a:off x="1838755" y="475363"/>
          <a:ext cx="4450488" cy="4450488"/>
        </a:xfrm>
        <a:custGeom>
          <a:avLst/>
          <a:gdLst/>
          <a:ahLst/>
          <a:cxnLst/>
          <a:rect l="0" t="0" r="0" b="0"/>
          <a:pathLst>
            <a:path>
              <a:moveTo>
                <a:pt x="3883419" y="3709214"/>
              </a:moveTo>
              <a:arcTo wR="2225244" hR="2225244" stAng="2509602" swAng="1031693"/>
            </a:path>
          </a:pathLst>
        </a:custGeom>
        <a:noFill/>
        <a:ln w="381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44B9DB0-22E3-4707-B3E4-E1543465D50B}">
      <dsp:nvSpPr>
        <dsp:cNvPr id="0" name=""/>
        <dsp:cNvSpPr/>
      </dsp:nvSpPr>
      <dsp:spPr>
        <a:xfrm>
          <a:off x="2924457" y="4559568"/>
          <a:ext cx="2279085" cy="732567"/>
        </a:xfrm>
        <a:prstGeom prst="roundRect">
          <a:avLst/>
        </a:prstGeom>
        <a:solidFill>
          <a:schemeClr val="tx1">
            <a:lumMod val="50000"/>
          </a:schemeClr>
        </a:solidFill>
        <a:ln w="381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 dirty="0"/>
            <a:t>Optimisation</a:t>
          </a:r>
          <a:br>
            <a:rPr lang="de-DE" sz="1800" kern="1200" dirty="0"/>
          </a:br>
          <a:r>
            <a:rPr lang="de-DE" sz="1800" kern="1200" dirty="0"/>
            <a:t>Methodology</a:t>
          </a:r>
          <a:endParaRPr lang="en-US" sz="1800" kern="1200" dirty="0"/>
        </a:p>
      </dsp:txBody>
      <dsp:txXfrm>
        <a:off x="2960218" y="4595329"/>
        <a:ext cx="2207563" cy="661045"/>
      </dsp:txXfrm>
    </dsp:sp>
    <dsp:sp modelId="{786B7CA3-072A-477E-9BB0-5E4FFECF36A3}">
      <dsp:nvSpPr>
        <dsp:cNvPr id="0" name=""/>
        <dsp:cNvSpPr/>
      </dsp:nvSpPr>
      <dsp:spPr>
        <a:xfrm>
          <a:off x="1838755" y="475363"/>
          <a:ext cx="4450488" cy="4450488"/>
        </a:xfrm>
        <a:custGeom>
          <a:avLst/>
          <a:gdLst/>
          <a:ahLst/>
          <a:cxnLst/>
          <a:rect l="0" t="0" r="0" b="0"/>
          <a:pathLst>
            <a:path>
              <a:moveTo>
                <a:pt x="1079877" y="4133082"/>
              </a:moveTo>
              <a:arcTo wR="2225244" hR="2225244" stAng="7258706" swAng="1031693"/>
            </a:path>
          </a:pathLst>
        </a:custGeom>
        <a:noFill/>
        <a:ln w="381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15311B5-19A6-4DFB-BB07-40FB8DC75694}">
      <dsp:nvSpPr>
        <dsp:cNvPr id="0" name=""/>
        <dsp:cNvSpPr/>
      </dsp:nvSpPr>
      <dsp:spPr>
        <a:xfrm>
          <a:off x="997338" y="3446946"/>
          <a:ext cx="2279085" cy="732567"/>
        </a:xfrm>
        <a:prstGeom prst="roundRect">
          <a:avLst/>
        </a:prstGeom>
        <a:solidFill>
          <a:schemeClr val="tx1">
            <a:lumMod val="50000"/>
          </a:schemeClr>
        </a:solidFill>
        <a:ln w="381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 dirty="0"/>
            <a:t>Computational</a:t>
          </a:r>
          <a:br>
            <a:rPr lang="de-DE" sz="1800" kern="1200" dirty="0"/>
          </a:br>
          <a:r>
            <a:rPr lang="de-DE" sz="1800" kern="1200" dirty="0"/>
            <a:t>Framework</a:t>
          </a:r>
          <a:endParaRPr lang="en-US" sz="1800" kern="1200" dirty="0"/>
        </a:p>
      </dsp:txBody>
      <dsp:txXfrm>
        <a:off x="1033099" y="3482707"/>
        <a:ext cx="2207563" cy="661045"/>
      </dsp:txXfrm>
    </dsp:sp>
    <dsp:sp modelId="{260B3A5C-B4DF-4637-AAD0-5A1939C13163}">
      <dsp:nvSpPr>
        <dsp:cNvPr id="0" name=""/>
        <dsp:cNvSpPr/>
      </dsp:nvSpPr>
      <dsp:spPr>
        <a:xfrm>
          <a:off x="1838755" y="475363"/>
          <a:ext cx="4450488" cy="4450488"/>
        </a:xfrm>
        <a:custGeom>
          <a:avLst/>
          <a:gdLst/>
          <a:ahLst/>
          <a:cxnLst/>
          <a:rect l="0" t="0" r="0" b="0"/>
          <a:pathLst>
            <a:path>
              <a:moveTo>
                <a:pt x="123933" y="2957504"/>
              </a:moveTo>
              <a:arcTo wR="2225244" hR="2225244" stAng="9647262" swAng="2305476"/>
            </a:path>
          </a:pathLst>
        </a:custGeom>
        <a:noFill/>
        <a:ln w="381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E3BB357-1501-4432-A9A2-E699F344F756}">
      <dsp:nvSpPr>
        <dsp:cNvPr id="0" name=""/>
        <dsp:cNvSpPr/>
      </dsp:nvSpPr>
      <dsp:spPr>
        <a:xfrm>
          <a:off x="997338" y="1221702"/>
          <a:ext cx="2279085" cy="732567"/>
        </a:xfrm>
        <a:prstGeom prst="roundRect">
          <a:avLst/>
        </a:prstGeom>
        <a:solidFill>
          <a:schemeClr val="tx1">
            <a:lumMod val="50000"/>
          </a:schemeClr>
        </a:solidFill>
        <a:ln w="381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 dirty="0"/>
            <a:t>NLP</a:t>
          </a:r>
          <a:br>
            <a:rPr lang="de-DE" sz="1800" kern="1200" dirty="0"/>
          </a:br>
          <a:r>
            <a:rPr lang="de-DE" sz="1800" kern="1200" dirty="0"/>
            <a:t>Solver</a:t>
          </a:r>
          <a:endParaRPr lang="en-US" sz="1800" kern="1200" dirty="0"/>
        </a:p>
      </dsp:txBody>
      <dsp:txXfrm>
        <a:off x="1033099" y="1257463"/>
        <a:ext cx="2207563" cy="661045"/>
      </dsp:txXfrm>
    </dsp:sp>
    <dsp:sp modelId="{EA345D5A-595B-4FF0-B478-25F4B45C5BA1}">
      <dsp:nvSpPr>
        <dsp:cNvPr id="0" name=""/>
        <dsp:cNvSpPr/>
      </dsp:nvSpPr>
      <dsp:spPr>
        <a:xfrm>
          <a:off x="1838755" y="475363"/>
          <a:ext cx="4450488" cy="4450488"/>
        </a:xfrm>
        <a:custGeom>
          <a:avLst/>
          <a:gdLst/>
          <a:ahLst/>
          <a:cxnLst/>
          <a:rect l="0" t="0" r="0" b="0"/>
          <a:pathLst>
            <a:path>
              <a:moveTo>
                <a:pt x="567069" y="741274"/>
              </a:moveTo>
              <a:arcTo wR="2225244" hR="2225244" stAng="13309602" swAng="1031693"/>
            </a:path>
          </a:pathLst>
        </a:custGeom>
        <a:noFill/>
        <a:ln w="381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971159-2FA5-49F8-9379-7DFDEC522630}">
      <dsp:nvSpPr>
        <dsp:cNvPr id="0" name=""/>
        <dsp:cNvSpPr/>
      </dsp:nvSpPr>
      <dsp:spPr>
        <a:xfrm>
          <a:off x="2924457" y="109079"/>
          <a:ext cx="2279085" cy="732567"/>
        </a:xfrm>
        <a:prstGeom prst="roundRect">
          <a:avLst/>
        </a:prstGeom>
        <a:solidFill>
          <a:schemeClr val="bg1">
            <a:lumMod val="50000"/>
          </a:schemeClr>
        </a:solidFill>
        <a:ln w="381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 dirty="0"/>
            <a:t>Attitude</a:t>
          </a:r>
          <a:br>
            <a:rPr lang="de-DE" sz="1800" kern="1200" dirty="0"/>
          </a:br>
          <a:r>
            <a:rPr lang="de-DE" sz="1800" kern="1200" dirty="0"/>
            <a:t>Parameterisation</a:t>
          </a:r>
          <a:endParaRPr lang="en-US" sz="1800" kern="1200" dirty="0"/>
        </a:p>
      </dsp:txBody>
      <dsp:txXfrm>
        <a:off x="2960218" y="144840"/>
        <a:ext cx="2207563" cy="661045"/>
      </dsp:txXfrm>
    </dsp:sp>
    <dsp:sp modelId="{5DAFF906-88C4-40C6-B6A8-F32251651E77}">
      <dsp:nvSpPr>
        <dsp:cNvPr id="0" name=""/>
        <dsp:cNvSpPr/>
      </dsp:nvSpPr>
      <dsp:spPr>
        <a:xfrm>
          <a:off x="1838755" y="475363"/>
          <a:ext cx="4450488" cy="4450488"/>
        </a:xfrm>
        <a:custGeom>
          <a:avLst/>
          <a:gdLst/>
          <a:ahLst/>
          <a:cxnLst/>
          <a:rect l="0" t="0" r="0" b="0"/>
          <a:pathLst>
            <a:path>
              <a:moveTo>
                <a:pt x="3370611" y="317406"/>
              </a:moveTo>
              <a:arcTo wR="2225244" hR="2225244" stAng="18058706" swAng="1031693"/>
            </a:path>
          </a:pathLst>
        </a:custGeom>
        <a:noFill/>
        <a:ln w="381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0CC6FAE-BB9B-4A74-8211-2E5AE5EA582F}">
      <dsp:nvSpPr>
        <dsp:cNvPr id="0" name=""/>
        <dsp:cNvSpPr/>
      </dsp:nvSpPr>
      <dsp:spPr>
        <a:xfrm>
          <a:off x="4851575" y="1221702"/>
          <a:ext cx="2279085" cy="732567"/>
        </a:xfrm>
        <a:prstGeom prst="roundRect">
          <a:avLst/>
        </a:prstGeom>
        <a:solidFill>
          <a:schemeClr val="tx1">
            <a:lumMod val="50000"/>
          </a:schemeClr>
        </a:solidFill>
        <a:ln w="381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 dirty="0"/>
            <a:t>Dynamics</a:t>
          </a:r>
          <a:br>
            <a:rPr lang="de-DE" sz="1800" kern="1200" dirty="0"/>
          </a:br>
          <a:r>
            <a:rPr lang="de-DE" sz="1800" kern="1200" dirty="0"/>
            <a:t>Formulation</a:t>
          </a:r>
          <a:endParaRPr lang="en-US" sz="1800" kern="1200" dirty="0"/>
        </a:p>
      </dsp:txBody>
      <dsp:txXfrm>
        <a:off x="4887336" y="1257463"/>
        <a:ext cx="2207563" cy="661045"/>
      </dsp:txXfrm>
    </dsp:sp>
    <dsp:sp modelId="{B3C5F432-E9C3-4B94-BC8E-336DAFB3DEEB}">
      <dsp:nvSpPr>
        <dsp:cNvPr id="0" name=""/>
        <dsp:cNvSpPr/>
      </dsp:nvSpPr>
      <dsp:spPr>
        <a:xfrm>
          <a:off x="1838755" y="475363"/>
          <a:ext cx="4450488" cy="4450488"/>
        </a:xfrm>
        <a:custGeom>
          <a:avLst/>
          <a:gdLst/>
          <a:ahLst/>
          <a:cxnLst/>
          <a:rect l="0" t="0" r="0" b="0"/>
          <a:pathLst>
            <a:path>
              <a:moveTo>
                <a:pt x="4326555" y="1492984"/>
              </a:moveTo>
              <a:arcTo wR="2225244" hR="2225244" stAng="20447262" swAng="2305476"/>
            </a:path>
          </a:pathLst>
        </a:custGeom>
        <a:noFill/>
        <a:ln w="381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2450E01-B5BB-4596-AA84-C6B68BA22E17}">
      <dsp:nvSpPr>
        <dsp:cNvPr id="0" name=""/>
        <dsp:cNvSpPr/>
      </dsp:nvSpPr>
      <dsp:spPr>
        <a:xfrm>
          <a:off x="4851575" y="3446946"/>
          <a:ext cx="2279085" cy="732567"/>
        </a:xfrm>
        <a:prstGeom prst="roundRect">
          <a:avLst/>
        </a:prstGeom>
        <a:solidFill>
          <a:srgbClr val="7030A0"/>
        </a:solidFill>
        <a:ln w="381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 dirty="0"/>
            <a:t>Control</a:t>
          </a:r>
          <a:br>
            <a:rPr lang="de-DE" sz="1800" kern="1200" dirty="0"/>
          </a:br>
          <a:r>
            <a:rPr lang="de-DE" sz="1800" kern="1200" dirty="0"/>
            <a:t>Parameterisation</a:t>
          </a:r>
          <a:endParaRPr lang="en-US" sz="1800" kern="1200" dirty="0"/>
        </a:p>
      </dsp:txBody>
      <dsp:txXfrm>
        <a:off x="4887336" y="3482707"/>
        <a:ext cx="2207563" cy="661045"/>
      </dsp:txXfrm>
    </dsp:sp>
    <dsp:sp modelId="{B35B1855-F262-43FF-894C-A1EE99B468B4}">
      <dsp:nvSpPr>
        <dsp:cNvPr id="0" name=""/>
        <dsp:cNvSpPr/>
      </dsp:nvSpPr>
      <dsp:spPr>
        <a:xfrm>
          <a:off x="1838755" y="475363"/>
          <a:ext cx="4450488" cy="4450488"/>
        </a:xfrm>
        <a:custGeom>
          <a:avLst/>
          <a:gdLst/>
          <a:ahLst/>
          <a:cxnLst/>
          <a:rect l="0" t="0" r="0" b="0"/>
          <a:pathLst>
            <a:path>
              <a:moveTo>
                <a:pt x="3883419" y="3709214"/>
              </a:moveTo>
              <a:arcTo wR="2225244" hR="2225244" stAng="2509602" swAng="1031693"/>
            </a:path>
          </a:pathLst>
        </a:custGeom>
        <a:noFill/>
        <a:ln w="381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44B9DB0-22E3-4707-B3E4-E1543465D50B}">
      <dsp:nvSpPr>
        <dsp:cNvPr id="0" name=""/>
        <dsp:cNvSpPr/>
      </dsp:nvSpPr>
      <dsp:spPr>
        <a:xfrm>
          <a:off x="2924457" y="4559568"/>
          <a:ext cx="2279085" cy="732567"/>
        </a:xfrm>
        <a:prstGeom prst="roundRect">
          <a:avLst/>
        </a:prstGeom>
        <a:solidFill>
          <a:schemeClr val="tx1">
            <a:lumMod val="50000"/>
          </a:schemeClr>
        </a:solidFill>
        <a:ln w="381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 dirty="0"/>
            <a:t>Optimisation</a:t>
          </a:r>
          <a:br>
            <a:rPr lang="de-DE" sz="1800" kern="1200" dirty="0"/>
          </a:br>
          <a:r>
            <a:rPr lang="de-DE" sz="1800" kern="1200" dirty="0"/>
            <a:t>Methodology</a:t>
          </a:r>
          <a:endParaRPr lang="en-US" sz="1800" kern="1200" dirty="0"/>
        </a:p>
      </dsp:txBody>
      <dsp:txXfrm>
        <a:off x="2960218" y="4595329"/>
        <a:ext cx="2207563" cy="661045"/>
      </dsp:txXfrm>
    </dsp:sp>
    <dsp:sp modelId="{786B7CA3-072A-477E-9BB0-5E4FFECF36A3}">
      <dsp:nvSpPr>
        <dsp:cNvPr id="0" name=""/>
        <dsp:cNvSpPr/>
      </dsp:nvSpPr>
      <dsp:spPr>
        <a:xfrm>
          <a:off x="1838755" y="475363"/>
          <a:ext cx="4450488" cy="4450488"/>
        </a:xfrm>
        <a:custGeom>
          <a:avLst/>
          <a:gdLst/>
          <a:ahLst/>
          <a:cxnLst/>
          <a:rect l="0" t="0" r="0" b="0"/>
          <a:pathLst>
            <a:path>
              <a:moveTo>
                <a:pt x="1079877" y="4133082"/>
              </a:moveTo>
              <a:arcTo wR="2225244" hR="2225244" stAng="7258706" swAng="1031693"/>
            </a:path>
          </a:pathLst>
        </a:custGeom>
        <a:noFill/>
        <a:ln w="381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15311B5-19A6-4DFB-BB07-40FB8DC75694}">
      <dsp:nvSpPr>
        <dsp:cNvPr id="0" name=""/>
        <dsp:cNvSpPr/>
      </dsp:nvSpPr>
      <dsp:spPr>
        <a:xfrm>
          <a:off x="997338" y="3446946"/>
          <a:ext cx="2279085" cy="732567"/>
        </a:xfrm>
        <a:prstGeom prst="roundRect">
          <a:avLst/>
        </a:prstGeom>
        <a:solidFill>
          <a:schemeClr val="tx1">
            <a:lumMod val="50000"/>
          </a:schemeClr>
        </a:solidFill>
        <a:ln w="381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 dirty="0"/>
            <a:t>Computational</a:t>
          </a:r>
          <a:br>
            <a:rPr lang="de-DE" sz="1800" kern="1200" dirty="0"/>
          </a:br>
          <a:r>
            <a:rPr lang="de-DE" sz="1800" kern="1200" dirty="0"/>
            <a:t>Framework</a:t>
          </a:r>
          <a:endParaRPr lang="en-US" sz="1800" kern="1200" dirty="0"/>
        </a:p>
      </dsp:txBody>
      <dsp:txXfrm>
        <a:off x="1033099" y="3482707"/>
        <a:ext cx="2207563" cy="661045"/>
      </dsp:txXfrm>
    </dsp:sp>
    <dsp:sp modelId="{260B3A5C-B4DF-4637-AAD0-5A1939C13163}">
      <dsp:nvSpPr>
        <dsp:cNvPr id="0" name=""/>
        <dsp:cNvSpPr/>
      </dsp:nvSpPr>
      <dsp:spPr>
        <a:xfrm>
          <a:off x="1838755" y="475363"/>
          <a:ext cx="4450488" cy="4450488"/>
        </a:xfrm>
        <a:custGeom>
          <a:avLst/>
          <a:gdLst/>
          <a:ahLst/>
          <a:cxnLst/>
          <a:rect l="0" t="0" r="0" b="0"/>
          <a:pathLst>
            <a:path>
              <a:moveTo>
                <a:pt x="123933" y="2957504"/>
              </a:moveTo>
              <a:arcTo wR="2225244" hR="2225244" stAng="9647262" swAng="2305476"/>
            </a:path>
          </a:pathLst>
        </a:custGeom>
        <a:noFill/>
        <a:ln w="381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E3BB357-1501-4432-A9A2-E699F344F756}">
      <dsp:nvSpPr>
        <dsp:cNvPr id="0" name=""/>
        <dsp:cNvSpPr/>
      </dsp:nvSpPr>
      <dsp:spPr>
        <a:xfrm>
          <a:off x="997338" y="1221702"/>
          <a:ext cx="2279085" cy="732567"/>
        </a:xfrm>
        <a:prstGeom prst="roundRect">
          <a:avLst/>
        </a:prstGeom>
        <a:solidFill>
          <a:schemeClr val="tx1">
            <a:lumMod val="50000"/>
          </a:schemeClr>
        </a:solidFill>
        <a:ln w="381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 dirty="0"/>
            <a:t>NLP</a:t>
          </a:r>
          <a:br>
            <a:rPr lang="de-DE" sz="1800" kern="1200" dirty="0"/>
          </a:br>
          <a:r>
            <a:rPr lang="de-DE" sz="1800" kern="1200" dirty="0"/>
            <a:t>Solver</a:t>
          </a:r>
          <a:endParaRPr lang="en-US" sz="1800" kern="1200" dirty="0"/>
        </a:p>
      </dsp:txBody>
      <dsp:txXfrm>
        <a:off x="1033099" y="1257463"/>
        <a:ext cx="2207563" cy="661045"/>
      </dsp:txXfrm>
    </dsp:sp>
    <dsp:sp modelId="{EA345D5A-595B-4FF0-B478-25F4B45C5BA1}">
      <dsp:nvSpPr>
        <dsp:cNvPr id="0" name=""/>
        <dsp:cNvSpPr/>
      </dsp:nvSpPr>
      <dsp:spPr>
        <a:xfrm>
          <a:off x="1838755" y="475363"/>
          <a:ext cx="4450488" cy="4450488"/>
        </a:xfrm>
        <a:custGeom>
          <a:avLst/>
          <a:gdLst/>
          <a:ahLst/>
          <a:cxnLst/>
          <a:rect l="0" t="0" r="0" b="0"/>
          <a:pathLst>
            <a:path>
              <a:moveTo>
                <a:pt x="567069" y="741274"/>
              </a:moveTo>
              <a:arcTo wR="2225244" hR="2225244" stAng="13309602" swAng="1031693"/>
            </a:path>
          </a:pathLst>
        </a:custGeom>
        <a:noFill/>
        <a:ln w="381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971159-2FA5-49F8-9379-7DFDEC522630}">
      <dsp:nvSpPr>
        <dsp:cNvPr id="0" name=""/>
        <dsp:cNvSpPr/>
      </dsp:nvSpPr>
      <dsp:spPr>
        <a:xfrm>
          <a:off x="2924457" y="109079"/>
          <a:ext cx="2279085" cy="732567"/>
        </a:xfrm>
        <a:prstGeom prst="roundRect">
          <a:avLst/>
        </a:prstGeom>
        <a:solidFill>
          <a:schemeClr val="bg1">
            <a:lumMod val="50000"/>
          </a:schemeClr>
        </a:solidFill>
        <a:ln w="381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 dirty="0"/>
            <a:t>Attitude</a:t>
          </a:r>
          <a:br>
            <a:rPr lang="de-DE" sz="1800" kern="1200" dirty="0"/>
          </a:br>
          <a:r>
            <a:rPr lang="de-DE" sz="1800" kern="1200" dirty="0"/>
            <a:t>Parameterisation</a:t>
          </a:r>
          <a:endParaRPr lang="en-US" sz="1800" kern="1200" dirty="0"/>
        </a:p>
      </dsp:txBody>
      <dsp:txXfrm>
        <a:off x="2960218" y="144840"/>
        <a:ext cx="2207563" cy="661045"/>
      </dsp:txXfrm>
    </dsp:sp>
    <dsp:sp modelId="{5DAFF906-88C4-40C6-B6A8-F32251651E77}">
      <dsp:nvSpPr>
        <dsp:cNvPr id="0" name=""/>
        <dsp:cNvSpPr/>
      </dsp:nvSpPr>
      <dsp:spPr>
        <a:xfrm>
          <a:off x="1838755" y="475363"/>
          <a:ext cx="4450488" cy="4450488"/>
        </a:xfrm>
        <a:custGeom>
          <a:avLst/>
          <a:gdLst/>
          <a:ahLst/>
          <a:cxnLst/>
          <a:rect l="0" t="0" r="0" b="0"/>
          <a:pathLst>
            <a:path>
              <a:moveTo>
                <a:pt x="3370611" y="317406"/>
              </a:moveTo>
              <a:arcTo wR="2225244" hR="2225244" stAng="18058706" swAng="1031693"/>
            </a:path>
          </a:pathLst>
        </a:custGeom>
        <a:noFill/>
        <a:ln w="381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0CC6FAE-BB9B-4A74-8211-2E5AE5EA582F}">
      <dsp:nvSpPr>
        <dsp:cNvPr id="0" name=""/>
        <dsp:cNvSpPr/>
      </dsp:nvSpPr>
      <dsp:spPr>
        <a:xfrm>
          <a:off x="4851575" y="1221702"/>
          <a:ext cx="2279085" cy="732567"/>
        </a:xfrm>
        <a:prstGeom prst="roundRect">
          <a:avLst/>
        </a:prstGeom>
        <a:solidFill>
          <a:schemeClr val="tx1">
            <a:lumMod val="50000"/>
          </a:schemeClr>
        </a:solidFill>
        <a:ln w="381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 dirty="0"/>
            <a:t>Dynamics</a:t>
          </a:r>
          <a:br>
            <a:rPr lang="de-DE" sz="1800" kern="1200" dirty="0"/>
          </a:br>
          <a:r>
            <a:rPr lang="de-DE" sz="1800" kern="1200" dirty="0"/>
            <a:t>Formulation</a:t>
          </a:r>
          <a:endParaRPr lang="en-US" sz="1800" kern="1200" dirty="0"/>
        </a:p>
      </dsp:txBody>
      <dsp:txXfrm>
        <a:off x="4887336" y="1257463"/>
        <a:ext cx="2207563" cy="661045"/>
      </dsp:txXfrm>
    </dsp:sp>
    <dsp:sp modelId="{B3C5F432-E9C3-4B94-BC8E-336DAFB3DEEB}">
      <dsp:nvSpPr>
        <dsp:cNvPr id="0" name=""/>
        <dsp:cNvSpPr/>
      </dsp:nvSpPr>
      <dsp:spPr>
        <a:xfrm>
          <a:off x="1838755" y="475363"/>
          <a:ext cx="4450488" cy="4450488"/>
        </a:xfrm>
        <a:custGeom>
          <a:avLst/>
          <a:gdLst/>
          <a:ahLst/>
          <a:cxnLst/>
          <a:rect l="0" t="0" r="0" b="0"/>
          <a:pathLst>
            <a:path>
              <a:moveTo>
                <a:pt x="4326555" y="1492984"/>
              </a:moveTo>
              <a:arcTo wR="2225244" hR="2225244" stAng="20447262" swAng="2305476"/>
            </a:path>
          </a:pathLst>
        </a:custGeom>
        <a:noFill/>
        <a:ln w="381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2450E01-B5BB-4596-AA84-C6B68BA22E17}">
      <dsp:nvSpPr>
        <dsp:cNvPr id="0" name=""/>
        <dsp:cNvSpPr/>
      </dsp:nvSpPr>
      <dsp:spPr>
        <a:xfrm>
          <a:off x="4851575" y="3446946"/>
          <a:ext cx="2279085" cy="732567"/>
        </a:xfrm>
        <a:prstGeom prst="roundRect">
          <a:avLst/>
        </a:prstGeom>
        <a:solidFill>
          <a:schemeClr val="tx1">
            <a:lumMod val="50000"/>
          </a:schemeClr>
        </a:solidFill>
        <a:ln w="381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 dirty="0"/>
            <a:t>Control</a:t>
          </a:r>
          <a:br>
            <a:rPr lang="de-DE" sz="1800" kern="1200" dirty="0"/>
          </a:br>
          <a:r>
            <a:rPr lang="de-DE" sz="1800" kern="1200" dirty="0"/>
            <a:t>Parameterisation</a:t>
          </a:r>
          <a:endParaRPr lang="en-US" sz="1800" kern="1200" dirty="0"/>
        </a:p>
      </dsp:txBody>
      <dsp:txXfrm>
        <a:off x="4887336" y="3482707"/>
        <a:ext cx="2207563" cy="661045"/>
      </dsp:txXfrm>
    </dsp:sp>
    <dsp:sp modelId="{B35B1855-F262-43FF-894C-A1EE99B468B4}">
      <dsp:nvSpPr>
        <dsp:cNvPr id="0" name=""/>
        <dsp:cNvSpPr/>
      </dsp:nvSpPr>
      <dsp:spPr>
        <a:xfrm>
          <a:off x="1838755" y="475363"/>
          <a:ext cx="4450488" cy="4450488"/>
        </a:xfrm>
        <a:custGeom>
          <a:avLst/>
          <a:gdLst/>
          <a:ahLst/>
          <a:cxnLst/>
          <a:rect l="0" t="0" r="0" b="0"/>
          <a:pathLst>
            <a:path>
              <a:moveTo>
                <a:pt x="3883419" y="3709214"/>
              </a:moveTo>
              <a:arcTo wR="2225244" hR="2225244" stAng="2509602" swAng="1031693"/>
            </a:path>
          </a:pathLst>
        </a:custGeom>
        <a:noFill/>
        <a:ln w="381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44B9DB0-22E3-4707-B3E4-E1543465D50B}">
      <dsp:nvSpPr>
        <dsp:cNvPr id="0" name=""/>
        <dsp:cNvSpPr/>
      </dsp:nvSpPr>
      <dsp:spPr>
        <a:xfrm>
          <a:off x="2924457" y="4559568"/>
          <a:ext cx="2279085" cy="732567"/>
        </a:xfrm>
        <a:prstGeom prst="roundRect">
          <a:avLst/>
        </a:prstGeom>
        <a:solidFill>
          <a:srgbClr val="7030A0"/>
        </a:solidFill>
        <a:ln w="381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 dirty="0"/>
            <a:t>Optimisation</a:t>
          </a:r>
          <a:br>
            <a:rPr lang="de-DE" sz="1800" kern="1200" dirty="0"/>
          </a:br>
          <a:r>
            <a:rPr lang="de-DE" sz="1800" kern="1200" dirty="0"/>
            <a:t>Methodology</a:t>
          </a:r>
          <a:endParaRPr lang="en-US" sz="1800" kern="1200" dirty="0"/>
        </a:p>
      </dsp:txBody>
      <dsp:txXfrm>
        <a:off x="2960218" y="4595329"/>
        <a:ext cx="2207563" cy="661045"/>
      </dsp:txXfrm>
    </dsp:sp>
    <dsp:sp modelId="{786B7CA3-072A-477E-9BB0-5E4FFECF36A3}">
      <dsp:nvSpPr>
        <dsp:cNvPr id="0" name=""/>
        <dsp:cNvSpPr/>
      </dsp:nvSpPr>
      <dsp:spPr>
        <a:xfrm>
          <a:off x="1838755" y="475363"/>
          <a:ext cx="4450488" cy="4450488"/>
        </a:xfrm>
        <a:custGeom>
          <a:avLst/>
          <a:gdLst/>
          <a:ahLst/>
          <a:cxnLst/>
          <a:rect l="0" t="0" r="0" b="0"/>
          <a:pathLst>
            <a:path>
              <a:moveTo>
                <a:pt x="1079877" y="4133082"/>
              </a:moveTo>
              <a:arcTo wR="2225244" hR="2225244" stAng="7258706" swAng="1031693"/>
            </a:path>
          </a:pathLst>
        </a:custGeom>
        <a:noFill/>
        <a:ln w="381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15311B5-19A6-4DFB-BB07-40FB8DC75694}">
      <dsp:nvSpPr>
        <dsp:cNvPr id="0" name=""/>
        <dsp:cNvSpPr/>
      </dsp:nvSpPr>
      <dsp:spPr>
        <a:xfrm>
          <a:off x="997338" y="3446946"/>
          <a:ext cx="2279085" cy="732567"/>
        </a:xfrm>
        <a:prstGeom prst="roundRect">
          <a:avLst/>
        </a:prstGeom>
        <a:solidFill>
          <a:schemeClr val="tx1">
            <a:lumMod val="50000"/>
          </a:schemeClr>
        </a:solidFill>
        <a:ln w="381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 dirty="0"/>
            <a:t>Computational</a:t>
          </a:r>
          <a:br>
            <a:rPr lang="de-DE" sz="1800" kern="1200" dirty="0"/>
          </a:br>
          <a:r>
            <a:rPr lang="de-DE" sz="1800" kern="1200" dirty="0"/>
            <a:t>Framework</a:t>
          </a:r>
          <a:endParaRPr lang="en-US" sz="1800" kern="1200" dirty="0"/>
        </a:p>
      </dsp:txBody>
      <dsp:txXfrm>
        <a:off x="1033099" y="3482707"/>
        <a:ext cx="2207563" cy="661045"/>
      </dsp:txXfrm>
    </dsp:sp>
    <dsp:sp modelId="{260B3A5C-B4DF-4637-AAD0-5A1939C13163}">
      <dsp:nvSpPr>
        <dsp:cNvPr id="0" name=""/>
        <dsp:cNvSpPr/>
      </dsp:nvSpPr>
      <dsp:spPr>
        <a:xfrm>
          <a:off x="1838755" y="475363"/>
          <a:ext cx="4450488" cy="4450488"/>
        </a:xfrm>
        <a:custGeom>
          <a:avLst/>
          <a:gdLst/>
          <a:ahLst/>
          <a:cxnLst/>
          <a:rect l="0" t="0" r="0" b="0"/>
          <a:pathLst>
            <a:path>
              <a:moveTo>
                <a:pt x="123933" y="2957504"/>
              </a:moveTo>
              <a:arcTo wR="2225244" hR="2225244" stAng="9647262" swAng="2305476"/>
            </a:path>
          </a:pathLst>
        </a:custGeom>
        <a:noFill/>
        <a:ln w="381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E3BB357-1501-4432-A9A2-E699F344F756}">
      <dsp:nvSpPr>
        <dsp:cNvPr id="0" name=""/>
        <dsp:cNvSpPr/>
      </dsp:nvSpPr>
      <dsp:spPr>
        <a:xfrm>
          <a:off x="997338" y="1221702"/>
          <a:ext cx="2279085" cy="732567"/>
        </a:xfrm>
        <a:prstGeom prst="roundRect">
          <a:avLst/>
        </a:prstGeom>
        <a:solidFill>
          <a:schemeClr val="tx1">
            <a:lumMod val="50000"/>
          </a:schemeClr>
        </a:solidFill>
        <a:ln w="381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 dirty="0"/>
            <a:t>NLP</a:t>
          </a:r>
          <a:br>
            <a:rPr lang="de-DE" sz="1800" kern="1200" dirty="0"/>
          </a:br>
          <a:r>
            <a:rPr lang="de-DE" sz="1800" kern="1200" dirty="0"/>
            <a:t>Solver</a:t>
          </a:r>
          <a:endParaRPr lang="en-US" sz="1800" kern="1200" dirty="0"/>
        </a:p>
      </dsp:txBody>
      <dsp:txXfrm>
        <a:off x="1033099" y="1257463"/>
        <a:ext cx="2207563" cy="661045"/>
      </dsp:txXfrm>
    </dsp:sp>
    <dsp:sp modelId="{EA345D5A-595B-4FF0-B478-25F4B45C5BA1}">
      <dsp:nvSpPr>
        <dsp:cNvPr id="0" name=""/>
        <dsp:cNvSpPr/>
      </dsp:nvSpPr>
      <dsp:spPr>
        <a:xfrm>
          <a:off x="1838755" y="475363"/>
          <a:ext cx="4450488" cy="4450488"/>
        </a:xfrm>
        <a:custGeom>
          <a:avLst/>
          <a:gdLst/>
          <a:ahLst/>
          <a:cxnLst/>
          <a:rect l="0" t="0" r="0" b="0"/>
          <a:pathLst>
            <a:path>
              <a:moveTo>
                <a:pt x="567069" y="741274"/>
              </a:moveTo>
              <a:arcTo wR="2225244" hR="2225244" stAng="13309602" swAng="1031693"/>
            </a:path>
          </a:pathLst>
        </a:custGeom>
        <a:noFill/>
        <a:ln w="381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971159-2FA5-49F8-9379-7DFDEC522630}">
      <dsp:nvSpPr>
        <dsp:cNvPr id="0" name=""/>
        <dsp:cNvSpPr/>
      </dsp:nvSpPr>
      <dsp:spPr>
        <a:xfrm>
          <a:off x="2924457" y="109079"/>
          <a:ext cx="2279085" cy="732567"/>
        </a:xfrm>
        <a:prstGeom prst="roundRect">
          <a:avLst/>
        </a:prstGeom>
        <a:solidFill>
          <a:schemeClr val="bg1">
            <a:lumMod val="50000"/>
          </a:schemeClr>
        </a:solidFill>
        <a:ln w="381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 dirty="0"/>
            <a:t>Attitude</a:t>
          </a:r>
          <a:br>
            <a:rPr lang="de-DE" sz="1800" kern="1200" dirty="0"/>
          </a:br>
          <a:r>
            <a:rPr lang="de-DE" sz="1800" kern="1200" dirty="0"/>
            <a:t>Parameterisation</a:t>
          </a:r>
          <a:endParaRPr lang="en-US" sz="1800" kern="1200" dirty="0"/>
        </a:p>
      </dsp:txBody>
      <dsp:txXfrm>
        <a:off x="2960218" y="144840"/>
        <a:ext cx="2207563" cy="661045"/>
      </dsp:txXfrm>
    </dsp:sp>
    <dsp:sp modelId="{5DAFF906-88C4-40C6-B6A8-F32251651E77}">
      <dsp:nvSpPr>
        <dsp:cNvPr id="0" name=""/>
        <dsp:cNvSpPr/>
      </dsp:nvSpPr>
      <dsp:spPr>
        <a:xfrm>
          <a:off x="1838755" y="475363"/>
          <a:ext cx="4450488" cy="4450488"/>
        </a:xfrm>
        <a:custGeom>
          <a:avLst/>
          <a:gdLst/>
          <a:ahLst/>
          <a:cxnLst/>
          <a:rect l="0" t="0" r="0" b="0"/>
          <a:pathLst>
            <a:path>
              <a:moveTo>
                <a:pt x="3370611" y="317406"/>
              </a:moveTo>
              <a:arcTo wR="2225244" hR="2225244" stAng="18058706" swAng="1031693"/>
            </a:path>
          </a:pathLst>
        </a:custGeom>
        <a:noFill/>
        <a:ln w="381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0CC6FAE-BB9B-4A74-8211-2E5AE5EA582F}">
      <dsp:nvSpPr>
        <dsp:cNvPr id="0" name=""/>
        <dsp:cNvSpPr/>
      </dsp:nvSpPr>
      <dsp:spPr>
        <a:xfrm>
          <a:off x="4851575" y="1221702"/>
          <a:ext cx="2279085" cy="732567"/>
        </a:xfrm>
        <a:prstGeom prst="roundRect">
          <a:avLst/>
        </a:prstGeom>
        <a:solidFill>
          <a:schemeClr val="tx1">
            <a:lumMod val="50000"/>
          </a:schemeClr>
        </a:solidFill>
        <a:ln w="381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 dirty="0"/>
            <a:t>Dynamics</a:t>
          </a:r>
          <a:br>
            <a:rPr lang="de-DE" sz="1800" kern="1200" dirty="0"/>
          </a:br>
          <a:r>
            <a:rPr lang="de-DE" sz="1800" kern="1200" dirty="0"/>
            <a:t>Formulation</a:t>
          </a:r>
          <a:endParaRPr lang="en-US" sz="1800" kern="1200" dirty="0"/>
        </a:p>
      </dsp:txBody>
      <dsp:txXfrm>
        <a:off x="4887336" y="1257463"/>
        <a:ext cx="2207563" cy="661045"/>
      </dsp:txXfrm>
    </dsp:sp>
    <dsp:sp modelId="{B3C5F432-E9C3-4B94-BC8E-336DAFB3DEEB}">
      <dsp:nvSpPr>
        <dsp:cNvPr id="0" name=""/>
        <dsp:cNvSpPr/>
      </dsp:nvSpPr>
      <dsp:spPr>
        <a:xfrm>
          <a:off x="1838755" y="475363"/>
          <a:ext cx="4450488" cy="4450488"/>
        </a:xfrm>
        <a:custGeom>
          <a:avLst/>
          <a:gdLst/>
          <a:ahLst/>
          <a:cxnLst/>
          <a:rect l="0" t="0" r="0" b="0"/>
          <a:pathLst>
            <a:path>
              <a:moveTo>
                <a:pt x="4326555" y="1492984"/>
              </a:moveTo>
              <a:arcTo wR="2225244" hR="2225244" stAng="20447262" swAng="2305476"/>
            </a:path>
          </a:pathLst>
        </a:custGeom>
        <a:noFill/>
        <a:ln w="381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2450E01-B5BB-4596-AA84-C6B68BA22E17}">
      <dsp:nvSpPr>
        <dsp:cNvPr id="0" name=""/>
        <dsp:cNvSpPr/>
      </dsp:nvSpPr>
      <dsp:spPr>
        <a:xfrm>
          <a:off x="4851575" y="3446946"/>
          <a:ext cx="2279085" cy="732567"/>
        </a:xfrm>
        <a:prstGeom prst="roundRect">
          <a:avLst/>
        </a:prstGeom>
        <a:solidFill>
          <a:schemeClr val="tx1">
            <a:lumMod val="50000"/>
          </a:schemeClr>
        </a:solidFill>
        <a:ln w="381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 dirty="0"/>
            <a:t>Control</a:t>
          </a:r>
          <a:br>
            <a:rPr lang="de-DE" sz="1800" kern="1200" dirty="0"/>
          </a:br>
          <a:r>
            <a:rPr lang="de-DE" sz="1800" kern="1200" dirty="0"/>
            <a:t>Parameterisation</a:t>
          </a:r>
          <a:endParaRPr lang="en-US" sz="1800" kern="1200" dirty="0"/>
        </a:p>
      </dsp:txBody>
      <dsp:txXfrm>
        <a:off x="4887336" y="3482707"/>
        <a:ext cx="2207563" cy="661045"/>
      </dsp:txXfrm>
    </dsp:sp>
    <dsp:sp modelId="{B35B1855-F262-43FF-894C-A1EE99B468B4}">
      <dsp:nvSpPr>
        <dsp:cNvPr id="0" name=""/>
        <dsp:cNvSpPr/>
      </dsp:nvSpPr>
      <dsp:spPr>
        <a:xfrm>
          <a:off x="1838755" y="475363"/>
          <a:ext cx="4450488" cy="4450488"/>
        </a:xfrm>
        <a:custGeom>
          <a:avLst/>
          <a:gdLst/>
          <a:ahLst/>
          <a:cxnLst/>
          <a:rect l="0" t="0" r="0" b="0"/>
          <a:pathLst>
            <a:path>
              <a:moveTo>
                <a:pt x="3883419" y="3709214"/>
              </a:moveTo>
              <a:arcTo wR="2225244" hR="2225244" stAng="2509602" swAng="1031693"/>
            </a:path>
          </a:pathLst>
        </a:custGeom>
        <a:noFill/>
        <a:ln w="381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44B9DB0-22E3-4707-B3E4-E1543465D50B}">
      <dsp:nvSpPr>
        <dsp:cNvPr id="0" name=""/>
        <dsp:cNvSpPr/>
      </dsp:nvSpPr>
      <dsp:spPr>
        <a:xfrm>
          <a:off x="2924457" y="4559568"/>
          <a:ext cx="2279085" cy="732567"/>
        </a:xfrm>
        <a:prstGeom prst="roundRect">
          <a:avLst/>
        </a:prstGeom>
        <a:solidFill>
          <a:schemeClr val="bg1">
            <a:lumMod val="50000"/>
          </a:schemeClr>
        </a:solidFill>
        <a:ln w="381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 dirty="0"/>
            <a:t>Optimisation</a:t>
          </a:r>
          <a:br>
            <a:rPr lang="de-DE" sz="1800" kern="1200" dirty="0"/>
          </a:br>
          <a:r>
            <a:rPr lang="de-DE" sz="1800" kern="1200" dirty="0"/>
            <a:t>Methodology</a:t>
          </a:r>
          <a:endParaRPr lang="en-US" sz="1800" kern="1200" dirty="0"/>
        </a:p>
      </dsp:txBody>
      <dsp:txXfrm>
        <a:off x="2960218" y="4595329"/>
        <a:ext cx="2207563" cy="661045"/>
      </dsp:txXfrm>
    </dsp:sp>
    <dsp:sp modelId="{786B7CA3-072A-477E-9BB0-5E4FFECF36A3}">
      <dsp:nvSpPr>
        <dsp:cNvPr id="0" name=""/>
        <dsp:cNvSpPr/>
      </dsp:nvSpPr>
      <dsp:spPr>
        <a:xfrm>
          <a:off x="1838755" y="475363"/>
          <a:ext cx="4450488" cy="4450488"/>
        </a:xfrm>
        <a:custGeom>
          <a:avLst/>
          <a:gdLst/>
          <a:ahLst/>
          <a:cxnLst/>
          <a:rect l="0" t="0" r="0" b="0"/>
          <a:pathLst>
            <a:path>
              <a:moveTo>
                <a:pt x="1079877" y="4133082"/>
              </a:moveTo>
              <a:arcTo wR="2225244" hR="2225244" stAng="7258706" swAng="1031693"/>
            </a:path>
          </a:pathLst>
        </a:custGeom>
        <a:noFill/>
        <a:ln w="381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15311B5-19A6-4DFB-BB07-40FB8DC75694}">
      <dsp:nvSpPr>
        <dsp:cNvPr id="0" name=""/>
        <dsp:cNvSpPr/>
      </dsp:nvSpPr>
      <dsp:spPr>
        <a:xfrm>
          <a:off x="997338" y="3446946"/>
          <a:ext cx="2279085" cy="732567"/>
        </a:xfrm>
        <a:prstGeom prst="roundRect">
          <a:avLst/>
        </a:prstGeom>
        <a:solidFill>
          <a:srgbClr val="7030A0"/>
        </a:solidFill>
        <a:ln w="381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 dirty="0"/>
            <a:t>Computational</a:t>
          </a:r>
          <a:br>
            <a:rPr lang="de-DE" sz="1800" kern="1200" dirty="0"/>
          </a:br>
          <a:r>
            <a:rPr lang="de-DE" sz="1800" kern="1200" dirty="0"/>
            <a:t>Framework</a:t>
          </a:r>
          <a:endParaRPr lang="en-US" sz="1800" kern="1200" dirty="0"/>
        </a:p>
      </dsp:txBody>
      <dsp:txXfrm>
        <a:off x="1033099" y="3482707"/>
        <a:ext cx="2207563" cy="661045"/>
      </dsp:txXfrm>
    </dsp:sp>
    <dsp:sp modelId="{260B3A5C-B4DF-4637-AAD0-5A1939C13163}">
      <dsp:nvSpPr>
        <dsp:cNvPr id="0" name=""/>
        <dsp:cNvSpPr/>
      </dsp:nvSpPr>
      <dsp:spPr>
        <a:xfrm>
          <a:off x="1838755" y="475363"/>
          <a:ext cx="4450488" cy="4450488"/>
        </a:xfrm>
        <a:custGeom>
          <a:avLst/>
          <a:gdLst/>
          <a:ahLst/>
          <a:cxnLst/>
          <a:rect l="0" t="0" r="0" b="0"/>
          <a:pathLst>
            <a:path>
              <a:moveTo>
                <a:pt x="123933" y="2957504"/>
              </a:moveTo>
              <a:arcTo wR="2225244" hR="2225244" stAng="9647262" swAng="2305476"/>
            </a:path>
          </a:pathLst>
        </a:custGeom>
        <a:noFill/>
        <a:ln w="381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E3BB357-1501-4432-A9A2-E699F344F756}">
      <dsp:nvSpPr>
        <dsp:cNvPr id="0" name=""/>
        <dsp:cNvSpPr/>
      </dsp:nvSpPr>
      <dsp:spPr>
        <a:xfrm>
          <a:off x="997338" y="1221702"/>
          <a:ext cx="2279085" cy="732567"/>
        </a:xfrm>
        <a:prstGeom prst="roundRect">
          <a:avLst/>
        </a:prstGeom>
        <a:solidFill>
          <a:schemeClr val="bg1">
            <a:lumMod val="50000"/>
          </a:schemeClr>
        </a:solidFill>
        <a:ln w="381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 dirty="0"/>
            <a:t>NLP</a:t>
          </a:r>
          <a:br>
            <a:rPr lang="de-DE" sz="1800" kern="1200" dirty="0"/>
          </a:br>
          <a:r>
            <a:rPr lang="de-DE" sz="1800" kern="1200" dirty="0"/>
            <a:t>Solver</a:t>
          </a:r>
          <a:endParaRPr lang="en-US" sz="1800" kern="1200" dirty="0"/>
        </a:p>
      </dsp:txBody>
      <dsp:txXfrm>
        <a:off x="1033099" y="1257463"/>
        <a:ext cx="2207563" cy="661045"/>
      </dsp:txXfrm>
    </dsp:sp>
    <dsp:sp modelId="{EA345D5A-595B-4FF0-B478-25F4B45C5BA1}">
      <dsp:nvSpPr>
        <dsp:cNvPr id="0" name=""/>
        <dsp:cNvSpPr/>
      </dsp:nvSpPr>
      <dsp:spPr>
        <a:xfrm>
          <a:off x="1838755" y="475363"/>
          <a:ext cx="4450488" cy="4450488"/>
        </a:xfrm>
        <a:custGeom>
          <a:avLst/>
          <a:gdLst/>
          <a:ahLst/>
          <a:cxnLst/>
          <a:rect l="0" t="0" r="0" b="0"/>
          <a:pathLst>
            <a:path>
              <a:moveTo>
                <a:pt x="567069" y="741274"/>
              </a:moveTo>
              <a:arcTo wR="2225244" hR="2225244" stAng="13309602" swAng="1031693"/>
            </a:path>
          </a:pathLst>
        </a:custGeom>
        <a:noFill/>
        <a:ln w="381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971159-2FA5-49F8-9379-7DFDEC522630}">
      <dsp:nvSpPr>
        <dsp:cNvPr id="0" name=""/>
        <dsp:cNvSpPr/>
      </dsp:nvSpPr>
      <dsp:spPr>
        <a:xfrm>
          <a:off x="2924457" y="109079"/>
          <a:ext cx="2279085" cy="732567"/>
        </a:xfrm>
        <a:prstGeom prst="roundRect">
          <a:avLst/>
        </a:prstGeom>
        <a:solidFill>
          <a:schemeClr val="bg1">
            <a:lumMod val="50000"/>
          </a:schemeClr>
        </a:solidFill>
        <a:ln w="381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 dirty="0"/>
            <a:t>Attitude</a:t>
          </a:r>
          <a:br>
            <a:rPr lang="de-DE" sz="1800" kern="1200" dirty="0"/>
          </a:br>
          <a:r>
            <a:rPr lang="de-DE" sz="1800" kern="1200" dirty="0"/>
            <a:t>Parameterisation</a:t>
          </a:r>
          <a:endParaRPr lang="en-US" sz="1800" kern="1200" dirty="0"/>
        </a:p>
      </dsp:txBody>
      <dsp:txXfrm>
        <a:off x="2960218" y="144840"/>
        <a:ext cx="2207563" cy="661045"/>
      </dsp:txXfrm>
    </dsp:sp>
    <dsp:sp modelId="{5DAFF906-88C4-40C6-B6A8-F32251651E77}">
      <dsp:nvSpPr>
        <dsp:cNvPr id="0" name=""/>
        <dsp:cNvSpPr/>
      </dsp:nvSpPr>
      <dsp:spPr>
        <a:xfrm>
          <a:off x="1838755" y="475363"/>
          <a:ext cx="4450488" cy="4450488"/>
        </a:xfrm>
        <a:custGeom>
          <a:avLst/>
          <a:gdLst/>
          <a:ahLst/>
          <a:cxnLst/>
          <a:rect l="0" t="0" r="0" b="0"/>
          <a:pathLst>
            <a:path>
              <a:moveTo>
                <a:pt x="3370611" y="317406"/>
              </a:moveTo>
              <a:arcTo wR="2225244" hR="2225244" stAng="18058706" swAng="1031693"/>
            </a:path>
          </a:pathLst>
        </a:custGeom>
        <a:noFill/>
        <a:ln w="381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0CC6FAE-BB9B-4A74-8211-2E5AE5EA582F}">
      <dsp:nvSpPr>
        <dsp:cNvPr id="0" name=""/>
        <dsp:cNvSpPr/>
      </dsp:nvSpPr>
      <dsp:spPr>
        <a:xfrm>
          <a:off x="4851575" y="1221702"/>
          <a:ext cx="2279085" cy="732567"/>
        </a:xfrm>
        <a:prstGeom prst="roundRect">
          <a:avLst/>
        </a:prstGeom>
        <a:solidFill>
          <a:schemeClr val="tx1">
            <a:lumMod val="50000"/>
          </a:schemeClr>
        </a:solidFill>
        <a:ln w="381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 dirty="0"/>
            <a:t>Dynamics</a:t>
          </a:r>
          <a:br>
            <a:rPr lang="de-DE" sz="1800" kern="1200" dirty="0"/>
          </a:br>
          <a:r>
            <a:rPr lang="de-DE" sz="1800" kern="1200" dirty="0"/>
            <a:t>Formulation</a:t>
          </a:r>
          <a:endParaRPr lang="en-US" sz="1800" kern="1200" dirty="0"/>
        </a:p>
      </dsp:txBody>
      <dsp:txXfrm>
        <a:off x="4887336" y="1257463"/>
        <a:ext cx="2207563" cy="661045"/>
      </dsp:txXfrm>
    </dsp:sp>
    <dsp:sp modelId="{B3C5F432-E9C3-4B94-BC8E-336DAFB3DEEB}">
      <dsp:nvSpPr>
        <dsp:cNvPr id="0" name=""/>
        <dsp:cNvSpPr/>
      </dsp:nvSpPr>
      <dsp:spPr>
        <a:xfrm>
          <a:off x="1838755" y="475363"/>
          <a:ext cx="4450488" cy="4450488"/>
        </a:xfrm>
        <a:custGeom>
          <a:avLst/>
          <a:gdLst/>
          <a:ahLst/>
          <a:cxnLst/>
          <a:rect l="0" t="0" r="0" b="0"/>
          <a:pathLst>
            <a:path>
              <a:moveTo>
                <a:pt x="4326555" y="1492984"/>
              </a:moveTo>
              <a:arcTo wR="2225244" hR="2225244" stAng="20447262" swAng="2305476"/>
            </a:path>
          </a:pathLst>
        </a:custGeom>
        <a:noFill/>
        <a:ln w="381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2450E01-B5BB-4596-AA84-C6B68BA22E17}">
      <dsp:nvSpPr>
        <dsp:cNvPr id="0" name=""/>
        <dsp:cNvSpPr/>
      </dsp:nvSpPr>
      <dsp:spPr>
        <a:xfrm>
          <a:off x="4851575" y="3446946"/>
          <a:ext cx="2279085" cy="732567"/>
        </a:xfrm>
        <a:prstGeom prst="roundRect">
          <a:avLst/>
        </a:prstGeom>
        <a:solidFill>
          <a:schemeClr val="tx1">
            <a:lumMod val="50000"/>
          </a:schemeClr>
        </a:solidFill>
        <a:ln w="381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 dirty="0"/>
            <a:t>Control</a:t>
          </a:r>
          <a:br>
            <a:rPr lang="de-DE" sz="1800" kern="1200" dirty="0"/>
          </a:br>
          <a:r>
            <a:rPr lang="de-DE" sz="1800" kern="1200" dirty="0"/>
            <a:t>Parameterisation</a:t>
          </a:r>
          <a:endParaRPr lang="en-US" sz="1800" kern="1200" dirty="0"/>
        </a:p>
      </dsp:txBody>
      <dsp:txXfrm>
        <a:off x="4887336" y="3482707"/>
        <a:ext cx="2207563" cy="661045"/>
      </dsp:txXfrm>
    </dsp:sp>
    <dsp:sp modelId="{B35B1855-F262-43FF-894C-A1EE99B468B4}">
      <dsp:nvSpPr>
        <dsp:cNvPr id="0" name=""/>
        <dsp:cNvSpPr/>
      </dsp:nvSpPr>
      <dsp:spPr>
        <a:xfrm>
          <a:off x="1838755" y="475363"/>
          <a:ext cx="4450488" cy="4450488"/>
        </a:xfrm>
        <a:custGeom>
          <a:avLst/>
          <a:gdLst/>
          <a:ahLst/>
          <a:cxnLst/>
          <a:rect l="0" t="0" r="0" b="0"/>
          <a:pathLst>
            <a:path>
              <a:moveTo>
                <a:pt x="3883419" y="3709214"/>
              </a:moveTo>
              <a:arcTo wR="2225244" hR="2225244" stAng="2509602" swAng="1031693"/>
            </a:path>
          </a:pathLst>
        </a:custGeom>
        <a:noFill/>
        <a:ln w="381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44B9DB0-22E3-4707-B3E4-E1543465D50B}">
      <dsp:nvSpPr>
        <dsp:cNvPr id="0" name=""/>
        <dsp:cNvSpPr/>
      </dsp:nvSpPr>
      <dsp:spPr>
        <a:xfrm>
          <a:off x="2924457" y="4559568"/>
          <a:ext cx="2279085" cy="732567"/>
        </a:xfrm>
        <a:prstGeom prst="roundRect">
          <a:avLst/>
        </a:prstGeom>
        <a:solidFill>
          <a:schemeClr val="bg1">
            <a:lumMod val="50000"/>
          </a:schemeClr>
        </a:solidFill>
        <a:ln w="381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 dirty="0"/>
            <a:t>Optimisation</a:t>
          </a:r>
          <a:br>
            <a:rPr lang="de-DE" sz="1800" kern="1200" dirty="0"/>
          </a:br>
          <a:r>
            <a:rPr lang="de-DE" sz="1800" kern="1200" dirty="0"/>
            <a:t>Methodology</a:t>
          </a:r>
          <a:endParaRPr lang="en-US" sz="1800" kern="1200" dirty="0"/>
        </a:p>
      </dsp:txBody>
      <dsp:txXfrm>
        <a:off x="2960218" y="4595329"/>
        <a:ext cx="2207563" cy="661045"/>
      </dsp:txXfrm>
    </dsp:sp>
    <dsp:sp modelId="{786B7CA3-072A-477E-9BB0-5E4FFECF36A3}">
      <dsp:nvSpPr>
        <dsp:cNvPr id="0" name=""/>
        <dsp:cNvSpPr/>
      </dsp:nvSpPr>
      <dsp:spPr>
        <a:xfrm>
          <a:off x="1838755" y="475363"/>
          <a:ext cx="4450488" cy="4450488"/>
        </a:xfrm>
        <a:custGeom>
          <a:avLst/>
          <a:gdLst/>
          <a:ahLst/>
          <a:cxnLst/>
          <a:rect l="0" t="0" r="0" b="0"/>
          <a:pathLst>
            <a:path>
              <a:moveTo>
                <a:pt x="1079877" y="4133082"/>
              </a:moveTo>
              <a:arcTo wR="2225244" hR="2225244" stAng="7258706" swAng="1031693"/>
            </a:path>
          </a:pathLst>
        </a:custGeom>
        <a:noFill/>
        <a:ln w="381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15311B5-19A6-4DFB-BB07-40FB8DC75694}">
      <dsp:nvSpPr>
        <dsp:cNvPr id="0" name=""/>
        <dsp:cNvSpPr/>
      </dsp:nvSpPr>
      <dsp:spPr>
        <a:xfrm>
          <a:off x="997338" y="3446946"/>
          <a:ext cx="2279085" cy="732567"/>
        </a:xfrm>
        <a:prstGeom prst="roundRect">
          <a:avLst/>
        </a:prstGeom>
        <a:solidFill>
          <a:schemeClr val="tx1">
            <a:lumMod val="50000"/>
          </a:schemeClr>
        </a:solidFill>
        <a:ln w="381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 dirty="0"/>
            <a:t>Computational</a:t>
          </a:r>
          <a:br>
            <a:rPr lang="de-DE" sz="1800" kern="1200" dirty="0"/>
          </a:br>
          <a:r>
            <a:rPr lang="de-DE" sz="1800" kern="1200" dirty="0"/>
            <a:t>Framework</a:t>
          </a:r>
          <a:endParaRPr lang="en-US" sz="1800" kern="1200" dirty="0"/>
        </a:p>
      </dsp:txBody>
      <dsp:txXfrm>
        <a:off x="1033099" y="3482707"/>
        <a:ext cx="2207563" cy="661045"/>
      </dsp:txXfrm>
    </dsp:sp>
    <dsp:sp modelId="{260B3A5C-B4DF-4637-AAD0-5A1939C13163}">
      <dsp:nvSpPr>
        <dsp:cNvPr id="0" name=""/>
        <dsp:cNvSpPr/>
      </dsp:nvSpPr>
      <dsp:spPr>
        <a:xfrm>
          <a:off x="1838755" y="475363"/>
          <a:ext cx="4450488" cy="4450488"/>
        </a:xfrm>
        <a:custGeom>
          <a:avLst/>
          <a:gdLst/>
          <a:ahLst/>
          <a:cxnLst/>
          <a:rect l="0" t="0" r="0" b="0"/>
          <a:pathLst>
            <a:path>
              <a:moveTo>
                <a:pt x="123933" y="2957504"/>
              </a:moveTo>
              <a:arcTo wR="2225244" hR="2225244" stAng="9647262" swAng="2305476"/>
            </a:path>
          </a:pathLst>
        </a:custGeom>
        <a:noFill/>
        <a:ln w="381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E3BB357-1501-4432-A9A2-E699F344F756}">
      <dsp:nvSpPr>
        <dsp:cNvPr id="0" name=""/>
        <dsp:cNvSpPr/>
      </dsp:nvSpPr>
      <dsp:spPr>
        <a:xfrm>
          <a:off x="997338" y="1221702"/>
          <a:ext cx="2279085" cy="732567"/>
        </a:xfrm>
        <a:prstGeom prst="roundRect">
          <a:avLst/>
        </a:prstGeom>
        <a:solidFill>
          <a:srgbClr val="7030A0"/>
        </a:solidFill>
        <a:ln w="381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 dirty="0"/>
            <a:t>NLP</a:t>
          </a:r>
          <a:br>
            <a:rPr lang="de-DE" sz="1800" kern="1200" dirty="0"/>
          </a:br>
          <a:r>
            <a:rPr lang="de-DE" sz="1800" kern="1200" dirty="0"/>
            <a:t>Solver</a:t>
          </a:r>
          <a:endParaRPr lang="en-US" sz="1800" kern="1200" dirty="0"/>
        </a:p>
      </dsp:txBody>
      <dsp:txXfrm>
        <a:off x="1033099" y="1257463"/>
        <a:ext cx="2207563" cy="661045"/>
      </dsp:txXfrm>
    </dsp:sp>
    <dsp:sp modelId="{EA345D5A-595B-4FF0-B478-25F4B45C5BA1}">
      <dsp:nvSpPr>
        <dsp:cNvPr id="0" name=""/>
        <dsp:cNvSpPr/>
      </dsp:nvSpPr>
      <dsp:spPr>
        <a:xfrm>
          <a:off x="1838755" y="475363"/>
          <a:ext cx="4450488" cy="4450488"/>
        </a:xfrm>
        <a:custGeom>
          <a:avLst/>
          <a:gdLst/>
          <a:ahLst/>
          <a:cxnLst/>
          <a:rect l="0" t="0" r="0" b="0"/>
          <a:pathLst>
            <a:path>
              <a:moveTo>
                <a:pt x="567069" y="741274"/>
              </a:moveTo>
              <a:arcTo wR="2225244" hR="2225244" stAng="13309602" swAng="1031693"/>
            </a:path>
          </a:pathLst>
        </a:custGeom>
        <a:noFill/>
        <a:ln w="381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971159-2FA5-49F8-9379-7DFDEC522630}">
      <dsp:nvSpPr>
        <dsp:cNvPr id="0" name=""/>
        <dsp:cNvSpPr/>
      </dsp:nvSpPr>
      <dsp:spPr>
        <a:xfrm>
          <a:off x="3168188" y="165329"/>
          <a:ext cx="1791623" cy="948884"/>
        </a:xfrm>
        <a:prstGeom prst="roundRect">
          <a:avLst/>
        </a:prstGeom>
        <a:solidFill>
          <a:schemeClr val="bg1">
            <a:lumMod val="50000"/>
          </a:schemeClr>
        </a:solidFill>
        <a:ln w="381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 dirty="0"/>
            <a:t>CGPOPS</a:t>
          </a:r>
          <a:endParaRPr lang="en-US" sz="1800" kern="1200" dirty="0"/>
        </a:p>
      </dsp:txBody>
      <dsp:txXfrm>
        <a:off x="3214509" y="211650"/>
        <a:ext cx="1698981" cy="856242"/>
      </dsp:txXfrm>
    </dsp:sp>
    <dsp:sp modelId="{5DAFF906-88C4-40C6-B6A8-F32251651E77}">
      <dsp:nvSpPr>
        <dsp:cNvPr id="0" name=""/>
        <dsp:cNvSpPr/>
      </dsp:nvSpPr>
      <dsp:spPr>
        <a:xfrm>
          <a:off x="2071690" y="704434"/>
          <a:ext cx="4298934" cy="4298934"/>
        </a:xfrm>
        <a:custGeom>
          <a:avLst/>
          <a:gdLst/>
          <a:ahLst/>
          <a:cxnLst/>
          <a:rect l="0" t="0" r="0" b="0"/>
          <a:pathLst>
            <a:path>
              <a:moveTo>
                <a:pt x="2915153" y="141001"/>
              </a:moveTo>
              <a:arcTo wR="2149467" hR="2149467" stAng="17452100" swAng="4967504"/>
            </a:path>
          </a:pathLst>
        </a:custGeom>
        <a:noFill/>
        <a:ln w="762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15311B5-19A6-4DFB-BB07-40FB8DC75694}">
      <dsp:nvSpPr>
        <dsp:cNvPr id="0" name=""/>
        <dsp:cNvSpPr/>
      </dsp:nvSpPr>
      <dsp:spPr>
        <a:xfrm>
          <a:off x="5221876" y="3389516"/>
          <a:ext cx="1791623" cy="948884"/>
        </a:xfrm>
        <a:prstGeom prst="roundRect">
          <a:avLst/>
        </a:prstGeom>
        <a:solidFill>
          <a:schemeClr val="tx1">
            <a:lumMod val="50000"/>
          </a:schemeClr>
        </a:solidFill>
        <a:ln w="381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 dirty="0"/>
            <a:t>LGR</a:t>
          </a:r>
          <a:br>
            <a:rPr lang="de-DE" sz="1800" kern="1200" dirty="0"/>
          </a:br>
          <a:r>
            <a:rPr lang="de-DE" sz="1800" kern="1200" dirty="0"/>
            <a:t>Collocation</a:t>
          </a:r>
          <a:endParaRPr lang="en-US" sz="1800" kern="1200" dirty="0"/>
        </a:p>
      </dsp:txBody>
      <dsp:txXfrm>
        <a:off x="5268197" y="3435837"/>
        <a:ext cx="1698981" cy="856242"/>
      </dsp:txXfrm>
    </dsp:sp>
    <dsp:sp modelId="{260B3A5C-B4DF-4637-AAD0-5A1939C13163}">
      <dsp:nvSpPr>
        <dsp:cNvPr id="0" name=""/>
        <dsp:cNvSpPr/>
      </dsp:nvSpPr>
      <dsp:spPr>
        <a:xfrm>
          <a:off x="1895939" y="930763"/>
          <a:ext cx="4298934" cy="4298934"/>
        </a:xfrm>
        <a:custGeom>
          <a:avLst/>
          <a:gdLst/>
          <a:ahLst/>
          <a:cxnLst/>
          <a:rect l="0" t="0" r="0" b="0"/>
          <a:pathLst>
            <a:path>
              <a:moveTo>
                <a:pt x="3871597" y="3435730"/>
              </a:moveTo>
              <a:arcTo wR="2149467" hR="2149467" stAng="2205368" swAng="6389272"/>
            </a:path>
          </a:pathLst>
        </a:custGeom>
        <a:noFill/>
        <a:ln w="762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E3BB357-1501-4432-A9A2-E699F344F756}">
      <dsp:nvSpPr>
        <dsp:cNvPr id="0" name=""/>
        <dsp:cNvSpPr/>
      </dsp:nvSpPr>
      <dsp:spPr>
        <a:xfrm>
          <a:off x="1083180" y="3389512"/>
          <a:ext cx="1791623" cy="948884"/>
        </a:xfrm>
        <a:prstGeom prst="roundRect">
          <a:avLst/>
        </a:prstGeom>
        <a:solidFill>
          <a:schemeClr val="tx1">
            <a:lumMod val="50000"/>
          </a:schemeClr>
        </a:solidFill>
        <a:ln w="381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 dirty="0"/>
            <a:t>IPOPT</a:t>
          </a:r>
          <a:endParaRPr lang="en-US" sz="1800" kern="1200" dirty="0"/>
        </a:p>
      </dsp:txBody>
      <dsp:txXfrm>
        <a:off x="1129501" y="3435833"/>
        <a:ext cx="1698981" cy="856242"/>
      </dsp:txXfrm>
    </dsp:sp>
    <dsp:sp modelId="{EA345D5A-595B-4FF0-B478-25F4B45C5BA1}">
      <dsp:nvSpPr>
        <dsp:cNvPr id="0" name=""/>
        <dsp:cNvSpPr/>
      </dsp:nvSpPr>
      <dsp:spPr>
        <a:xfrm>
          <a:off x="1731021" y="713883"/>
          <a:ext cx="4298934" cy="4298934"/>
        </a:xfrm>
        <a:custGeom>
          <a:avLst/>
          <a:gdLst/>
          <a:ahLst/>
          <a:cxnLst/>
          <a:rect l="0" t="0" r="0" b="0"/>
          <a:pathLst>
            <a:path>
              <a:moveTo>
                <a:pt x="58486" y="2647470"/>
              </a:moveTo>
              <a:arcTo wR="2149467" hR="2149467" stAng="9996215" swAng="4996246"/>
            </a:path>
          </a:pathLst>
        </a:custGeom>
        <a:noFill/>
        <a:ln w="762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6">
  <dgm:title val=""/>
  <dgm:desc val=""/>
  <dgm:catLst>
    <dgm:cat type="cycle" pri="4000"/>
    <dgm:cat type="relationship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  <dgm:param type="endSty" val="noArr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01"/>
                <dgm:constr type="endPad" refType="connDist" fact="0.01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6">
  <dgm:title val=""/>
  <dgm:desc val=""/>
  <dgm:catLst>
    <dgm:cat type="cycle" pri="4000"/>
    <dgm:cat type="relationship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  <dgm:param type="endSty" val="noArr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01"/>
                <dgm:constr type="endPad" refType="connDist" fact="0.01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ycle6">
  <dgm:title val=""/>
  <dgm:desc val=""/>
  <dgm:catLst>
    <dgm:cat type="cycle" pri="4000"/>
    <dgm:cat type="relationship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  <dgm:param type="endSty" val="noArr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01"/>
                <dgm:constr type="endPad" refType="connDist" fact="0.01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ycle6">
  <dgm:title val=""/>
  <dgm:desc val=""/>
  <dgm:catLst>
    <dgm:cat type="cycle" pri="4000"/>
    <dgm:cat type="relationship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  <dgm:param type="endSty" val="noArr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01"/>
                <dgm:constr type="endPad" refType="connDist" fact="0.01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ycle6">
  <dgm:title val=""/>
  <dgm:desc val=""/>
  <dgm:catLst>
    <dgm:cat type="cycle" pri="4000"/>
    <dgm:cat type="relationship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  <dgm:param type="endSty" val="noArr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01"/>
                <dgm:constr type="endPad" refType="connDist" fact="0.01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cycle6">
  <dgm:title val=""/>
  <dgm:desc val=""/>
  <dgm:catLst>
    <dgm:cat type="cycle" pri="4000"/>
    <dgm:cat type="relationship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  <dgm:param type="endSty" val="noArr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01"/>
                <dgm:constr type="endPad" refType="connDist" fact="0.01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cycle6">
  <dgm:title val=""/>
  <dgm:desc val=""/>
  <dgm:catLst>
    <dgm:cat type="cycle" pri="4000"/>
    <dgm:cat type="relationship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  <dgm:param type="endSty" val="noArr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01"/>
                <dgm:constr type="endPad" refType="connDist" fact="0.01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cycle6">
  <dgm:title val=""/>
  <dgm:desc val=""/>
  <dgm:catLst>
    <dgm:cat type="cycle" pri="4000"/>
    <dgm:cat type="relationship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  <dgm:param type="endSty" val="noArr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01"/>
                <dgm:constr type="endPad" refType="connDist" fact="0.01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1">
              <a:rPr lang="en-US" altLang="en-US" smtClean="0"/>
              <a:t>12/1/2025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Real-Time Time-Optimal Spacecraft Attitude Control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Click to edit Master subtitle style</a:t>
            </a:r>
          </a:p>
        </p:txBody>
      </p:sp>
    </p:spTree>
  </p:cSld>
  <p:clrMapOvr>
    <a:masterClrMapping/>
  </p:clrMapOvr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</a:p>
          <a:p>
            <a:pPr lvl="1"/>
            <a:r>
              <a:rPr lang="zh-CN" altLang="en-US" dirty="0"/>
              <a:t>Second level</a:t>
            </a:r>
          </a:p>
          <a:p>
            <a:pPr lvl="2"/>
            <a:r>
              <a:rPr lang="zh-CN" altLang="en-US" dirty="0"/>
              <a:t>Third level</a:t>
            </a:r>
          </a:p>
          <a:p>
            <a:pPr lvl="3"/>
            <a:r>
              <a:rPr lang="zh-CN" altLang="en-US" dirty="0"/>
              <a:t>Fourth level</a:t>
            </a:r>
          </a:p>
          <a:p>
            <a:pPr lvl="4"/>
            <a:r>
              <a:rPr lang="zh-CN" altLang="en-US" dirty="0"/>
              <a:t>Fifth level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1">
              <a:rPr lang="en-US" altLang="en-US" smtClean="0"/>
              <a:t>12/1/2025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altLang="zh-CN">
                <a:sym typeface="+mn-ea"/>
              </a:rPr>
              <a:t>Real-Time Time-Optimal Spacecraft Attitude Control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8088" cy="811530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1">
              <a:rPr lang="en-US" altLang="en-US" smtClean="0"/>
              <a:t>12/1/2025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Real-Time Time-Optimal Spacecraft Attitude Control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0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</a:p>
          <a:p>
            <a:pPr lvl="1"/>
            <a:r>
              <a:rPr lang="zh-CN" altLang="en-US" dirty="0"/>
              <a:t>Second level</a:t>
            </a:r>
          </a:p>
          <a:p>
            <a:pPr lvl="2"/>
            <a:r>
              <a:rPr lang="zh-CN" altLang="en-US" dirty="0"/>
              <a:t>Third level</a:t>
            </a:r>
          </a:p>
          <a:p>
            <a:pPr lvl="3"/>
            <a:r>
              <a:rPr lang="zh-CN" altLang="en-US" dirty="0"/>
              <a:t>Fourth level</a:t>
            </a:r>
          </a:p>
          <a:p>
            <a:pPr lvl="4"/>
            <a:r>
              <a:rPr lang="zh-CN" altLang="en-US" dirty="0"/>
              <a:t>Fifth level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</a:p>
          <a:p>
            <a:pPr lvl="1"/>
            <a:r>
              <a:rPr lang="zh-CN" altLang="en-US" dirty="0"/>
              <a:t>Second level</a:t>
            </a:r>
          </a:p>
          <a:p>
            <a:pPr lvl="2"/>
            <a:r>
              <a:rPr lang="zh-CN" altLang="en-US" dirty="0"/>
              <a:t>Third level</a:t>
            </a:r>
          </a:p>
          <a:p>
            <a:pPr lvl="3"/>
            <a:r>
              <a:rPr lang="zh-CN" altLang="en-US" dirty="0"/>
              <a:t>Fourth level</a:t>
            </a:r>
          </a:p>
          <a:p>
            <a:pPr lvl="4"/>
            <a:r>
              <a:rPr lang="zh-CN" altLang="en-US" dirty="0"/>
              <a:t>Fifth level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1">
              <a:rPr lang="en-US" altLang="en-US" smtClean="0"/>
              <a:t>12/1/2025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altLang="zh-CN">
                <a:sym typeface="+mn-ea"/>
              </a:rPr>
              <a:t>Real-Time Time-Optimal Spacecraft Attitude Control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Click to edit Master title style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</a:p>
          <a:p>
            <a:pPr lvl="1"/>
            <a:r>
              <a:rPr lang="zh-CN" altLang="en-US" dirty="0"/>
              <a:t>Second level</a:t>
            </a:r>
          </a:p>
          <a:p>
            <a:pPr lvl="2"/>
            <a:r>
              <a:rPr lang="zh-CN" altLang="en-US" dirty="0"/>
              <a:t>Third level</a:t>
            </a:r>
          </a:p>
          <a:p>
            <a:pPr lvl="3"/>
            <a:r>
              <a:rPr lang="zh-CN" altLang="en-US" dirty="0"/>
              <a:t>Fourth level</a:t>
            </a:r>
          </a:p>
          <a:p>
            <a:pPr lvl="4"/>
            <a:r>
              <a:rPr lang="zh-CN" altLang="en-US" dirty="0"/>
              <a:t>Fifth level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</a:p>
          <a:p>
            <a:pPr lvl="1"/>
            <a:r>
              <a:rPr lang="zh-CN" altLang="en-US" dirty="0"/>
              <a:t>Second level</a:t>
            </a:r>
          </a:p>
          <a:p>
            <a:pPr lvl="2"/>
            <a:r>
              <a:rPr lang="zh-CN" altLang="en-US" dirty="0"/>
              <a:t>Third level</a:t>
            </a:r>
          </a:p>
          <a:p>
            <a:pPr lvl="3"/>
            <a:r>
              <a:rPr lang="zh-CN" altLang="en-US" dirty="0"/>
              <a:t>Fourth level</a:t>
            </a:r>
          </a:p>
          <a:p>
            <a:pPr lvl="4"/>
            <a:r>
              <a:rPr lang="zh-CN" altLang="en-US" dirty="0"/>
              <a:t>Fifth level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1">
              <a:rPr lang="en-US" altLang="en-US" smtClean="0"/>
              <a:t>12/1/2025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Real-Time Time-Optimal Spacecraft Attitude Control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1">
              <a:rPr lang="en-US" altLang="en-US" smtClean="0"/>
              <a:t>12/1/2025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Real-Time Time-Optimal Spacecraft Attitude Control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1">
              <a:rPr lang="en-US" altLang="en-US" smtClean="0"/>
              <a:t>12/1/2025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Real-Time Time-Optimal Spacecraft Attitude Control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51827" y="120015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Click to edit Master text styles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1">
              <a:rPr lang="en-US" altLang="en-US" smtClean="0"/>
              <a:t>12/1/2025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Real-Time Time-Optimal Spacecraft Attitude Control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8" name="直接连接符 7" hidden="1"/>
          <p:cNvCxnSpPr/>
          <p:nvPr userDrawn="1"/>
        </p:nvCxnSpPr>
        <p:spPr>
          <a:xfrm>
            <a:off x="742950" y="434340"/>
            <a:ext cx="0" cy="13912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Click to edit Master title style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</a:p>
          <a:p>
            <a:pPr lvl="1"/>
            <a:r>
              <a:rPr lang="zh-CN" altLang="en-US" dirty="0"/>
              <a:t>Second level</a:t>
            </a:r>
          </a:p>
          <a:p>
            <a:pPr lvl="2"/>
            <a:r>
              <a:rPr lang="zh-CN" altLang="en-US" dirty="0"/>
              <a:t>Third level</a:t>
            </a:r>
          </a:p>
          <a:p>
            <a:pPr lvl="3"/>
            <a:r>
              <a:rPr lang="zh-CN" altLang="en-US" dirty="0"/>
              <a:t>Fourth level</a:t>
            </a:r>
          </a:p>
          <a:p>
            <a:pPr lvl="4"/>
            <a:r>
              <a:rPr lang="zh-CN" altLang="en-US" dirty="0"/>
              <a:t>Fifth level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1">
              <a:rPr lang="en-US" altLang="en-US" smtClean="0"/>
              <a:t>12/1/2025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Real-Time Time-Optimal Spacecraft Attitude Control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1">
              <a:rPr lang="en-US" altLang="en-US" smtClean="0"/>
              <a:t>12/1/2025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Real-Time Time-Optimal Spacecraft Attitude Control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</a:p>
          <a:p>
            <a:pPr lvl="1"/>
            <a:r>
              <a:rPr lang="zh-CN" altLang="en-US" dirty="0"/>
              <a:t>Second level</a:t>
            </a:r>
          </a:p>
          <a:p>
            <a:pPr lvl="2"/>
            <a:r>
              <a:rPr lang="zh-CN" altLang="en-US" dirty="0"/>
              <a:t>Third level</a:t>
            </a:r>
          </a:p>
          <a:p>
            <a:pPr lvl="3"/>
            <a:r>
              <a:rPr lang="zh-CN" altLang="en-US" dirty="0"/>
              <a:t>Fourth level</a:t>
            </a:r>
          </a:p>
          <a:p>
            <a:pPr lvl="4"/>
            <a:r>
              <a:rPr lang="zh-CN" altLang="en-US" dirty="0"/>
              <a:t>Fifth level</a:t>
            </a:r>
          </a:p>
        </p:txBody>
      </p:sp>
    </p:spTree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1">
              <a:rPr lang="en-US" altLang="en-US" smtClean="0"/>
              <a:t>12/1/2025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Real-Time Time-Optimal Spacecraft Attitude Control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Click to edit Master subtitle style</a:t>
            </a:r>
          </a:p>
        </p:txBody>
      </p:sp>
    </p:spTree>
  </p:cSld>
  <p:clrMapOvr>
    <a:masterClrMapping/>
  </p:clrMapOvr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</a:p>
          <a:p>
            <a:pPr lvl="1"/>
            <a:r>
              <a:rPr lang="zh-CN" altLang="en-US" dirty="0"/>
              <a:t>Second level</a:t>
            </a:r>
          </a:p>
          <a:p>
            <a:pPr lvl="2"/>
            <a:r>
              <a:rPr lang="zh-CN" altLang="en-US" dirty="0"/>
              <a:t>Third level</a:t>
            </a:r>
          </a:p>
          <a:p>
            <a:pPr lvl="3"/>
            <a:r>
              <a:rPr lang="zh-CN" altLang="en-US" dirty="0"/>
              <a:t>Fourth level</a:t>
            </a:r>
          </a:p>
          <a:p>
            <a:pPr lvl="4"/>
            <a:r>
              <a:rPr lang="zh-CN" altLang="en-US" dirty="0"/>
              <a:t>Fifth level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1">
              <a:rPr lang="en-US" altLang="en-US" smtClean="0"/>
              <a:t>12/1/2025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altLang="zh-CN">
                <a:sym typeface="+mn-ea"/>
              </a:rPr>
              <a:t>Real-Time Time-Optimal Spacecraft Attitude Control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8088" cy="811530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1">
              <a:rPr lang="en-US" altLang="en-US" smtClean="0"/>
              <a:t>12/1/2025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Real-Time Time-Optimal Spacecraft Attitude Control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0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</a:p>
          <a:p>
            <a:pPr lvl="1"/>
            <a:r>
              <a:rPr lang="zh-CN" altLang="en-US" dirty="0"/>
              <a:t>Second level</a:t>
            </a:r>
          </a:p>
          <a:p>
            <a:pPr lvl="2"/>
            <a:r>
              <a:rPr lang="zh-CN" altLang="en-US" dirty="0"/>
              <a:t>Third level</a:t>
            </a:r>
          </a:p>
          <a:p>
            <a:pPr lvl="3"/>
            <a:r>
              <a:rPr lang="zh-CN" altLang="en-US" dirty="0"/>
              <a:t>Fourth level</a:t>
            </a:r>
          </a:p>
          <a:p>
            <a:pPr lvl="4"/>
            <a:r>
              <a:rPr lang="zh-CN" altLang="en-US" dirty="0"/>
              <a:t>Fifth level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</a:p>
          <a:p>
            <a:pPr lvl="1"/>
            <a:r>
              <a:rPr lang="zh-CN" altLang="en-US" dirty="0"/>
              <a:t>Second level</a:t>
            </a:r>
          </a:p>
          <a:p>
            <a:pPr lvl="2"/>
            <a:r>
              <a:rPr lang="zh-CN" altLang="en-US" dirty="0"/>
              <a:t>Third level</a:t>
            </a:r>
          </a:p>
          <a:p>
            <a:pPr lvl="3"/>
            <a:r>
              <a:rPr lang="zh-CN" altLang="en-US" dirty="0"/>
              <a:t>Fourth level</a:t>
            </a:r>
          </a:p>
          <a:p>
            <a:pPr lvl="4"/>
            <a:r>
              <a:rPr lang="zh-CN" altLang="en-US" dirty="0"/>
              <a:t>Fifth level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1">
              <a:rPr lang="en-US" altLang="en-US" smtClean="0"/>
              <a:t>12/1/2025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altLang="zh-CN">
                <a:sym typeface="+mn-ea"/>
              </a:rPr>
              <a:t>Real-Time Time-Optimal Spacecraft Attitude Control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Click to edit Master title style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</a:p>
          <a:p>
            <a:pPr lvl="1"/>
            <a:r>
              <a:rPr lang="zh-CN" altLang="en-US" dirty="0"/>
              <a:t>Second level</a:t>
            </a:r>
          </a:p>
          <a:p>
            <a:pPr lvl="2"/>
            <a:r>
              <a:rPr lang="zh-CN" altLang="en-US" dirty="0"/>
              <a:t>Third level</a:t>
            </a:r>
          </a:p>
          <a:p>
            <a:pPr lvl="3"/>
            <a:r>
              <a:rPr lang="zh-CN" altLang="en-US" dirty="0"/>
              <a:t>Fourth level</a:t>
            </a:r>
          </a:p>
          <a:p>
            <a:pPr lvl="4"/>
            <a:r>
              <a:rPr lang="zh-CN" altLang="en-US" dirty="0"/>
              <a:t>Fifth level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</a:p>
          <a:p>
            <a:pPr lvl="1"/>
            <a:r>
              <a:rPr lang="zh-CN" altLang="en-US" dirty="0"/>
              <a:t>Second level</a:t>
            </a:r>
          </a:p>
          <a:p>
            <a:pPr lvl="2"/>
            <a:r>
              <a:rPr lang="zh-CN" altLang="en-US" dirty="0"/>
              <a:t>Third level</a:t>
            </a:r>
          </a:p>
          <a:p>
            <a:pPr lvl="3"/>
            <a:r>
              <a:rPr lang="zh-CN" altLang="en-US" dirty="0"/>
              <a:t>Fourth level</a:t>
            </a:r>
          </a:p>
          <a:p>
            <a:pPr lvl="4"/>
            <a:r>
              <a:rPr lang="zh-CN" altLang="en-US" dirty="0"/>
              <a:t>Fifth level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1">
              <a:rPr lang="en-US" altLang="en-US" smtClean="0"/>
              <a:t>12/1/2025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Real-Time Time-Optimal Spacecraft Attitude Control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1">
              <a:rPr lang="en-US" altLang="en-US" smtClean="0"/>
              <a:t>12/1/2025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Real-Time Time-Optimal Spacecraft Attitude Control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1">
              <a:rPr lang="en-US" altLang="en-US" smtClean="0"/>
              <a:t>12/1/2025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Real-Time Time-Optimal Spacecraft Attitude Control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51827" y="120015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Click to edit Master text styles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1">
              <a:rPr lang="en-US" altLang="en-US" smtClean="0"/>
              <a:t>12/1/2025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Real-Time Time-Optimal Spacecraft Attitude Control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8" name="直接连接符 7" hidden="1"/>
          <p:cNvCxnSpPr/>
          <p:nvPr userDrawn="1"/>
        </p:nvCxnSpPr>
        <p:spPr>
          <a:xfrm>
            <a:off x="742950" y="434340"/>
            <a:ext cx="0" cy="13912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hf hdr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Click to edit Master title style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</a:p>
          <a:p>
            <a:pPr lvl="1"/>
            <a:r>
              <a:rPr lang="zh-CN" altLang="en-US" dirty="0"/>
              <a:t>Second level</a:t>
            </a:r>
          </a:p>
          <a:p>
            <a:pPr lvl="2"/>
            <a:r>
              <a:rPr lang="zh-CN" altLang="en-US" dirty="0"/>
              <a:t>Third level</a:t>
            </a:r>
          </a:p>
          <a:p>
            <a:pPr lvl="3"/>
            <a:r>
              <a:rPr lang="zh-CN" altLang="en-US" dirty="0"/>
              <a:t>Fourth level</a:t>
            </a:r>
          </a:p>
          <a:p>
            <a:pPr lvl="4"/>
            <a:r>
              <a:rPr lang="zh-CN" altLang="en-US" dirty="0"/>
              <a:t>Fifth level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1">
              <a:rPr lang="en-US" altLang="en-US" smtClean="0"/>
              <a:t>12/1/2025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Real-Time Time-Optimal Spacecraft Attitude Control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1">
              <a:rPr lang="en-US" altLang="en-US" smtClean="0"/>
              <a:t>12/1/2025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Real-Time Time-Optimal Spacecraft Attitude Control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</a:p>
          <a:p>
            <a:pPr lvl="1"/>
            <a:r>
              <a:rPr lang="zh-CN" altLang="en-US" dirty="0"/>
              <a:t>Second level</a:t>
            </a:r>
          </a:p>
          <a:p>
            <a:pPr lvl="2"/>
            <a:r>
              <a:rPr lang="zh-CN" altLang="en-US" dirty="0"/>
              <a:t>Third level</a:t>
            </a:r>
          </a:p>
          <a:p>
            <a:pPr lvl="3"/>
            <a:r>
              <a:rPr lang="zh-CN" altLang="en-US" dirty="0"/>
              <a:t>Fourth level</a:t>
            </a:r>
          </a:p>
          <a:p>
            <a:pPr lvl="4"/>
            <a:r>
              <a:rPr lang="zh-CN" altLang="en-US" dirty="0"/>
              <a:t>Fifth level</a:t>
            </a:r>
          </a:p>
        </p:txBody>
      </p:sp>
    </p:spTree>
  </p:cSld>
  <p:clrMapOvr>
    <a:masterClrMapping/>
  </p:clrMapOvr>
  <p:hf hd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8C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12">
            <a:clrChange>
              <a:clrFrom>
                <a:srgbClr val="0065C1">
                  <a:alpha val="100000"/>
                </a:srgbClr>
              </a:clrFrom>
              <a:clrTo>
                <a:srgbClr val="0065C1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477500" y="0"/>
            <a:ext cx="1714500" cy="17145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13"/>
          <a:srcRect t="17400" b="13059"/>
          <a:stretch>
            <a:fillRect/>
          </a:stretch>
        </p:blipFill>
        <p:spPr>
          <a:xfrm>
            <a:off x="288925" y="365125"/>
            <a:ext cx="1054100" cy="732790"/>
          </a:xfrm>
          <a:prstGeom prst="rect">
            <a:avLst/>
          </a:prstGeom>
        </p:spPr>
      </p:pic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19431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Click to edit Master title style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</a:p>
          <a:p>
            <a:pPr lvl="1"/>
            <a:r>
              <a:rPr lang="zh-CN" altLang="en-US" dirty="0"/>
              <a:t>Second level</a:t>
            </a:r>
          </a:p>
          <a:p>
            <a:pPr lvl="2"/>
            <a:r>
              <a:rPr lang="zh-CN" altLang="en-US" dirty="0"/>
              <a:t>Third level</a:t>
            </a:r>
          </a:p>
          <a:p>
            <a:pPr lvl="3"/>
            <a:r>
              <a:rPr lang="zh-CN" altLang="en-US" dirty="0"/>
              <a:t>Fourth level</a:t>
            </a:r>
          </a:p>
          <a:p>
            <a:pPr lvl="4"/>
            <a:r>
              <a:rPr lang="zh-CN" altLang="en-US" dirty="0"/>
              <a:t>Fifth level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1">
              <a:rPr lang="en-US" altLang="en-US" smtClean="0"/>
              <a:t>12/1/2025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" charset="0"/>
              </a:defRPr>
            </a:lvl1pPr>
          </a:lstStyle>
          <a:p>
            <a:r>
              <a:rPr lang="de-DE" altLang="zh-CN"/>
              <a:t>Real-Time Time-Optimal Spacecraft Attitude Control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8C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12">
            <a:clrChange>
              <a:clrFrom>
                <a:srgbClr val="0065C1">
                  <a:alpha val="100000"/>
                </a:srgbClr>
              </a:clrFrom>
              <a:clrTo>
                <a:srgbClr val="0065C1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477500" y="0"/>
            <a:ext cx="1714500" cy="17145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13"/>
          <a:srcRect t="17400" b="13059"/>
          <a:stretch>
            <a:fillRect/>
          </a:stretch>
        </p:blipFill>
        <p:spPr>
          <a:xfrm>
            <a:off x="288925" y="365125"/>
            <a:ext cx="1054100" cy="732790"/>
          </a:xfrm>
          <a:prstGeom prst="rect">
            <a:avLst/>
          </a:prstGeom>
        </p:spPr>
      </p:pic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19431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Click to edit Master title style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</a:p>
          <a:p>
            <a:pPr lvl="1"/>
            <a:r>
              <a:rPr lang="zh-CN" altLang="en-US" dirty="0"/>
              <a:t>Second level</a:t>
            </a:r>
          </a:p>
          <a:p>
            <a:pPr lvl="2"/>
            <a:r>
              <a:rPr lang="zh-CN" altLang="en-US" dirty="0"/>
              <a:t>Third level</a:t>
            </a:r>
          </a:p>
          <a:p>
            <a:pPr lvl="3"/>
            <a:r>
              <a:rPr lang="zh-CN" altLang="en-US" dirty="0"/>
              <a:t>Fourth level</a:t>
            </a:r>
          </a:p>
          <a:p>
            <a:pPr lvl="4"/>
            <a:r>
              <a:rPr lang="zh-CN" altLang="en-US" dirty="0"/>
              <a:t>Fifth level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1">
              <a:rPr lang="en-US" altLang="en-US" smtClean="0"/>
              <a:t>12/1/2025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" charset="0"/>
              </a:defRPr>
            </a:lvl1pPr>
          </a:lstStyle>
          <a:p>
            <a:r>
              <a:rPr lang="de-DE" altLang="zh-CN"/>
              <a:t>Real-Time Time-Optimal Spacecraft Attitude Control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</p:sldLayoutIdLst>
  <p:hf hdr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21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84885" y="1322705"/>
            <a:ext cx="10222230" cy="2186940"/>
          </a:xfrm>
        </p:spPr>
        <p:txBody>
          <a:bodyPr>
            <a:normAutofit fontScale="90000"/>
          </a:bodyPr>
          <a:lstStyle/>
          <a:p>
            <a:r>
              <a:rPr lang="en-GB" altLang="zh-CN" sz="4800" dirty="0">
                <a:latin typeface="Arial Black" panose="020B0A04020102020204" charset="0"/>
                <a:cs typeface="Arial Black" panose="020B0A04020102020204" charset="0"/>
              </a:rPr>
              <a:t>Real-Time Time-Optimal Reorientation of a Rigid Spacecraft</a:t>
            </a:r>
            <a:endParaRPr lang="de-DE" altLang="zh-CN" sz="4800" dirty="0"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>
          <a:xfrm>
            <a:off x="304165" y="5138103"/>
            <a:ext cx="9144000" cy="1655762"/>
          </a:xfrm>
        </p:spPr>
        <p:txBody>
          <a:bodyPr/>
          <a:lstStyle/>
          <a:p>
            <a:pPr algn="l"/>
            <a:r>
              <a:rPr lang="de-DE" altLang="zh-CN">
                <a:latin typeface="+mn-lt"/>
                <a:cs typeface="+mn-ea"/>
              </a:rPr>
              <a:t>Author: Leonardo Eitner, M.Sc. candidate</a:t>
            </a:r>
          </a:p>
          <a:p>
            <a:pPr algn="l"/>
            <a:r>
              <a:rPr lang="de-DE" altLang="zh-CN">
                <a:latin typeface="+mn-lt"/>
                <a:cs typeface="+mn-ea"/>
              </a:rPr>
              <a:t>Assistant Supervisor: Silvia Busi, PhD candidate</a:t>
            </a:r>
          </a:p>
          <a:p>
            <a:pPr algn="l"/>
            <a:r>
              <a:rPr lang="de-DE" altLang="zh-CN">
                <a:latin typeface="+mn-lt"/>
                <a:cs typeface="+mn-ea"/>
              </a:rPr>
              <a:t>Head Supervisor: Prof. Dr. Marcello Romano</a:t>
            </a:r>
          </a:p>
          <a:p>
            <a:pPr algn="l"/>
            <a:r>
              <a:rPr lang="de-DE" altLang="zh-CN">
                <a:latin typeface="+mn-lt"/>
                <a:cs typeface="+mn-ea"/>
              </a:rPr>
              <a:t>Context: Master’s Thesis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418"/>
            <a:ext cx="10515600" cy="1325563"/>
          </a:xfrm>
        </p:spPr>
        <p:txBody>
          <a:bodyPr/>
          <a:lstStyle/>
          <a:p>
            <a:r>
              <a:rPr lang="de-DE" altLang="en-US" sz="4400" dirty="0">
                <a:latin typeface="Arial Black" panose="020B0A04020102020204" charset="0"/>
                <a:cs typeface="Arial Black" panose="020B0A04020102020204" charset="0"/>
              </a:rPr>
              <a:t>Objectives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F4EB5CA-C596-C8A5-67D2-B4994FD8B89B}"/>
              </a:ext>
            </a:extLst>
          </p:cNvPr>
          <p:cNvGrpSpPr/>
          <p:nvPr/>
        </p:nvGrpSpPr>
        <p:grpSpPr>
          <a:xfrm>
            <a:off x="683561" y="2065531"/>
            <a:ext cx="2869695" cy="3624005"/>
            <a:chOff x="769814" y="2081128"/>
            <a:chExt cx="2869695" cy="3624005"/>
          </a:xfrm>
        </p:grpSpPr>
        <p:sp>
          <p:nvSpPr>
            <p:cNvPr id="6" name="Oval 5"/>
            <p:cNvSpPr/>
            <p:nvPr/>
          </p:nvSpPr>
          <p:spPr>
            <a:xfrm>
              <a:off x="1833186" y="2081128"/>
              <a:ext cx="743585" cy="74358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altLang="en-US" sz="2000" b="1">
                  <a:solidFill>
                    <a:srgbClr val="000000"/>
                  </a:solidFill>
                  <a:cs typeface="+mn-lt"/>
                </a:rPr>
                <a:t>1</a:t>
              </a:r>
              <a:r>
                <a:rPr lang="de-DE" altLang="en-US" sz="2000" b="1" baseline="50000">
                  <a:solidFill>
                    <a:srgbClr val="000000"/>
                  </a:solidFill>
                  <a:uFillTx/>
                  <a:cs typeface="+mn-lt"/>
                </a:rPr>
                <a:t>st</a:t>
              </a:r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812741" y="2688823"/>
              <a:ext cx="2784475" cy="1570990"/>
            </a:xfrm>
            <a:prstGeom prst="roundRect">
              <a:avLst/>
            </a:prstGeom>
            <a:solidFill>
              <a:srgbClr val="002060"/>
            </a:solidFill>
            <a:ln w="476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altLang="en-US" dirty="0">
                  <a:cs typeface="+mn-lt"/>
                </a:rPr>
                <a:t>Compute the time-optimal trajectory for any attitude maneuver</a:t>
              </a:r>
            </a:p>
          </p:txBody>
        </p:sp>
        <p:sp>
          <p:nvSpPr>
            <p:cNvPr id="8" name="!!Down Arrow 7"/>
            <p:cNvSpPr/>
            <p:nvPr/>
          </p:nvSpPr>
          <p:spPr>
            <a:xfrm>
              <a:off x="2056071" y="4259813"/>
              <a:ext cx="297815" cy="1045210"/>
            </a:xfrm>
            <a:prstGeom prst="downArrow">
              <a:avLst>
                <a:gd name="adj1" fmla="val 50000"/>
                <a:gd name="adj2" fmla="val 85074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 Box 8"/>
            <p:cNvSpPr txBox="1"/>
            <p:nvPr/>
          </p:nvSpPr>
          <p:spPr>
            <a:xfrm>
              <a:off x="769814" y="5305023"/>
              <a:ext cx="286969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de-DE" altLang="en-US" sz="2000" b="1" dirty="0">
                  <a:latin typeface="Calibri" charset="0"/>
                </a:rPr>
                <a:t>min</a:t>
              </a:r>
              <a:r>
                <a:rPr lang="de-DE" altLang="en-US" sz="2000" b="1" i="1" dirty="0">
                  <a:latin typeface="Calibri" charset="0"/>
                </a:rPr>
                <a:t>(</a:t>
              </a:r>
              <a:r>
                <a:rPr lang="de-DE" altLang="en-US" sz="2000" b="1" dirty="0">
                  <a:latin typeface="Calibri" charset="0"/>
                </a:rPr>
                <a:t>maneuver_duration</a:t>
              </a:r>
              <a:r>
                <a:rPr lang="de-DE" altLang="en-US" sz="2000" b="1" i="1" dirty="0">
                  <a:latin typeface="Calibri" charset="0"/>
                </a:rPr>
                <a:t>)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0DD0ECF-E226-8ED2-5840-B60B26CBBB89}"/>
              </a:ext>
            </a:extLst>
          </p:cNvPr>
          <p:cNvGrpSpPr/>
          <p:nvPr/>
        </p:nvGrpSpPr>
        <p:grpSpPr>
          <a:xfrm>
            <a:off x="8730890" y="2065531"/>
            <a:ext cx="2784475" cy="3624005"/>
            <a:chOff x="8732572" y="1895747"/>
            <a:chExt cx="2784475" cy="3624005"/>
          </a:xfrm>
        </p:grpSpPr>
        <p:sp>
          <p:nvSpPr>
            <p:cNvPr id="7" name="Oval 6"/>
            <p:cNvSpPr/>
            <p:nvPr/>
          </p:nvSpPr>
          <p:spPr>
            <a:xfrm>
              <a:off x="9753017" y="1895747"/>
              <a:ext cx="743585" cy="74358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de-DE" altLang="en-US" sz="2000" b="1" dirty="0">
                  <a:solidFill>
                    <a:srgbClr val="000000"/>
                  </a:solidFill>
                  <a:cs typeface="+mn-lt"/>
                </a:rPr>
                <a:t>3</a:t>
              </a:r>
              <a:r>
                <a:rPr lang="de-DE" altLang="en-US" sz="2000" b="1" baseline="50000" dirty="0">
                  <a:solidFill>
                    <a:srgbClr val="000000"/>
                  </a:solidFill>
                  <a:uFillTx/>
                  <a:cs typeface="+mn-lt"/>
                </a:rPr>
                <a:t>rd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8732572" y="2503442"/>
              <a:ext cx="2784475" cy="1570990"/>
            </a:xfrm>
            <a:prstGeom prst="roundRect">
              <a:avLst/>
            </a:prstGeom>
            <a:solidFill>
              <a:srgbClr val="002060"/>
            </a:solidFill>
            <a:ln w="476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altLang="en-US" dirty="0">
                  <a:latin typeface="Calibri" charset="0"/>
                </a:rPr>
                <a:t>Reliably obtain solutions for different boundary conditions and spacraft configurations</a:t>
              </a:r>
            </a:p>
          </p:txBody>
        </p:sp>
        <p:sp>
          <p:nvSpPr>
            <p:cNvPr id="10" name="Down Arrow 9"/>
            <p:cNvSpPr/>
            <p:nvPr/>
          </p:nvSpPr>
          <p:spPr>
            <a:xfrm>
              <a:off x="9975902" y="4074432"/>
              <a:ext cx="297815" cy="1045210"/>
            </a:xfrm>
            <a:prstGeom prst="downArrow">
              <a:avLst>
                <a:gd name="adj1" fmla="val 50000"/>
                <a:gd name="adj2" fmla="val 85074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 Box 10"/>
            <p:cNvSpPr txBox="1"/>
            <p:nvPr/>
          </p:nvSpPr>
          <p:spPr>
            <a:xfrm>
              <a:off x="9300455" y="5119642"/>
              <a:ext cx="164808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de-DE" altLang="en-US" sz="2000" b="1" i="1" dirty="0">
                  <a:latin typeface="Calibri" charset="0"/>
                </a:rPr>
                <a:t>R_</a:t>
              </a:r>
              <a:r>
                <a:rPr lang="de-DE" altLang="en-US" sz="2000" b="1" dirty="0">
                  <a:latin typeface="Calibri" charset="0"/>
                </a:rPr>
                <a:t>conv &gt;</a:t>
              </a:r>
              <a:r>
                <a:rPr lang="de-DE" altLang="en-US" sz="2000" b="1" i="1" dirty="0">
                  <a:latin typeface="Calibri" charset="0"/>
                </a:rPr>
                <a:t> 90%</a:t>
              </a:r>
              <a:endParaRPr lang="de-DE" altLang="en-US" sz="2000" b="1" dirty="0">
                <a:latin typeface="Calibri" charset="0"/>
              </a:endParaRPr>
            </a:p>
          </p:txBody>
        </p:sp>
      </p:grp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1">
              <a:rPr lang="en-US" altLang="en-US" smtClean="0"/>
              <a:t>12/1/2025</a:t>
            </a:fld>
            <a:endParaRPr lang="zh-CN" alt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</a:t>
            </a:fld>
            <a:endParaRPr lang="zh-CN" altLang="en-US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altLang="zh-CN">
                <a:sym typeface="+mn-ea"/>
              </a:rPr>
              <a:t>Real-Time Time-Optimal Spacecraft Attitude Control</a:t>
            </a:r>
            <a:endParaRPr lang="zh-CN" alt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1309342-F091-9EEC-6B6B-89B0E33C93E9}"/>
              </a:ext>
            </a:extLst>
          </p:cNvPr>
          <p:cNvGrpSpPr/>
          <p:nvPr/>
        </p:nvGrpSpPr>
        <p:grpSpPr>
          <a:xfrm>
            <a:off x="4654228" y="2065531"/>
            <a:ext cx="2883545" cy="3624005"/>
            <a:chOff x="4605063" y="2031637"/>
            <a:chExt cx="2883545" cy="3624005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82DDE8E0-F8D2-2AB9-6AB3-4E0479DA3B4A}"/>
                </a:ext>
              </a:extLst>
            </p:cNvPr>
            <p:cNvSpPr/>
            <p:nvPr/>
          </p:nvSpPr>
          <p:spPr>
            <a:xfrm>
              <a:off x="5675043" y="2031637"/>
              <a:ext cx="743585" cy="74358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de-DE" altLang="en-US" sz="2000" b="1" dirty="0">
                  <a:solidFill>
                    <a:srgbClr val="000000"/>
                  </a:solidFill>
                  <a:cs typeface="+mn-lt"/>
                </a:rPr>
                <a:t>2</a:t>
              </a:r>
              <a:r>
                <a:rPr lang="de-DE" altLang="en-US" sz="2000" b="1" baseline="50000" dirty="0">
                  <a:solidFill>
                    <a:srgbClr val="000000"/>
                  </a:solidFill>
                  <a:uFillTx/>
                  <a:cs typeface="+mn-lt"/>
                </a:rPr>
                <a:t>nd</a:t>
              </a:r>
            </a:p>
          </p:txBody>
        </p:sp>
        <p:sp>
          <p:nvSpPr>
            <p:cNvPr id="12" name="Rounded Rectangle 3">
              <a:extLst>
                <a:ext uri="{FF2B5EF4-FFF2-40B4-BE49-F238E27FC236}">
                  <a16:creationId xmlns:a16="http://schemas.microsoft.com/office/drawing/2014/main" id="{71983315-756D-8A66-0364-0E66044EB7DB}"/>
                </a:ext>
              </a:extLst>
            </p:cNvPr>
            <p:cNvSpPr/>
            <p:nvPr/>
          </p:nvSpPr>
          <p:spPr>
            <a:xfrm>
              <a:off x="4654598" y="2639332"/>
              <a:ext cx="2784475" cy="1570990"/>
            </a:xfrm>
            <a:prstGeom prst="roundRect">
              <a:avLst/>
            </a:prstGeom>
            <a:solidFill>
              <a:srgbClr val="002060"/>
            </a:solidFill>
            <a:ln w="476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altLang="en-US" dirty="0">
                  <a:cs typeface="+mn-lt"/>
                </a:rPr>
                <a:t>Achieve computation times of less than 200ms</a:t>
              </a:r>
            </a:p>
          </p:txBody>
        </p:sp>
        <p:sp>
          <p:nvSpPr>
            <p:cNvPr id="16" name="!!Down Arrow 7">
              <a:extLst>
                <a:ext uri="{FF2B5EF4-FFF2-40B4-BE49-F238E27FC236}">
                  <a16:creationId xmlns:a16="http://schemas.microsoft.com/office/drawing/2014/main" id="{F4C1C047-FFEA-1297-6273-18AC57BF7043}"/>
                </a:ext>
              </a:extLst>
            </p:cNvPr>
            <p:cNvSpPr/>
            <p:nvPr/>
          </p:nvSpPr>
          <p:spPr>
            <a:xfrm>
              <a:off x="5897928" y="4210322"/>
              <a:ext cx="297815" cy="1045210"/>
            </a:xfrm>
            <a:prstGeom prst="downArrow">
              <a:avLst>
                <a:gd name="adj1" fmla="val 50000"/>
                <a:gd name="adj2" fmla="val 85074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 Box 8">
              <a:extLst>
                <a:ext uri="{FF2B5EF4-FFF2-40B4-BE49-F238E27FC236}">
                  <a16:creationId xmlns:a16="http://schemas.microsoft.com/office/drawing/2014/main" id="{97CC6147-236C-4B27-4878-F80111838D92}"/>
                </a:ext>
              </a:extLst>
            </p:cNvPr>
            <p:cNvSpPr txBox="1"/>
            <p:nvPr/>
          </p:nvSpPr>
          <p:spPr>
            <a:xfrm>
              <a:off x="4605063" y="5255532"/>
              <a:ext cx="288354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de-DE" altLang="en-US" sz="2000" b="1" dirty="0">
                  <a:latin typeface="Calibri" charset="0"/>
                </a:rPr>
                <a:t>computation_time </a:t>
              </a:r>
              <a:r>
                <a:rPr lang="de-DE" altLang="en-US" sz="2000" b="1" i="1" dirty="0">
                  <a:latin typeface="Calibri" charset="0"/>
                </a:rPr>
                <a:t>&lt; 0.2 </a:t>
              </a:r>
              <a:r>
                <a:rPr lang="de-DE" altLang="en-US" sz="2000" b="1" dirty="0">
                  <a:latin typeface="Calibri" charset="0"/>
                </a:rPr>
                <a:t>s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0C2C2D-2050-774B-E1B1-E54BB2BDB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Diagram 15">
            <a:extLst>
              <a:ext uri="{FF2B5EF4-FFF2-40B4-BE49-F238E27FC236}">
                <a16:creationId xmlns:a16="http://schemas.microsoft.com/office/drawing/2014/main" id="{15E801CE-54C6-A254-F66B-495ADF9CFE1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28824131"/>
              </p:ext>
            </p:extLst>
          </p:nvPr>
        </p:nvGraphicFramePr>
        <p:xfrm>
          <a:off x="2031999" y="1045632"/>
          <a:ext cx="8128000" cy="54012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3318-063E-770C-3159-968E259C5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1">
              <a:rPr lang="en-US" altLang="en-US" smtClean="0"/>
              <a:t>12/1/2025</a:t>
            </a:fld>
            <a:endParaRPr lang="zh-CN" alt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950814C-9597-5396-8BC5-0FBAF7E55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8633367A-448E-B9AE-2F28-B0768D5EB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altLang="zh-CN">
                <a:sym typeface="+mn-ea"/>
              </a:rPr>
              <a:t>Real-Time Time-Optimal Spacecraft Attitude Control</a:t>
            </a:r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650CBE-26BC-2265-AA03-05A8DD72BD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6195"/>
            <a:ext cx="10515600" cy="1325563"/>
          </a:xfrm>
        </p:spPr>
        <p:txBody>
          <a:bodyPr/>
          <a:lstStyle/>
          <a:p>
            <a:r>
              <a:rPr lang="de-DE" altLang="en-US" sz="4400" dirty="0">
                <a:latin typeface="Arial Black" panose="020B0A04020102020204" charset="0"/>
                <a:cs typeface="Arial Black" panose="020B0A04020102020204" charset="0"/>
              </a:rPr>
              <a:t>Foundational Choices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D17CB91-23C0-EF72-8F6D-848BA73F6959}"/>
              </a:ext>
            </a:extLst>
          </p:cNvPr>
          <p:cNvGrpSpPr/>
          <p:nvPr/>
        </p:nvGrpSpPr>
        <p:grpSpPr>
          <a:xfrm>
            <a:off x="5155406" y="2805647"/>
            <a:ext cx="1881187" cy="1881187"/>
            <a:chOff x="3123406" y="1909339"/>
            <a:chExt cx="1881187" cy="1881187"/>
          </a:xfrm>
          <a:solidFill>
            <a:srgbClr val="002060"/>
          </a:solidFill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26609E29-C094-F3D9-2187-1ACCED21FC6A}"/>
                </a:ext>
              </a:extLst>
            </p:cNvPr>
            <p:cNvSpPr/>
            <p:nvPr/>
          </p:nvSpPr>
          <p:spPr>
            <a:xfrm>
              <a:off x="3123406" y="1909339"/>
              <a:ext cx="1881187" cy="1881187"/>
            </a:xfrm>
            <a:prstGeom prst="ellipse">
              <a:avLst/>
            </a:prstGeom>
            <a:grpFill/>
            <a:ln w="38100"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Oval 4">
              <a:extLst>
                <a:ext uri="{FF2B5EF4-FFF2-40B4-BE49-F238E27FC236}">
                  <a16:creationId xmlns:a16="http://schemas.microsoft.com/office/drawing/2014/main" id="{6F3092DD-EC4B-A188-213B-8CA2448045FC}"/>
                </a:ext>
              </a:extLst>
            </p:cNvPr>
            <p:cNvSpPr txBox="1"/>
            <p:nvPr/>
          </p:nvSpPr>
          <p:spPr>
            <a:xfrm>
              <a:off x="3264677" y="2164132"/>
              <a:ext cx="1598646" cy="1371602"/>
            </a:xfrm>
            <a:prstGeom prst="rect">
              <a:avLst/>
            </a:prstGeom>
            <a:noFill/>
            <a:ln w="38100"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de-DE" b="1" kern="1200" dirty="0"/>
                <a:t>BASELINE</a:t>
              </a:r>
            </a:p>
            <a:p>
              <a:pPr marL="0" lvl="0" indent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b="1" kern="1200" dirty="0"/>
                <a:t>ALGORITHM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432883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A2A9B6-5F60-3C30-59D2-69D698051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E37CD9-9368-0EE6-9849-7EACD8E4D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1">
              <a:rPr lang="en-US" altLang="en-US" smtClean="0"/>
              <a:t>12/1/2025</a:t>
            </a:fld>
            <a:endParaRPr lang="zh-CN" alt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08BFEE-D803-F2DC-EBFD-87E764D17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1EB73008-F334-DACA-2438-CCA5B9335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altLang="zh-CN">
                <a:sym typeface="+mn-ea"/>
              </a:rPr>
              <a:t>Real-Time Time-Optimal Spacecraft Attitude Control</a:t>
            </a:r>
            <a:endParaRPr lang="zh-CN" altLang="en-US"/>
          </a:p>
        </p:txBody>
      </p:sp>
      <p:graphicFrame>
        <p:nvGraphicFramePr>
          <p:cNvPr id="16" name="Diagram 15">
            <a:extLst>
              <a:ext uri="{FF2B5EF4-FFF2-40B4-BE49-F238E27FC236}">
                <a16:creationId xmlns:a16="http://schemas.microsoft.com/office/drawing/2014/main" id="{F4993F53-7520-2A7E-9C85-38C443B10F9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50027550"/>
              </p:ext>
            </p:extLst>
          </p:nvPr>
        </p:nvGraphicFramePr>
        <p:xfrm>
          <a:off x="4851400" y="1092294"/>
          <a:ext cx="8128000" cy="54012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11" name="Group 10">
            <a:extLst>
              <a:ext uri="{FF2B5EF4-FFF2-40B4-BE49-F238E27FC236}">
                <a16:creationId xmlns:a16="http://schemas.microsoft.com/office/drawing/2014/main" id="{E8F439E3-59BC-B499-4751-32356398A383}"/>
              </a:ext>
            </a:extLst>
          </p:cNvPr>
          <p:cNvGrpSpPr/>
          <p:nvPr/>
        </p:nvGrpSpPr>
        <p:grpSpPr>
          <a:xfrm>
            <a:off x="7974807" y="2852309"/>
            <a:ext cx="1881187" cy="1881187"/>
            <a:chOff x="3123406" y="1909339"/>
            <a:chExt cx="1881187" cy="1881187"/>
          </a:xfrm>
          <a:solidFill>
            <a:srgbClr val="002060"/>
          </a:solidFill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4914004E-97CA-E9D6-29B3-E54A69F76CA1}"/>
                </a:ext>
              </a:extLst>
            </p:cNvPr>
            <p:cNvSpPr/>
            <p:nvPr/>
          </p:nvSpPr>
          <p:spPr>
            <a:xfrm>
              <a:off x="3123406" y="1909339"/>
              <a:ext cx="1881187" cy="1881187"/>
            </a:xfrm>
            <a:prstGeom prst="ellipse">
              <a:avLst/>
            </a:prstGeom>
            <a:grpFill/>
            <a:ln w="38100"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Oval 4">
              <a:extLst>
                <a:ext uri="{FF2B5EF4-FFF2-40B4-BE49-F238E27FC236}">
                  <a16:creationId xmlns:a16="http://schemas.microsoft.com/office/drawing/2014/main" id="{6A9FBB04-C6A0-770C-3204-190E59FB7E7A}"/>
                </a:ext>
              </a:extLst>
            </p:cNvPr>
            <p:cNvSpPr txBox="1"/>
            <p:nvPr/>
          </p:nvSpPr>
          <p:spPr>
            <a:xfrm>
              <a:off x="3264677" y="2164132"/>
              <a:ext cx="1598646" cy="1371602"/>
            </a:xfrm>
            <a:prstGeom prst="rect">
              <a:avLst/>
            </a:prstGeom>
            <a:noFill/>
            <a:ln w="38100"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de-DE" b="1" kern="1200" dirty="0"/>
                <a:t>BASELINE</a:t>
              </a:r>
            </a:p>
            <a:p>
              <a:pPr marL="0" lvl="0" indent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b="1" kern="1200" dirty="0"/>
                <a:t>ALGORITHM</a:t>
              </a:r>
            </a:p>
          </p:txBody>
        </p:sp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id="{7F0A616C-BA70-E4CA-EFB5-F83A439AD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9E2FD17-C631-73E0-F3B1-481A8088F499}"/>
              </a:ext>
            </a:extLst>
          </p:cNvPr>
          <p:cNvSpPr txBox="1">
            <a:spLocks/>
          </p:cNvSpPr>
          <p:nvPr/>
        </p:nvSpPr>
        <p:spPr>
          <a:xfrm>
            <a:off x="838200" y="-3619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de-DE" altLang="en-US" sz="4400">
                <a:latin typeface="Arial Black" panose="020B0A04020102020204" charset="0"/>
                <a:cs typeface="Arial Black" panose="020B0A04020102020204" charset="0"/>
              </a:rPr>
              <a:t>Foundational Choices</a:t>
            </a:r>
            <a:endParaRPr lang="de-DE" altLang="en-US" sz="4400" dirty="0"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51DDF9-D36C-05E6-F777-5D71122B60EC}"/>
              </a:ext>
            </a:extLst>
          </p:cNvPr>
          <p:cNvSpPr txBox="1"/>
          <p:nvPr/>
        </p:nvSpPr>
        <p:spPr>
          <a:xfrm>
            <a:off x="670851" y="2200776"/>
            <a:ext cx="3612850" cy="2949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de-DE" b="1" dirty="0"/>
              <a:t>Choice:</a:t>
            </a:r>
          </a:p>
          <a:p>
            <a:pPr>
              <a:lnSpc>
                <a:spcPct val="150000"/>
              </a:lnSpc>
            </a:pPr>
            <a:r>
              <a:rPr lang="de-DE" dirty="0"/>
              <a:t>Quaternion parameterisation</a:t>
            </a:r>
          </a:p>
          <a:p>
            <a:pPr>
              <a:lnSpc>
                <a:spcPct val="150000"/>
              </a:lnSpc>
            </a:pPr>
            <a:endParaRPr lang="de-DE" dirty="0"/>
          </a:p>
          <a:p>
            <a:pPr>
              <a:lnSpc>
                <a:spcPct val="150000"/>
              </a:lnSpc>
            </a:pPr>
            <a:r>
              <a:rPr lang="de-DE" b="1" dirty="0"/>
              <a:t>Reasoning: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/>
              <a:t>No singularities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/>
              <a:t>Minimal redundancy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/>
              <a:t>Linear kinematic equations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22100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FFDD55-3BDE-647C-F75B-B37C159FA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80A4CF-6B23-25B9-906C-8315D8D48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1">
              <a:rPr lang="en-US" altLang="en-US" smtClean="0"/>
              <a:t>12/1/2025</a:t>
            </a:fld>
            <a:endParaRPr lang="zh-CN" alt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1DE31055-8380-29CD-DE74-EB7801716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207EC426-B462-BFBA-4FCF-F84DE6D41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altLang="zh-CN">
                <a:sym typeface="+mn-ea"/>
              </a:rPr>
              <a:t>Real-Time Time-Optimal Spacecraft Attitude Control</a:t>
            </a:r>
            <a:endParaRPr lang="zh-CN" altLang="en-US"/>
          </a:p>
        </p:txBody>
      </p:sp>
      <p:graphicFrame>
        <p:nvGraphicFramePr>
          <p:cNvPr id="16" name="Diagram 15">
            <a:extLst>
              <a:ext uri="{FF2B5EF4-FFF2-40B4-BE49-F238E27FC236}">
                <a16:creationId xmlns:a16="http://schemas.microsoft.com/office/drawing/2014/main" id="{10AEC229-9106-ED70-37D9-483D5028480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89140392"/>
              </p:ext>
            </p:extLst>
          </p:nvPr>
        </p:nvGraphicFramePr>
        <p:xfrm>
          <a:off x="4851400" y="1092294"/>
          <a:ext cx="8128000" cy="54012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11" name="Group 10">
            <a:extLst>
              <a:ext uri="{FF2B5EF4-FFF2-40B4-BE49-F238E27FC236}">
                <a16:creationId xmlns:a16="http://schemas.microsoft.com/office/drawing/2014/main" id="{B1F0F0CB-DF6D-8A65-0EEF-C6F64F79D096}"/>
              </a:ext>
            </a:extLst>
          </p:cNvPr>
          <p:cNvGrpSpPr/>
          <p:nvPr/>
        </p:nvGrpSpPr>
        <p:grpSpPr>
          <a:xfrm>
            <a:off x="7974807" y="2852309"/>
            <a:ext cx="1881187" cy="1881187"/>
            <a:chOff x="3123406" y="1909339"/>
            <a:chExt cx="1881187" cy="1881187"/>
          </a:xfrm>
          <a:solidFill>
            <a:srgbClr val="002060"/>
          </a:solidFill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84393890-F3B9-C5EB-D98F-7A1E7F4AA458}"/>
                </a:ext>
              </a:extLst>
            </p:cNvPr>
            <p:cNvSpPr/>
            <p:nvPr/>
          </p:nvSpPr>
          <p:spPr>
            <a:xfrm>
              <a:off x="3123406" y="1909339"/>
              <a:ext cx="1881187" cy="1881187"/>
            </a:xfrm>
            <a:prstGeom prst="ellipse">
              <a:avLst/>
            </a:prstGeom>
            <a:grpFill/>
            <a:ln w="38100"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Oval 4">
              <a:extLst>
                <a:ext uri="{FF2B5EF4-FFF2-40B4-BE49-F238E27FC236}">
                  <a16:creationId xmlns:a16="http://schemas.microsoft.com/office/drawing/2014/main" id="{A4823A98-83F1-9159-8FF7-EAF3E41E5E6C}"/>
                </a:ext>
              </a:extLst>
            </p:cNvPr>
            <p:cNvSpPr txBox="1"/>
            <p:nvPr/>
          </p:nvSpPr>
          <p:spPr>
            <a:xfrm>
              <a:off x="3264677" y="2164132"/>
              <a:ext cx="1598646" cy="1371602"/>
            </a:xfrm>
            <a:prstGeom prst="rect">
              <a:avLst/>
            </a:prstGeom>
            <a:noFill/>
            <a:ln w="38100"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de-DE" b="1" kern="1200" dirty="0"/>
                <a:t>BASELINE</a:t>
              </a:r>
            </a:p>
            <a:p>
              <a:pPr marL="0" lvl="0" indent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b="1" kern="1200" dirty="0"/>
                <a:t>ALGORITHM</a:t>
              </a:r>
            </a:p>
          </p:txBody>
        </p:sp>
      </p:grpSp>
      <p:sp>
        <p:nvSpPr>
          <p:cNvPr id="5" name="Title 4">
            <a:extLst>
              <a:ext uri="{FF2B5EF4-FFF2-40B4-BE49-F238E27FC236}">
                <a16:creationId xmlns:a16="http://schemas.microsoft.com/office/drawing/2014/main" id="{8B0D025A-83BE-B805-17AC-166DB3ACB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D6267BA-E3BB-0033-775C-24BD3B2D9140}"/>
              </a:ext>
            </a:extLst>
          </p:cNvPr>
          <p:cNvSpPr txBox="1">
            <a:spLocks/>
          </p:cNvSpPr>
          <p:nvPr/>
        </p:nvSpPr>
        <p:spPr>
          <a:xfrm>
            <a:off x="838200" y="-3619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de-DE" altLang="en-US" sz="4400">
                <a:latin typeface="Arial Black" panose="020B0A04020102020204" charset="0"/>
                <a:cs typeface="Arial Black" panose="020B0A04020102020204" charset="0"/>
              </a:rPr>
              <a:t>Foundational Choices</a:t>
            </a:r>
            <a:endParaRPr lang="de-DE" altLang="en-US" sz="4400" dirty="0"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B986C5-1133-7B79-37D3-BAD6B3F0456B}"/>
              </a:ext>
            </a:extLst>
          </p:cNvPr>
          <p:cNvSpPr txBox="1"/>
          <p:nvPr/>
        </p:nvSpPr>
        <p:spPr>
          <a:xfrm>
            <a:off x="670850" y="2200776"/>
            <a:ext cx="4114800" cy="3365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de-DE" b="1" dirty="0"/>
              <a:t>Choice:</a:t>
            </a:r>
          </a:p>
          <a:p>
            <a:pPr>
              <a:lnSpc>
                <a:spcPct val="150000"/>
              </a:lnSpc>
            </a:pPr>
            <a:r>
              <a:rPr lang="de-DE" dirty="0"/>
              <a:t>Direct dynamics formulation</a:t>
            </a:r>
          </a:p>
          <a:p>
            <a:pPr>
              <a:lnSpc>
                <a:spcPct val="150000"/>
              </a:lnSpc>
            </a:pPr>
            <a:endParaRPr lang="de-DE" dirty="0"/>
          </a:p>
          <a:p>
            <a:pPr>
              <a:lnSpc>
                <a:spcPct val="150000"/>
              </a:lnSpc>
            </a:pPr>
            <a:r>
              <a:rPr lang="de-DE" b="1" dirty="0"/>
              <a:t>Reasoning: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/>
              <a:t>Simpler implementation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/>
              <a:t>Better handling of bang-bang control structure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/>
              <a:t>Higher generality</a:t>
            </a:r>
          </a:p>
        </p:txBody>
      </p:sp>
    </p:spTree>
    <p:extLst>
      <p:ext uri="{BB962C8B-B14F-4D97-AF65-F5344CB8AC3E}">
        <p14:creationId xmlns:p14="http://schemas.microsoft.com/office/powerpoint/2010/main" val="31599926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C20AC9-27A4-C5C4-B54C-786D47549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DDDC59-4534-B603-0AC2-B0E3D1848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1">
              <a:rPr lang="en-US" altLang="en-US" smtClean="0"/>
              <a:t>12/1/2025</a:t>
            </a:fld>
            <a:endParaRPr lang="zh-CN" alt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1CEE75-355C-2690-3F7C-2E63D8E5D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C8EE27C5-FC00-E26C-9864-463DD82DF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altLang="zh-CN">
                <a:sym typeface="+mn-ea"/>
              </a:rPr>
              <a:t>Real-Time Time-Optimal Spacecraft Attitude Control</a:t>
            </a:r>
            <a:endParaRPr lang="zh-CN" altLang="en-US"/>
          </a:p>
        </p:txBody>
      </p:sp>
      <p:graphicFrame>
        <p:nvGraphicFramePr>
          <p:cNvPr id="16" name="Diagram 15">
            <a:extLst>
              <a:ext uri="{FF2B5EF4-FFF2-40B4-BE49-F238E27FC236}">
                <a16:creationId xmlns:a16="http://schemas.microsoft.com/office/drawing/2014/main" id="{FAC4CBCC-3E2A-E23D-95C4-8455A3F95CE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27258309"/>
              </p:ext>
            </p:extLst>
          </p:nvPr>
        </p:nvGraphicFramePr>
        <p:xfrm>
          <a:off x="4851400" y="1092294"/>
          <a:ext cx="8128000" cy="54012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11" name="Group 10">
            <a:extLst>
              <a:ext uri="{FF2B5EF4-FFF2-40B4-BE49-F238E27FC236}">
                <a16:creationId xmlns:a16="http://schemas.microsoft.com/office/drawing/2014/main" id="{6AED5D4E-7B98-71CE-A1D7-873B2443A8CB}"/>
              </a:ext>
            </a:extLst>
          </p:cNvPr>
          <p:cNvGrpSpPr/>
          <p:nvPr/>
        </p:nvGrpSpPr>
        <p:grpSpPr>
          <a:xfrm>
            <a:off x="7974807" y="2852309"/>
            <a:ext cx="1881187" cy="1881187"/>
            <a:chOff x="3123406" y="1909339"/>
            <a:chExt cx="1881187" cy="1881187"/>
          </a:xfrm>
          <a:solidFill>
            <a:srgbClr val="002060"/>
          </a:solidFill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2757AEDB-E476-6D3E-31B2-37F595696B97}"/>
                </a:ext>
              </a:extLst>
            </p:cNvPr>
            <p:cNvSpPr/>
            <p:nvPr/>
          </p:nvSpPr>
          <p:spPr>
            <a:xfrm>
              <a:off x="3123406" y="1909339"/>
              <a:ext cx="1881187" cy="1881187"/>
            </a:xfrm>
            <a:prstGeom prst="ellipse">
              <a:avLst/>
            </a:prstGeom>
            <a:grpFill/>
            <a:ln w="38100"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Oval 4">
              <a:extLst>
                <a:ext uri="{FF2B5EF4-FFF2-40B4-BE49-F238E27FC236}">
                  <a16:creationId xmlns:a16="http://schemas.microsoft.com/office/drawing/2014/main" id="{F9CBAD16-B07E-A14A-A629-A12A7B49D653}"/>
                </a:ext>
              </a:extLst>
            </p:cNvPr>
            <p:cNvSpPr txBox="1"/>
            <p:nvPr/>
          </p:nvSpPr>
          <p:spPr>
            <a:xfrm>
              <a:off x="3264677" y="2164132"/>
              <a:ext cx="1598646" cy="1371602"/>
            </a:xfrm>
            <a:prstGeom prst="rect">
              <a:avLst/>
            </a:prstGeom>
            <a:noFill/>
            <a:ln w="38100"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de-DE" b="1" kern="1200" dirty="0"/>
                <a:t>BASELINE</a:t>
              </a:r>
            </a:p>
            <a:p>
              <a:pPr marL="0" lvl="0" indent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b="1" kern="1200" dirty="0"/>
                <a:t>ALGORITHM</a:t>
              </a:r>
            </a:p>
          </p:txBody>
        </p:sp>
      </p:grpSp>
      <p:sp>
        <p:nvSpPr>
          <p:cNvPr id="5" name="Title 4">
            <a:extLst>
              <a:ext uri="{FF2B5EF4-FFF2-40B4-BE49-F238E27FC236}">
                <a16:creationId xmlns:a16="http://schemas.microsoft.com/office/drawing/2014/main" id="{393EB1E2-8029-C1CB-363D-147872CC1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0BA304C-DECB-9F16-265A-3A07BD080C19}"/>
              </a:ext>
            </a:extLst>
          </p:cNvPr>
          <p:cNvSpPr txBox="1">
            <a:spLocks/>
          </p:cNvSpPr>
          <p:nvPr/>
        </p:nvSpPr>
        <p:spPr>
          <a:xfrm>
            <a:off x="838200" y="-3619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de-DE" altLang="en-US" sz="4400">
                <a:latin typeface="Arial Black" panose="020B0A04020102020204" charset="0"/>
                <a:cs typeface="Arial Black" panose="020B0A04020102020204" charset="0"/>
              </a:rPr>
              <a:t>Foundational Choices</a:t>
            </a:r>
            <a:endParaRPr lang="de-DE" altLang="en-US" sz="4400" dirty="0"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2EE344-EC32-C098-1134-983F49576119}"/>
              </a:ext>
            </a:extLst>
          </p:cNvPr>
          <p:cNvSpPr txBox="1"/>
          <p:nvPr/>
        </p:nvSpPr>
        <p:spPr>
          <a:xfrm>
            <a:off x="670850" y="2200776"/>
            <a:ext cx="4114800" cy="3365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de-DE" b="1" dirty="0"/>
              <a:t>Choice:</a:t>
            </a:r>
          </a:p>
          <a:p>
            <a:pPr>
              <a:lnSpc>
                <a:spcPct val="150000"/>
              </a:lnSpc>
            </a:pPr>
            <a:r>
              <a:rPr lang="de-DE" dirty="0"/>
              <a:t>Full trajectory parameterisation</a:t>
            </a:r>
          </a:p>
          <a:p>
            <a:pPr>
              <a:lnSpc>
                <a:spcPct val="150000"/>
              </a:lnSpc>
            </a:pPr>
            <a:endParaRPr lang="de-DE" dirty="0"/>
          </a:p>
          <a:p>
            <a:pPr>
              <a:lnSpc>
                <a:spcPct val="150000"/>
              </a:lnSpc>
            </a:pPr>
            <a:r>
              <a:rPr lang="de-DE" b="1" dirty="0"/>
              <a:t>Reasoning: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/>
              <a:t>Better convergence robustness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/>
              <a:t>No assumption about solution structure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/>
              <a:t>Higher generality</a:t>
            </a:r>
          </a:p>
        </p:txBody>
      </p:sp>
    </p:spTree>
    <p:extLst>
      <p:ext uri="{BB962C8B-B14F-4D97-AF65-F5344CB8AC3E}">
        <p14:creationId xmlns:p14="http://schemas.microsoft.com/office/powerpoint/2010/main" val="956574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D4719-A5B0-EDEE-3E61-588EE9923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8BBF48-6D92-324E-F348-E9586FB4BA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1">
              <a:rPr lang="en-US" altLang="en-US" smtClean="0"/>
              <a:t>12/1/2025</a:t>
            </a:fld>
            <a:endParaRPr lang="zh-CN" alt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147C903-3538-4C59-8E42-B6564BC3F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40A709A7-BA95-DFA7-19CC-BE52D9625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altLang="zh-CN">
                <a:sym typeface="+mn-ea"/>
              </a:rPr>
              <a:t>Real-Time Time-Optimal Spacecraft Attitude Control</a:t>
            </a:r>
            <a:endParaRPr lang="zh-CN" altLang="en-US"/>
          </a:p>
        </p:txBody>
      </p:sp>
      <p:graphicFrame>
        <p:nvGraphicFramePr>
          <p:cNvPr id="16" name="Diagram 15">
            <a:extLst>
              <a:ext uri="{FF2B5EF4-FFF2-40B4-BE49-F238E27FC236}">
                <a16:creationId xmlns:a16="http://schemas.microsoft.com/office/drawing/2014/main" id="{46C870BA-E9D3-BE0A-6D0C-5D31F7CABD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19519696"/>
              </p:ext>
            </p:extLst>
          </p:nvPr>
        </p:nvGraphicFramePr>
        <p:xfrm>
          <a:off x="4851400" y="1092294"/>
          <a:ext cx="8128000" cy="54012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11" name="Group 10">
            <a:extLst>
              <a:ext uri="{FF2B5EF4-FFF2-40B4-BE49-F238E27FC236}">
                <a16:creationId xmlns:a16="http://schemas.microsoft.com/office/drawing/2014/main" id="{C9C21A62-84A5-9627-4720-CDDBCC5783A8}"/>
              </a:ext>
            </a:extLst>
          </p:cNvPr>
          <p:cNvGrpSpPr/>
          <p:nvPr/>
        </p:nvGrpSpPr>
        <p:grpSpPr>
          <a:xfrm>
            <a:off x="7974807" y="2852309"/>
            <a:ext cx="1881187" cy="1881187"/>
            <a:chOff x="3123406" y="1909339"/>
            <a:chExt cx="1881187" cy="1881187"/>
          </a:xfrm>
          <a:solidFill>
            <a:srgbClr val="002060"/>
          </a:solidFill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3D6A1FF3-7214-9C86-12FA-9BD06999D20B}"/>
                </a:ext>
              </a:extLst>
            </p:cNvPr>
            <p:cNvSpPr/>
            <p:nvPr/>
          </p:nvSpPr>
          <p:spPr>
            <a:xfrm>
              <a:off x="3123406" y="1909339"/>
              <a:ext cx="1881187" cy="1881187"/>
            </a:xfrm>
            <a:prstGeom prst="ellipse">
              <a:avLst/>
            </a:prstGeom>
            <a:grpFill/>
            <a:ln w="38100"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Oval 4">
              <a:extLst>
                <a:ext uri="{FF2B5EF4-FFF2-40B4-BE49-F238E27FC236}">
                  <a16:creationId xmlns:a16="http://schemas.microsoft.com/office/drawing/2014/main" id="{6E2A6E37-0D15-53B1-44D4-A8601BAACA25}"/>
                </a:ext>
              </a:extLst>
            </p:cNvPr>
            <p:cNvSpPr txBox="1"/>
            <p:nvPr/>
          </p:nvSpPr>
          <p:spPr>
            <a:xfrm>
              <a:off x="3264677" y="2164132"/>
              <a:ext cx="1598646" cy="1371602"/>
            </a:xfrm>
            <a:prstGeom prst="rect">
              <a:avLst/>
            </a:prstGeom>
            <a:noFill/>
            <a:ln w="38100"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de-DE" b="1" kern="1200" dirty="0"/>
                <a:t>BASELINE</a:t>
              </a:r>
            </a:p>
            <a:p>
              <a:pPr marL="0" lvl="0" indent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b="1" kern="1200" dirty="0"/>
                <a:t>ALGORITHM</a:t>
              </a:r>
            </a:p>
          </p:txBody>
        </p:sp>
      </p:grpSp>
      <p:sp>
        <p:nvSpPr>
          <p:cNvPr id="5" name="Title 4">
            <a:extLst>
              <a:ext uri="{FF2B5EF4-FFF2-40B4-BE49-F238E27FC236}">
                <a16:creationId xmlns:a16="http://schemas.microsoft.com/office/drawing/2014/main" id="{F8018DB1-3C99-6097-729F-D3730F693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3FD3AEF-5F25-4F73-62EB-8A6299991450}"/>
              </a:ext>
            </a:extLst>
          </p:cNvPr>
          <p:cNvSpPr txBox="1">
            <a:spLocks/>
          </p:cNvSpPr>
          <p:nvPr/>
        </p:nvSpPr>
        <p:spPr>
          <a:xfrm>
            <a:off x="838200" y="-3619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de-DE" altLang="en-US" sz="4400">
                <a:latin typeface="Arial Black" panose="020B0A04020102020204" charset="0"/>
                <a:cs typeface="Arial Black" panose="020B0A04020102020204" charset="0"/>
              </a:rPr>
              <a:t>Foundational Choices</a:t>
            </a:r>
            <a:endParaRPr lang="de-DE" altLang="en-US" sz="4400" dirty="0"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A0B21E-DEEA-DBBD-7B8A-0FBEF230C8EB}"/>
              </a:ext>
            </a:extLst>
          </p:cNvPr>
          <p:cNvSpPr txBox="1"/>
          <p:nvPr/>
        </p:nvSpPr>
        <p:spPr>
          <a:xfrm>
            <a:off x="670850" y="2200776"/>
            <a:ext cx="4114800" cy="3365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de-DE" b="1" dirty="0"/>
              <a:t>Choice:</a:t>
            </a:r>
          </a:p>
          <a:p>
            <a:pPr>
              <a:lnSpc>
                <a:spcPct val="150000"/>
              </a:lnSpc>
            </a:pPr>
            <a:r>
              <a:rPr lang="de-DE" dirty="0"/>
              <a:t>Direct methods</a:t>
            </a:r>
          </a:p>
          <a:p>
            <a:pPr>
              <a:lnSpc>
                <a:spcPct val="150000"/>
              </a:lnSpc>
            </a:pPr>
            <a:endParaRPr lang="de-DE" dirty="0"/>
          </a:p>
          <a:p>
            <a:pPr>
              <a:lnSpc>
                <a:spcPct val="150000"/>
              </a:lnSpc>
            </a:pPr>
            <a:r>
              <a:rPr lang="de-DE" b="1" dirty="0"/>
              <a:t>Reasoning: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/>
              <a:t>Less sensitive to initialisation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/>
              <a:t>Less computationally expensive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/>
              <a:t>Mature solver infrastructure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/>
              <a:t>Intuitive initialisation</a:t>
            </a:r>
          </a:p>
        </p:txBody>
      </p:sp>
    </p:spTree>
    <p:extLst>
      <p:ext uri="{BB962C8B-B14F-4D97-AF65-F5344CB8AC3E}">
        <p14:creationId xmlns:p14="http://schemas.microsoft.com/office/powerpoint/2010/main" val="30786093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3F13F7-AD86-DA6A-DA75-3ABC51F1E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D5A04A-BC1B-3A36-83D7-FA954DFC1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1">
              <a:rPr lang="en-US" altLang="en-US" smtClean="0"/>
              <a:t>12/1/2025</a:t>
            </a:fld>
            <a:endParaRPr lang="zh-CN" alt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D33A9ADE-C637-E2F7-ADD9-2F81C2E9A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FAC03360-C0C2-29E7-472A-562671469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altLang="zh-CN">
                <a:sym typeface="+mn-ea"/>
              </a:rPr>
              <a:t>Real-Time Time-Optimal Spacecraft Attitude Control</a:t>
            </a:r>
            <a:endParaRPr lang="zh-CN" altLang="en-US"/>
          </a:p>
        </p:txBody>
      </p:sp>
      <p:graphicFrame>
        <p:nvGraphicFramePr>
          <p:cNvPr id="16" name="Diagram 15">
            <a:extLst>
              <a:ext uri="{FF2B5EF4-FFF2-40B4-BE49-F238E27FC236}">
                <a16:creationId xmlns:a16="http://schemas.microsoft.com/office/drawing/2014/main" id="{FF2C66F1-7F08-230B-2534-8081A43ECC1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23401056"/>
              </p:ext>
            </p:extLst>
          </p:nvPr>
        </p:nvGraphicFramePr>
        <p:xfrm>
          <a:off x="4851400" y="1092294"/>
          <a:ext cx="8128000" cy="54012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11" name="Group 10">
            <a:extLst>
              <a:ext uri="{FF2B5EF4-FFF2-40B4-BE49-F238E27FC236}">
                <a16:creationId xmlns:a16="http://schemas.microsoft.com/office/drawing/2014/main" id="{807EDD6E-CC7D-4DD1-B62B-BC72C3FBA870}"/>
              </a:ext>
            </a:extLst>
          </p:cNvPr>
          <p:cNvGrpSpPr/>
          <p:nvPr/>
        </p:nvGrpSpPr>
        <p:grpSpPr>
          <a:xfrm>
            <a:off x="7974807" y="2852309"/>
            <a:ext cx="1881187" cy="1881187"/>
            <a:chOff x="3123406" y="1909339"/>
            <a:chExt cx="1881187" cy="1881187"/>
          </a:xfrm>
          <a:solidFill>
            <a:srgbClr val="002060"/>
          </a:solidFill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2B993ACB-3259-1A34-DE55-B11E632E4170}"/>
                </a:ext>
              </a:extLst>
            </p:cNvPr>
            <p:cNvSpPr/>
            <p:nvPr/>
          </p:nvSpPr>
          <p:spPr>
            <a:xfrm>
              <a:off x="3123406" y="1909339"/>
              <a:ext cx="1881187" cy="1881187"/>
            </a:xfrm>
            <a:prstGeom prst="ellipse">
              <a:avLst/>
            </a:prstGeom>
            <a:grpFill/>
            <a:ln w="38100"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Oval 4">
              <a:extLst>
                <a:ext uri="{FF2B5EF4-FFF2-40B4-BE49-F238E27FC236}">
                  <a16:creationId xmlns:a16="http://schemas.microsoft.com/office/drawing/2014/main" id="{2FC039C4-A654-6F52-0B22-8092CD2AE625}"/>
                </a:ext>
              </a:extLst>
            </p:cNvPr>
            <p:cNvSpPr txBox="1"/>
            <p:nvPr/>
          </p:nvSpPr>
          <p:spPr>
            <a:xfrm>
              <a:off x="3264677" y="2164132"/>
              <a:ext cx="1598646" cy="1371602"/>
            </a:xfrm>
            <a:prstGeom prst="rect">
              <a:avLst/>
            </a:prstGeom>
            <a:noFill/>
            <a:ln w="38100"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de-DE" b="1" kern="1200" dirty="0"/>
                <a:t>BASELINE</a:t>
              </a:r>
            </a:p>
            <a:p>
              <a:pPr marL="0" lvl="0" indent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b="1" kern="1200" dirty="0"/>
                <a:t>ALGORITHM</a:t>
              </a:r>
            </a:p>
          </p:txBody>
        </p:sp>
      </p:grpSp>
      <p:sp>
        <p:nvSpPr>
          <p:cNvPr id="5" name="Title 4">
            <a:extLst>
              <a:ext uri="{FF2B5EF4-FFF2-40B4-BE49-F238E27FC236}">
                <a16:creationId xmlns:a16="http://schemas.microsoft.com/office/drawing/2014/main" id="{30DA6F8F-84C0-309D-0472-D57C1DF0F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2B37097-E10C-9BA6-A2AD-EB2D325FA932}"/>
              </a:ext>
            </a:extLst>
          </p:cNvPr>
          <p:cNvSpPr txBox="1">
            <a:spLocks/>
          </p:cNvSpPr>
          <p:nvPr/>
        </p:nvSpPr>
        <p:spPr>
          <a:xfrm>
            <a:off x="838200" y="-3619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de-DE" altLang="en-US" sz="4400">
                <a:latin typeface="Arial Black" panose="020B0A04020102020204" charset="0"/>
                <a:cs typeface="Arial Black" panose="020B0A04020102020204" charset="0"/>
              </a:rPr>
              <a:t>Foundational Choices</a:t>
            </a:r>
            <a:endParaRPr lang="de-DE" altLang="en-US" sz="4400" dirty="0"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4869F9-0179-0CF0-B89B-B89F05094973}"/>
              </a:ext>
            </a:extLst>
          </p:cNvPr>
          <p:cNvSpPr txBox="1"/>
          <p:nvPr/>
        </p:nvSpPr>
        <p:spPr>
          <a:xfrm>
            <a:off x="670850" y="2200776"/>
            <a:ext cx="4693630" cy="37805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de-DE" b="1" dirty="0"/>
              <a:t>Choice:</a:t>
            </a:r>
          </a:p>
          <a:p>
            <a:pPr>
              <a:lnSpc>
                <a:spcPct val="150000"/>
              </a:lnSpc>
            </a:pPr>
            <a:r>
              <a:rPr lang="de-DE" dirty="0"/>
              <a:t>CasADi</a:t>
            </a:r>
          </a:p>
          <a:p>
            <a:pPr>
              <a:lnSpc>
                <a:spcPct val="150000"/>
              </a:lnSpc>
            </a:pPr>
            <a:endParaRPr lang="de-DE" dirty="0"/>
          </a:p>
          <a:p>
            <a:pPr>
              <a:lnSpc>
                <a:spcPct val="150000"/>
              </a:lnSpc>
            </a:pPr>
            <a:r>
              <a:rPr lang="de-DE" b="1" dirty="0"/>
              <a:t>Reasoning: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/>
              <a:t>Automatic differentiation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/>
              <a:t>Automatic sparsity exploitation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/>
              <a:t>C-code generation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/>
              <a:t>High-level interface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/>
              <a:t>Compatible with multiple NLP Solvers</a:t>
            </a:r>
          </a:p>
        </p:txBody>
      </p:sp>
    </p:spTree>
    <p:extLst>
      <p:ext uri="{BB962C8B-B14F-4D97-AF65-F5344CB8AC3E}">
        <p14:creationId xmlns:p14="http://schemas.microsoft.com/office/powerpoint/2010/main" val="16947361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F0768-DBEB-624D-CF3E-45F46BF02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8CF30A-1437-5DF7-7918-8F2B26E95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1">
              <a:rPr lang="en-US" altLang="en-US" smtClean="0"/>
              <a:t>12/1/2025</a:t>
            </a:fld>
            <a:endParaRPr lang="zh-CN" alt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69550B4B-E97C-8F5E-C2D4-E6C4DFBEF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77DB37D0-F6CD-4DEE-AA32-7A697E1DE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altLang="zh-CN">
                <a:sym typeface="+mn-ea"/>
              </a:rPr>
              <a:t>Real-Time Time-Optimal Spacecraft Attitude Control</a:t>
            </a:r>
            <a:endParaRPr lang="zh-CN" altLang="en-US"/>
          </a:p>
        </p:txBody>
      </p:sp>
      <p:graphicFrame>
        <p:nvGraphicFramePr>
          <p:cNvPr id="16" name="Diagram 15">
            <a:extLst>
              <a:ext uri="{FF2B5EF4-FFF2-40B4-BE49-F238E27FC236}">
                <a16:creationId xmlns:a16="http://schemas.microsoft.com/office/drawing/2014/main" id="{2304EF56-EF34-DC1D-238F-538C221BB92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54266823"/>
              </p:ext>
            </p:extLst>
          </p:nvPr>
        </p:nvGraphicFramePr>
        <p:xfrm>
          <a:off x="4851400" y="1092294"/>
          <a:ext cx="8128000" cy="54012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11" name="Group 10">
            <a:extLst>
              <a:ext uri="{FF2B5EF4-FFF2-40B4-BE49-F238E27FC236}">
                <a16:creationId xmlns:a16="http://schemas.microsoft.com/office/drawing/2014/main" id="{8BA7FDEC-4165-6C83-EAE3-9158920F2D32}"/>
              </a:ext>
            </a:extLst>
          </p:cNvPr>
          <p:cNvGrpSpPr/>
          <p:nvPr/>
        </p:nvGrpSpPr>
        <p:grpSpPr>
          <a:xfrm>
            <a:off x="7974807" y="2852309"/>
            <a:ext cx="1881187" cy="1881187"/>
            <a:chOff x="3123406" y="1909339"/>
            <a:chExt cx="1881187" cy="1881187"/>
          </a:xfrm>
          <a:solidFill>
            <a:srgbClr val="002060"/>
          </a:solidFill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D662072B-722B-28A7-BE40-78EAA4B0D841}"/>
                </a:ext>
              </a:extLst>
            </p:cNvPr>
            <p:cNvSpPr/>
            <p:nvPr/>
          </p:nvSpPr>
          <p:spPr>
            <a:xfrm>
              <a:off x="3123406" y="1909339"/>
              <a:ext cx="1881187" cy="1881187"/>
            </a:xfrm>
            <a:prstGeom prst="ellipse">
              <a:avLst/>
            </a:prstGeom>
            <a:grpFill/>
            <a:ln w="38100"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Oval 4">
              <a:extLst>
                <a:ext uri="{FF2B5EF4-FFF2-40B4-BE49-F238E27FC236}">
                  <a16:creationId xmlns:a16="http://schemas.microsoft.com/office/drawing/2014/main" id="{528F7C69-AD01-ABFF-5E77-D76484D4B2E9}"/>
                </a:ext>
              </a:extLst>
            </p:cNvPr>
            <p:cNvSpPr txBox="1"/>
            <p:nvPr/>
          </p:nvSpPr>
          <p:spPr>
            <a:xfrm>
              <a:off x="3264677" y="2164132"/>
              <a:ext cx="1598646" cy="1371602"/>
            </a:xfrm>
            <a:prstGeom prst="rect">
              <a:avLst/>
            </a:prstGeom>
            <a:noFill/>
            <a:ln w="38100"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de-DE" b="1" kern="1200" dirty="0"/>
                <a:t>BASELINE</a:t>
              </a:r>
            </a:p>
            <a:p>
              <a:pPr marL="0" lvl="0" indent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b="1" kern="1200" dirty="0"/>
                <a:t>ALGORITHM</a:t>
              </a:r>
            </a:p>
          </p:txBody>
        </p:sp>
      </p:grpSp>
      <p:sp>
        <p:nvSpPr>
          <p:cNvPr id="5" name="Title 4">
            <a:extLst>
              <a:ext uri="{FF2B5EF4-FFF2-40B4-BE49-F238E27FC236}">
                <a16:creationId xmlns:a16="http://schemas.microsoft.com/office/drawing/2014/main" id="{42E711DC-E72F-BDB1-0759-068C42821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A4BF5B4-B82C-55F4-79A5-AC3A205AE377}"/>
              </a:ext>
            </a:extLst>
          </p:cNvPr>
          <p:cNvSpPr txBox="1">
            <a:spLocks/>
          </p:cNvSpPr>
          <p:nvPr/>
        </p:nvSpPr>
        <p:spPr>
          <a:xfrm>
            <a:off x="838200" y="-3619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de-DE" altLang="en-US" sz="4400">
                <a:latin typeface="Arial Black" panose="020B0A04020102020204" charset="0"/>
                <a:cs typeface="Arial Black" panose="020B0A04020102020204" charset="0"/>
              </a:rPr>
              <a:t>Foundational Choices</a:t>
            </a:r>
            <a:endParaRPr lang="de-DE" altLang="en-US" sz="4400" dirty="0"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48A315-271D-3067-3F44-9B8FCF0A41BF}"/>
              </a:ext>
            </a:extLst>
          </p:cNvPr>
          <p:cNvSpPr txBox="1"/>
          <p:nvPr/>
        </p:nvSpPr>
        <p:spPr>
          <a:xfrm>
            <a:off x="670850" y="2200776"/>
            <a:ext cx="4693630" cy="3365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de-DE" b="1" dirty="0"/>
              <a:t>Choice:</a:t>
            </a:r>
          </a:p>
          <a:p>
            <a:pPr>
              <a:lnSpc>
                <a:spcPct val="150000"/>
              </a:lnSpc>
            </a:pPr>
            <a:r>
              <a:rPr lang="de-DE" dirty="0"/>
              <a:t>IPOPT</a:t>
            </a:r>
          </a:p>
          <a:p>
            <a:pPr>
              <a:lnSpc>
                <a:spcPct val="150000"/>
              </a:lnSpc>
            </a:pPr>
            <a:endParaRPr lang="de-DE" dirty="0"/>
          </a:p>
          <a:p>
            <a:pPr>
              <a:lnSpc>
                <a:spcPct val="150000"/>
              </a:lnSpc>
            </a:pPr>
            <a:r>
              <a:rPr lang="de-DE" b="1" dirty="0"/>
              <a:t>Reasoning: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/>
              <a:t>General-purpose solver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/>
              <a:t>Robust to bad initial guesses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/>
              <a:t>Compatible with CasADi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/>
              <a:t>Extensive literature validation</a:t>
            </a:r>
          </a:p>
        </p:txBody>
      </p:sp>
    </p:spTree>
    <p:extLst>
      <p:ext uri="{BB962C8B-B14F-4D97-AF65-F5344CB8AC3E}">
        <p14:creationId xmlns:p14="http://schemas.microsoft.com/office/powerpoint/2010/main" val="41014729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B42169-DE5A-0756-02E5-A7747512E8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166436-A669-8CE2-0CC9-10E278523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1">
              <a:rPr lang="en-US" altLang="en-US" smtClean="0"/>
              <a:t>12/1/2025</a:t>
            </a:fld>
            <a:endParaRPr lang="zh-CN" alt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F53CA335-BCB2-A69D-4D67-C8EFBDE92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9954C5A1-F218-93D9-7C56-C9B10E93A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altLang="zh-CN">
                <a:sym typeface="+mn-ea"/>
              </a:rPr>
              <a:t>Real-Time Time-Optimal Spacecraft Attitude Control</a:t>
            </a:r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A114A3-18B2-16F8-5888-9E99438E1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en-US" sz="4400" dirty="0">
                <a:latin typeface="Arial Black" panose="020B0A04020102020204" charset="0"/>
                <a:cs typeface="Arial Black" panose="020B0A04020102020204" charset="0"/>
              </a:rPr>
              <a:t>Algorithm Optimisation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20D01A1-F9E0-9231-352C-8FD8893003F2}"/>
              </a:ext>
            </a:extLst>
          </p:cNvPr>
          <p:cNvGrpSpPr/>
          <p:nvPr/>
        </p:nvGrpSpPr>
        <p:grpSpPr>
          <a:xfrm>
            <a:off x="328613" y="1303973"/>
            <a:ext cx="1881187" cy="1881187"/>
            <a:chOff x="3123406" y="1909339"/>
            <a:chExt cx="1881187" cy="1881187"/>
          </a:xfrm>
          <a:solidFill>
            <a:srgbClr val="002060"/>
          </a:solidFill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693ACCA2-CC56-522F-83BE-61371F6CF03B}"/>
                </a:ext>
              </a:extLst>
            </p:cNvPr>
            <p:cNvSpPr/>
            <p:nvPr/>
          </p:nvSpPr>
          <p:spPr>
            <a:xfrm>
              <a:off x="3123406" y="1909339"/>
              <a:ext cx="1881187" cy="1881187"/>
            </a:xfrm>
            <a:prstGeom prst="ellipse">
              <a:avLst/>
            </a:prstGeom>
            <a:grpFill/>
            <a:ln w="38100"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Oval 4">
              <a:extLst>
                <a:ext uri="{FF2B5EF4-FFF2-40B4-BE49-F238E27FC236}">
                  <a16:creationId xmlns:a16="http://schemas.microsoft.com/office/drawing/2014/main" id="{D9AAD030-812C-2526-3E0B-64A574445CBF}"/>
                </a:ext>
              </a:extLst>
            </p:cNvPr>
            <p:cNvSpPr txBox="1"/>
            <p:nvPr/>
          </p:nvSpPr>
          <p:spPr>
            <a:xfrm>
              <a:off x="3264677" y="2164132"/>
              <a:ext cx="1598646" cy="1371602"/>
            </a:xfrm>
            <a:prstGeom prst="rect">
              <a:avLst/>
            </a:prstGeom>
            <a:noFill/>
            <a:ln w="38100"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de-DE" b="1" kern="1200" dirty="0"/>
                <a:t>BASELINE</a:t>
              </a:r>
            </a:p>
            <a:p>
              <a:pPr marL="0" lvl="0" indent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b="1" kern="1200" dirty="0"/>
                <a:t>ALGORITHM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0560CF58-DD08-FBBA-DD9E-D38B46769D38}"/>
              </a:ext>
            </a:extLst>
          </p:cNvPr>
          <p:cNvGrpSpPr/>
          <p:nvPr/>
        </p:nvGrpSpPr>
        <p:grpSpPr>
          <a:xfrm>
            <a:off x="9614853" y="4326875"/>
            <a:ext cx="1881187" cy="1881187"/>
            <a:chOff x="3123406" y="1909339"/>
            <a:chExt cx="1881187" cy="1881187"/>
          </a:xfrm>
          <a:solidFill>
            <a:srgbClr val="002060"/>
          </a:solidFill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16B74EF1-EA08-E06E-E353-A27E41BFB946}"/>
                </a:ext>
              </a:extLst>
            </p:cNvPr>
            <p:cNvSpPr/>
            <p:nvPr/>
          </p:nvSpPr>
          <p:spPr>
            <a:xfrm>
              <a:off x="3123406" y="1909339"/>
              <a:ext cx="1881187" cy="1881187"/>
            </a:xfrm>
            <a:prstGeom prst="ellipse">
              <a:avLst/>
            </a:prstGeom>
            <a:grpFill/>
            <a:ln w="38100"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6" name="Oval 4">
              <a:extLst>
                <a:ext uri="{FF2B5EF4-FFF2-40B4-BE49-F238E27FC236}">
                  <a16:creationId xmlns:a16="http://schemas.microsoft.com/office/drawing/2014/main" id="{12842443-1744-B2B3-4EB7-220A9F0EB9A9}"/>
                </a:ext>
              </a:extLst>
            </p:cNvPr>
            <p:cNvSpPr txBox="1"/>
            <p:nvPr/>
          </p:nvSpPr>
          <p:spPr>
            <a:xfrm>
              <a:off x="3264677" y="2164132"/>
              <a:ext cx="1598646" cy="1371602"/>
            </a:xfrm>
            <a:prstGeom prst="rect">
              <a:avLst/>
            </a:prstGeom>
            <a:noFill/>
            <a:ln w="38100"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de-DE" b="1" kern="1200" dirty="0"/>
                <a:t>OPTIMISED</a:t>
              </a:r>
            </a:p>
            <a:p>
              <a:pPr marL="0" lvl="0" indent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b="1" kern="1200" dirty="0"/>
                <a:t>ALGORITHM</a:t>
              </a:r>
            </a:p>
          </p:txBody>
        </p:sp>
      </p:grpSp>
      <p:sp>
        <p:nvSpPr>
          <p:cNvPr id="19" name="!!Down Arrow 7">
            <a:extLst>
              <a:ext uri="{FF2B5EF4-FFF2-40B4-BE49-F238E27FC236}">
                <a16:creationId xmlns:a16="http://schemas.microsoft.com/office/drawing/2014/main" id="{49872829-0171-190E-4963-57DEAFC23448}"/>
              </a:ext>
            </a:extLst>
          </p:cNvPr>
          <p:cNvSpPr/>
          <p:nvPr/>
        </p:nvSpPr>
        <p:spPr>
          <a:xfrm rot="16200000">
            <a:off x="2852745" y="1437081"/>
            <a:ext cx="365124" cy="1651002"/>
          </a:xfrm>
          <a:prstGeom prst="downArrow">
            <a:avLst>
              <a:gd name="adj1" fmla="val 50000"/>
              <a:gd name="adj2" fmla="val 8507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ounded Rectangle 3">
            <a:extLst>
              <a:ext uri="{FF2B5EF4-FFF2-40B4-BE49-F238E27FC236}">
                <a16:creationId xmlns:a16="http://schemas.microsoft.com/office/drawing/2014/main" id="{B8553EAB-04F3-BD33-367C-122EF899B1E3}"/>
              </a:ext>
            </a:extLst>
          </p:cNvPr>
          <p:cNvSpPr/>
          <p:nvPr/>
        </p:nvSpPr>
        <p:spPr>
          <a:xfrm>
            <a:off x="5160884" y="4671764"/>
            <a:ext cx="3159760" cy="1191408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476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32000" rtlCol="0" anchor="ctr"/>
          <a:lstStyle/>
          <a:p>
            <a:pPr algn="ctr"/>
            <a:r>
              <a:rPr lang="de-DE" altLang="en-US" dirty="0">
                <a:cs typeface="+mn-lt"/>
              </a:rPr>
              <a:t>IPOPT</a:t>
            </a:r>
            <a:br>
              <a:rPr lang="de-DE" altLang="en-US" dirty="0">
                <a:cs typeface="+mn-lt"/>
              </a:rPr>
            </a:br>
            <a:r>
              <a:rPr lang="de-DE" altLang="en-US" dirty="0">
                <a:cs typeface="+mn-lt"/>
              </a:rPr>
              <a:t>VS</a:t>
            </a:r>
          </a:p>
          <a:p>
            <a:pPr algn="ctr"/>
            <a:r>
              <a:rPr lang="de-DE" altLang="en-US" dirty="0">
                <a:cs typeface="+mn-lt"/>
              </a:rPr>
              <a:t>FATROP</a:t>
            </a:r>
          </a:p>
        </p:txBody>
      </p:sp>
      <p:sp>
        <p:nvSpPr>
          <p:cNvPr id="23" name="Rounded Rectangle 3">
            <a:extLst>
              <a:ext uri="{FF2B5EF4-FFF2-40B4-BE49-F238E27FC236}">
                <a16:creationId xmlns:a16="http://schemas.microsoft.com/office/drawing/2014/main" id="{16259753-30D3-5F98-8A3A-61151D95901E}"/>
              </a:ext>
            </a:extLst>
          </p:cNvPr>
          <p:cNvSpPr/>
          <p:nvPr/>
        </p:nvSpPr>
        <p:spPr>
          <a:xfrm>
            <a:off x="5160884" y="3171663"/>
            <a:ext cx="3159760" cy="1191408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476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32000" rtlCol="0" anchor="ctr"/>
          <a:lstStyle/>
          <a:p>
            <a:pPr algn="ctr"/>
            <a:r>
              <a:rPr lang="de-DE" altLang="en-US" dirty="0">
                <a:cs typeface="+mn-lt"/>
              </a:rPr>
              <a:t>CPU-RK4</a:t>
            </a:r>
            <a:br>
              <a:rPr lang="de-DE" altLang="en-US" dirty="0">
                <a:cs typeface="+mn-lt"/>
              </a:rPr>
            </a:br>
            <a:r>
              <a:rPr lang="de-DE" altLang="en-US" dirty="0">
                <a:cs typeface="+mn-lt"/>
              </a:rPr>
              <a:t>VS</a:t>
            </a:r>
          </a:p>
          <a:p>
            <a:pPr algn="ctr"/>
            <a:r>
              <a:rPr lang="de-DE" altLang="en-US" dirty="0">
                <a:cs typeface="+mn-lt"/>
              </a:rPr>
              <a:t>CVODES &amp; GPU-RK4</a:t>
            </a:r>
          </a:p>
        </p:txBody>
      </p:sp>
      <p:sp>
        <p:nvSpPr>
          <p:cNvPr id="22" name="Rounded Rectangle 3">
            <a:extLst>
              <a:ext uri="{FF2B5EF4-FFF2-40B4-BE49-F238E27FC236}">
                <a16:creationId xmlns:a16="http://schemas.microsoft.com/office/drawing/2014/main" id="{C4F9A2E4-26D7-B0BE-A8EA-E1B24DAF17A5}"/>
              </a:ext>
            </a:extLst>
          </p:cNvPr>
          <p:cNvSpPr/>
          <p:nvPr/>
        </p:nvSpPr>
        <p:spPr>
          <a:xfrm>
            <a:off x="5160884" y="1648862"/>
            <a:ext cx="3159760" cy="1191408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476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32000" rtlCol="0" anchor="ctr"/>
          <a:lstStyle/>
          <a:p>
            <a:pPr algn="ctr"/>
            <a:r>
              <a:rPr lang="de-DE" altLang="en-US" dirty="0">
                <a:cs typeface="+mn-lt"/>
              </a:rPr>
              <a:t>Multiple Shooting</a:t>
            </a:r>
            <a:br>
              <a:rPr lang="de-DE" altLang="en-US" dirty="0">
                <a:cs typeface="+mn-lt"/>
              </a:rPr>
            </a:br>
            <a:r>
              <a:rPr lang="de-DE" altLang="en-US" dirty="0">
                <a:cs typeface="+mn-lt"/>
              </a:rPr>
              <a:t>VS</a:t>
            </a:r>
          </a:p>
          <a:p>
            <a:pPr algn="ctr"/>
            <a:r>
              <a:rPr lang="de-DE" altLang="en-US" dirty="0">
                <a:cs typeface="+mn-lt"/>
              </a:rPr>
              <a:t>HS Collocation</a:t>
            </a:r>
          </a:p>
        </p:txBody>
      </p:sp>
      <p:sp>
        <p:nvSpPr>
          <p:cNvPr id="16" name="Rounded Rectangle 3">
            <a:extLst>
              <a:ext uri="{FF2B5EF4-FFF2-40B4-BE49-F238E27FC236}">
                <a16:creationId xmlns:a16="http://schemas.microsoft.com/office/drawing/2014/main" id="{57757322-04E2-23C2-290F-0A7968D7446D}"/>
              </a:ext>
            </a:extLst>
          </p:cNvPr>
          <p:cNvSpPr/>
          <p:nvPr/>
        </p:nvSpPr>
        <p:spPr>
          <a:xfrm>
            <a:off x="3871358" y="1648862"/>
            <a:ext cx="1650999" cy="1191408"/>
          </a:xfrm>
          <a:prstGeom prst="roundRect">
            <a:avLst/>
          </a:prstGeom>
          <a:solidFill>
            <a:srgbClr val="002060"/>
          </a:solidFill>
          <a:ln w="476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altLang="en-US" dirty="0">
                <a:cs typeface="+mn-lt"/>
              </a:rPr>
              <a:t>Transcription Method </a:t>
            </a:r>
          </a:p>
        </p:txBody>
      </p:sp>
      <p:sp>
        <p:nvSpPr>
          <p:cNvPr id="20" name="Rounded Rectangle 3">
            <a:extLst>
              <a:ext uri="{FF2B5EF4-FFF2-40B4-BE49-F238E27FC236}">
                <a16:creationId xmlns:a16="http://schemas.microsoft.com/office/drawing/2014/main" id="{E8F6C463-7ACA-DD31-FA47-B3C9F7DA5D9C}"/>
              </a:ext>
            </a:extLst>
          </p:cNvPr>
          <p:cNvSpPr/>
          <p:nvPr/>
        </p:nvSpPr>
        <p:spPr>
          <a:xfrm>
            <a:off x="3885805" y="3171663"/>
            <a:ext cx="1650999" cy="1191408"/>
          </a:xfrm>
          <a:prstGeom prst="roundRect">
            <a:avLst/>
          </a:prstGeom>
          <a:solidFill>
            <a:srgbClr val="002060"/>
          </a:solidFill>
          <a:ln w="476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altLang="en-US" dirty="0">
                <a:cs typeface="+mn-lt"/>
              </a:rPr>
              <a:t>Integration Scheme</a:t>
            </a:r>
          </a:p>
        </p:txBody>
      </p:sp>
      <p:sp>
        <p:nvSpPr>
          <p:cNvPr id="21" name="Rounded Rectangle 3">
            <a:extLst>
              <a:ext uri="{FF2B5EF4-FFF2-40B4-BE49-F238E27FC236}">
                <a16:creationId xmlns:a16="http://schemas.microsoft.com/office/drawing/2014/main" id="{B4FD34C8-F6D6-E2B1-6E0D-EA43536FBA10}"/>
              </a:ext>
            </a:extLst>
          </p:cNvPr>
          <p:cNvSpPr/>
          <p:nvPr/>
        </p:nvSpPr>
        <p:spPr>
          <a:xfrm>
            <a:off x="3871357" y="4671765"/>
            <a:ext cx="1650999" cy="1191408"/>
          </a:xfrm>
          <a:prstGeom prst="roundRect">
            <a:avLst/>
          </a:prstGeom>
          <a:solidFill>
            <a:srgbClr val="002060"/>
          </a:solidFill>
          <a:ln w="476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altLang="en-US" dirty="0">
                <a:cs typeface="+mn-lt"/>
              </a:rPr>
              <a:t>NLP Solver</a:t>
            </a:r>
          </a:p>
        </p:txBody>
      </p:sp>
      <p:sp>
        <p:nvSpPr>
          <p:cNvPr id="26" name="!!Down Arrow 7">
            <a:extLst>
              <a:ext uri="{FF2B5EF4-FFF2-40B4-BE49-F238E27FC236}">
                <a16:creationId xmlns:a16="http://schemas.microsoft.com/office/drawing/2014/main" id="{FCBA14D6-B6E9-89CA-980E-250AD4FAD92C}"/>
              </a:ext>
            </a:extLst>
          </p:cNvPr>
          <p:cNvSpPr/>
          <p:nvPr/>
        </p:nvSpPr>
        <p:spPr>
          <a:xfrm rot="16200000">
            <a:off x="8790463" y="4625640"/>
            <a:ext cx="365124" cy="1283656"/>
          </a:xfrm>
          <a:prstGeom prst="downArrow">
            <a:avLst>
              <a:gd name="adj1" fmla="val 50000"/>
              <a:gd name="adj2" fmla="val 8507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Arrow: Circular 26">
            <a:extLst>
              <a:ext uri="{FF2B5EF4-FFF2-40B4-BE49-F238E27FC236}">
                <a16:creationId xmlns:a16="http://schemas.microsoft.com/office/drawing/2014/main" id="{9E8A9DD3-B9C1-60E6-2002-04CCA54A46B7}"/>
              </a:ext>
            </a:extLst>
          </p:cNvPr>
          <p:cNvSpPr/>
          <p:nvPr/>
        </p:nvSpPr>
        <p:spPr>
          <a:xfrm rot="5400000">
            <a:off x="7310998" y="1952197"/>
            <a:ext cx="2040396" cy="2162889"/>
          </a:xfrm>
          <a:prstGeom prst="circularArrow">
            <a:avLst>
              <a:gd name="adj1" fmla="val 10416"/>
              <a:gd name="adj2" fmla="val 1142319"/>
              <a:gd name="adj3" fmla="val 20457681"/>
              <a:gd name="adj4" fmla="val 10700398"/>
              <a:gd name="adj5" fmla="val 125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9" name="Arrow: Circular 28">
            <a:extLst>
              <a:ext uri="{FF2B5EF4-FFF2-40B4-BE49-F238E27FC236}">
                <a16:creationId xmlns:a16="http://schemas.microsoft.com/office/drawing/2014/main" id="{AA6F33EC-29E7-0756-3B88-9228854EF5BF}"/>
              </a:ext>
            </a:extLst>
          </p:cNvPr>
          <p:cNvSpPr/>
          <p:nvPr/>
        </p:nvSpPr>
        <p:spPr>
          <a:xfrm rot="5400000" flipV="1">
            <a:off x="2840605" y="3435973"/>
            <a:ext cx="2040396" cy="2162889"/>
          </a:xfrm>
          <a:prstGeom prst="circularArrow">
            <a:avLst>
              <a:gd name="adj1" fmla="val 10416"/>
              <a:gd name="adj2" fmla="val 1142319"/>
              <a:gd name="adj3" fmla="val 20457681"/>
              <a:gd name="adj4" fmla="val 10700398"/>
              <a:gd name="adj5" fmla="val 125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40684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2D4BE0-FB7C-D392-5077-480425B41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3A3CE9E-F2E3-A21B-9BC1-7B33856D4C7D}"/>
              </a:ext>
            </a:extLst>
          </p:cNvPr>
          <p:cNvSpPr/>
          <p:nvPr/>
        </p:nvSpPr>
        <p:spPr>
          <a:xfrm>
            <a:off x="581026" y="1514475"/>
            <a:ext cx="5907027" cy="4695826"/>
          </a:xfrm>
          <a:prstGeom prst="rect">
            <a:avLst/>
          </a:prstGeom>
          <a:solidFill>
            <a:srgbClr val="FEFEFE"/>
          </a:solidFill>
          <a:ln>
            <a:solidFill>
              <a:srgbClr val="FEFE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8ABEA1-5FA4-6A23-1E68-CE471C9DA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1">
              <a:rPr lang="en-US" altLang="en-US" smtClean="0"/>
              <a:t>12/1/2025</a:t>
            </a:fld>
            <a:endParaRPr lang="zh-CN" alt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16F3014E-0AEE-C42F-3E38-2A6550E62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7F8F7AA5-3BEE-638A-090A-7367233E2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altLang="zh-CN" dirty="0">
                <a:sym typeface="+mn-ea"/>
              </a:rPr>
              <a:t>Real-Time Time-Optimal Spacecraft Attitude Control</a:t>
            </a:r>
            <a:endParaRPr lang="zh-CN" alt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675749-79BD-2BAC-2625-C431170B3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en-US" sz="4400" dirty="0">
                <a:latin typeface="Arial Black" panose="020B0A04020102020204" charset="0"/>
                <a:cs typeface="Arial Black" panose="020B0A04020102020204" charset="0"/>
              </a:rPr>
              <a:t>Algorithm Optimisation</a:t>
            </a:r>
          </a:p>
        </p:txBody>
      </p:sp>
      <p:sp>
        <p:nvSpPr>
          <p:cNvPr id="24" name="Rounded Rectangle 3">
            <a:extLst>
              <a:ext uri="{FF2B5EF4-FFF2-40B4-BE49-F238E27FC236}">
                <a16:creationId xmlns:a16="http://schemas.microsoft.com/office/drawing/2014/main" id="{334485C9-30A2-F9CF-C2BF-029D2883EBD4}"/>
              </a:ext>
            </a:extLst>
          </p:cNvPr>
          <p:cNvSpPr/>
          <p:nvPr/>
        </p:nvSpPr>
        <p:spPr>
          <a:xfrm>
            <a:off x="11998564" y="4671764"/>
            <a:ext cx="3159760" cy="1191408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476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32000" rtlCol="0" anchor="ctr"/>
          <a:lstStyle/>
          <a:p>
            <a:pPr algn="ctr"/>
            <a:r>
              <a:rPr lang="de-DE" altLang="en-US" dirty="0">
                <a:cs typeface="+mn-lt"/>
              </a:rPr>
              <a:t>IPOPT</a:t>
            </a:r>
            <a:br>
              <a:rPr lang="de-DE" altLang="en-US" dirty="0">
                <a:cs typeface="+mn-lt"/>
              </a:rPr>
            </a:br>
            <a:r>
              <a:rPr lang="de-DE" altLang="en-US" dirty="0">
                <a:cs typeface="+mn-lt"/>
              </a:rPr>
              <a:t>VS</a:t>
            </a:r>
          </a:p>
          <a:p>
            <a:pPr algn="ctr"/>
            <a:r>
              <a:rPr lang="de-DE" altLang="en-US" dirty="0">
                <a:cs typeface="+mn-lt"/>
              </a:rPr>
              <a:t>FATROP</a:t>
            </a:r>
          </a:p>
        </p:txBody>
      </p:sp>
      <p:sp>
        <p:nvSpPr>
          <p:cNvPr id="23" name="Rounded Rectangle 3">
            <a:extLst>
              <a:ext uri="{FF2B5EF4-FFF2-40B4-BE49-F238E27FC236}">
                <a16:creationId xmlns:a16="http://schemas.microsoft.com/office/drawing/2014/main" id="{E776655D-88DB-39B9-F18A-7D8BD55275C2}"/>
              </a:ext>
            </a:extLst>
          </p:cNvPr>
          <p:cNvSpPr/>
          <p:nvPr/>
        </p:nvSpPr>
        <p:spPr>
          <a:xfrm>
            <a:off x="11998564" y="3171663"/>
            <a:ext cx="3159760" cy="1191408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476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32000" rtlCol="0" anchor="ctr"/>
          <a:lstStyle/>
          <a:p>
            <a:pPr algn="ctr"/>
            <a:r>
              <a:rPr lang="de-DE" altLang="en-US" dirty="0">
                <a:cs typeface="+mn-lt"/>
              </a:rPr>
              <a:t>CPU-RK4</a:t>
            </a:r>
            <a:br>
              <a:rPr lang="de-DE" altLang="en-US" dirty="0">
                <a:cs typeface="+mn-lt"/>
              </a:rPr>
            </a:br>
            <a:r>
              <a:rPr lang="de-DE" altLang="en-US" dirty="0">
                <a:cs typeface="+mn-lt"/>
              </a:rPr>
              <a:t>VS</a:t>
            </a:r>
          </a:p>
          <a:p>
            <a:pPr algn="ctr"/>
            <a:r>
              <a:rPr lang="de-DE" altLang="en-US" dirty="0">
                <a:cs typeface="+mn-lt"/>
              </a:rPr>
              <a:t>CVODES &amp; GPU-RK4</a:t>
            </a:r>
          </a:p>
        </p:txBody>
      </p:sp>
      <p:sp>
        <p:nvSpPr>
          <p:cNvPr id="22" name="Rounded Rectangle 3">
            <a:extLst>
              <a:ext uri="{FF2B5EF4-FFF2-40B4-BE49-F238E27FC236}">
                <a16:creationId xmlns:a16="http://schemas.microsoft.com/office/drawing/2014/main" id="{C4ECA551-FB38-3DE9-936B-840480F64407}"/>
              </a:ext>
            </a:extLst>
          </p:cNvPr>
          <p:cNvSpPr/>
          <p:nvPr/>
        </p:nvSpPr>
        <p:spPr>
          <a:xfrm>
            <a:off x="9214724" y="1648862"/>
            <a:ext cx="3159760" cy="1191408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476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32000" rtlCol="0" anchor="ctr"/>
          <a:lstStyle/>
          <a:p>
            <a:pPr algn="ctr"/>
            <a:r>
              <a:rPr lang="de-DE" altLang="en-US" dirty="0">
                <a:cs typeface="+mn-lt"/>
              </a:rPr>
              <a:t>Multiple Shooting</a:t>
            </a:r>
            <a:br>
              <a:rPr lang="de-DE" altLang="en-US" dirty="0">
                <a:cs typeface="+mn-lt"/>
              </a:rPr>
            </a:br>
            <a:r>
              <a:rPr lang="de-DE" altLang="en-US" dirty="0">
                <a:cs typeface="+mn-lt"/>
              </a:rPr>
              <a:t>VS</a:t>
            </a:r>
          </a:p>
          <a:p>
            <a:pPr algn="ctr"/>
            <a:r>
              <a:rPr lang="de-DE" altLang="en-US" dirty="0">
                <a:cs typeface="+mn-lt"/>
              </a:rPr>
              <a:t>HS Collocation</a:t>
            </a:r>
          </a:p>
        </p:txBody>
      </p:sp>
      <p:sp>
        <p:nvSpPr>
          <p:cNvPr id="16" name="Rounded Rectangle 3">
            <a:extLst>
              <a:ext uri="{FF2B5EF4-FFF2-40B4-BE49-F238E27FC236}">
                <a16:creationId xmlns:a16="http://schemas.microsoft.com/office/drawing/2014/main" id="{2A93C333-559A-1B2D-D0E0-E64233C55828}"/>
              </a:ext>
            </a:extLst>
          </p:cNvPr>
          <p:cNvSpPr/>
          <p:nvPr/>
        </p:nvSpPr>
        <p:spPr>
          <a:xfrm>
            <a:off x="7925198" y="1648862"/>
            <a:ext cx="1650999" cy="1191408"/>
          </a:xfrm>
          <a:prstGeom prst="roundRect">
            <a:avLst/>
          </a:prstGeom>
          <a:solidFill>
            <a:srgbClr val="002060"/>
          </a:solidFill>
          <a:ln w="476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altLang="en-US" dirty="0">
                <a:cs typeface="+mn-lt"/>
              </a:rPr>
              <a:t>Transcription Method </a:t>
            </a:r>
          </a:p>
        </p:txBody>
      </p:sp>
      <p:sp>
        <p:nvSpPr>
          <p:cNvPr id="20" name="Rounded Rectangle 3">
            <a:extLst>
              <a:ext uri="{FF2B5EF4-FFF2-40B4-BE49-F238E27FC236}">
                <a16:creationId xmlns:a16="http://schemas.microsoft.com/office/drawing/2014/main" id="{79679665-E935-A40C-0A5E-412CA1E777A2}"/>
              </a:ext>
            </a:extLst>
          </p:cNvPr>
          <p:cNvSpPr/>
          <p:nvPr/>
        </p:nvSpPr>
        <p:spPr>
          <a:xfrm>
            <a:off x="10723485" y="3171663"/>
            <a:ext cx="1650999" cy="1191408"/>
          </a:xfrm>
          <a:prstGeom prst="roundRect">
            <a:avLst/>
          </a:prstGeom>
          <a:solidFill>
            <a:srgbClr val="002060"/>
          </a:solidFill>
          <a:ln w="476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altLang="en-US" dirty="0">
                <a:cs typeface="+mn-lt"/>
              </a:rPr>
              <a:t>Integration Scheme</a:t>
            </a:r>
          </a:p>
        </p:txBody>
      </p:sp>
      <p:sp>
        <p:nvSpPr>
          <p:cNvPr id="21" name="Rounded Rectangle 3">
            <a:extLst>
              <a:ext uri="{FF2B5EF4-FFF2-40B4-BE49-F238E27FC236}">
                <a16:creationId xmlns:a16="http://schemas.microsoft.com/office/drawing/2014/main" id="{5CD251E9-C277-FFAF-4697-4C38B099F9CD}"/>
              </a:ext>
            </a:extLst>
          </p:cNvPr>
          <p:cNvSpPr/>
          <p:nvPr/>
        </p:nvSpPr>
        <p:spPr>
          <a:xfrm>
            <a:off x="10709037" y="4671765"/>
            <a:ext cx="1650999" cy="1191408"/>
          </a:xfrm>
          <a:prstGeom prst="roundRect">
            <a:avLst/>
          </a:prstGeom>
          <a:solidFill>
            <a:srgbClr val="002060"/>
          </a:solidFill>
          <a:ln w="476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altLang="en-US" dirty="0">
                <a:cs typeface="+mn-lt"/>
              </a:rPr>
              <a:t>NLP Solver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2D6088-FF5C-C6AB-6E98-025C8E2B137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2589" t="56296"/>
          <a:stretch>
            <a:fillRect/>
          </a:stretch>
        </p:blipFill>
        <p:spPr>
          <a:xfrm>
            <a:off x="647700" y="4069754"/>
            <a:ext cx="2880000" cy="201700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09D9BB3-CE23-BC04-8B40-B622C3370C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2589" b="54667"/>
          <a:stretch>
            <a:fillRect/>
          </a:stretch>
        </p:blipFill>
        <p:spPr>
          <a:xfrm>
            <a:off x="647700" y="1877967"/>
            <a:ext cx="2880000" cy="209221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D4D6C62-15DB-4478-DA27-AB31028BDD3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660" t="56296"/>
          <a:stretch>
            <a:fillRect/>
          </a:stretch>
        </p:blipFill>
        <p:spPr>
          <a:xfrm>
            <a:off x="3608053" y="4069753"/>
            <a:ext cx="2880000" cy="201700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C951F23-CD7B-1C24-098C-1A9EAB6FA5C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1" r="53062" b="53480"/>
          <a:stretch>
            <a:fillRect/>
          </a:stretch>
        </p:blipFill>
        <p:spPr>
          <a:xfrm>
            <a:off x="3581400" y="1853604"/>
            <a:ext cx="2880000" cy="211657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B657409-01A5-F919-098B-FD753B22536A}"/>
              </a:ext>
            </a:extLst>
          </p:cNvPr>
          <p:cNvSpPr txBox="1"/>
          <p:nvPr/>
        </p:nvSpPr>
        <p:spPr>
          <a:xfrm>
            <a:off x="1110623" y="1546322"/>
            <a:ext cx="21983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bg1">
                    <a:lumMod val="10000"/>
                  </a:schemeClr>
                </a:solidFill>
              </a:rPr>
              <a:t>Multiple Shooting</a:t>
            </a:r>
            <a:endParaRPr lang="en-US" dirty="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31E28E4-48FD-3230-9B4D-366969AE699C}"/>
              </a:ext>
            </a:extLst>
          </p:cNvPr>
          <p:cNvSpPr txBox="1"/>
          <p:nvPr/>
        </p:nvSpPr>
        <p:spPr>
          <a:xfrm>
            <a:off x="4038600" y="1522889"/>
            <a:ext cx="21983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bg1">
                    <a:lumMod val="10000"/>
                  </a:schemeClr>
                </a:solidFill>
              </a:rPr>
              <a:t>HS Collocation</a:t>
            </a:r>
            <a:endParaRPr lang="en-US" dirty="0">
              <a:solidFill>
                <a:schemeClr val="bg1">
                  <a:lumMod val="10000"/>
                </a:schemeClr>
              </a:solidFill>
            </a:endParaRP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5D48F624-B9DB-DC53-AD2F-94EF254B298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45917844"/>
              </p:ext>
            </p:extLst>
          </p:nvPr>
        </p:nvGraphicFramePr>
        <p:xfrm>
          <a:off x="6676421" y="3109866"/>
          <a:ext cx="3868358" cy="30887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64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4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75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4496">
                <a:tc rowSpan="2"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dirty="0"/>
                        <a:t>Computation Time (s)</a:t>
                      </a:r>
                      <a:endParaRPr lang="en-US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mpd="sng">
                      <a:solidFill>
                        <a:schemeClr val="tx1"/>
                      </a:solidFill>
                      <a:prstDash val="solid"/>
                    </a:lnR>
                    <a:lnT w="38100" cmpd="sng">
                      <a:solidFill>
                        <a:schemeClr val="tx1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dirty="0"/>
                    </a:p>
                  </a:txBody>
                  <a:tcPr anchor="ctr">
                    <a:lnR w="38100" cmpd="sng">
                      <a:solidFill>
                        <a:schemeClr val="tx1"/>
                      </a:solidFill>
                      <a:prstDash val="solid"/>
                    </a:lnR>
                    <a:lnT w="38100" cmpd="sng">
                      <a:solidFill>
                        <a:schemeClr val="tx1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798787461"/>
                  </a:ext>
                </a:extLst>
              </a:tr>
              <a:tr h="554496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 w="38100" cmpd="sng">
                      <a:solidFill>
                        <a:schemeClr val="tx1"/>
                      </a:solidFill>
                      <a:prstDash val="soli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Multiple Shooting</a:t>
                      </a:r>
                    </a:p>
                  </a:txBody>
                  <a:tcPr anchor="ctr">
                    <a:lnL w="38100" cmpd="sng">
                      <a:solidFill>
                        <a:schemeClr val="tx1"/>
                      </a:solidFill>
                      <a:prstDash val="solid"/>
                    </a:lnL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HS Collocation</a:t>
                      </a:r>
                    </a:p>
                  </a:txBody>
                  <a:tcPr anchor="ctr">
                    <a:lnR w="38100" cmpd="sng">
                      <a:solidFill>
                        <a:schemeClr val="tx1"/>
                      </a:solidFill>
                      <a:prstDash val="solid"/>
                    </a:ln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98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45°</a:t>
                      </a:r>
                    </a:p>
                  </a:txBody>
                  <a:tcPr anchor="ctr">
                    <a:lnL w="38100" cmpd="sng">
                      <a:solidFill>
                        <a:schemeClr val="tx1"/>
                      </a:solidFill>
                      <a:prstDash val="solid"/>
                    </a:lnL>
                    <a:lnR w="38100" cmpd="sng">
                      <a:solidFill>
                        <a:schemeClr val="tx1"/>
                      </a:solidFill>
                      <a:prstDash val="solid"/>
                    </a:ln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cs typeface="+mn-lt"/>
                          <a:sym typeface="+mn-ea"/>
                        </a:rPr>
                        <a:t> 1.265</a:t>
                      </a:r>
                    </a:p>
                  </a:txBody>
                  <a:tcPr anchor="ctr">
                    <a:lnL w="38100" cmpd="sng">
                      <a:solidFill>
                        <a:schemeClr val="tx1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cs typeface="+mn-lt"/>
                          <a:sym typeface="+mn-ea"/>
                        </a:rPr>
                        <a:t>7.977</a:t>
                      </a:r>
                    </a:p>
                  </a:txBody>
                  <a:tcPr anchor="ctr">
                    <a:lnR w="38100" cmpd="sng">
                      <a:solidFill>
                        <a:schemeClr val="tx1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98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90°</a:t>
                      </a:r>
                    </a:p>
                  </a:txBody>
                  <a:tcPr anchor="ctr">
                    <a:lnL w="38100" cmpd="sng">
                      <a:solidFill>
                        <a:schemeClr val="tx1"/>
                      </a:solidFill>
                      <a:prstDash val="solid"/>
                    </a:lnL>
                    <a:lnR w="38100" cmpd="sng">
                      <a:solidFill>
                        <a:schemeClr val="tx1"/>
                      </a:solidFill>
                      <a:prstDash val="solid"/>
                    </a:ln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cs typeface="+mn-lt"/>
                        </a:rPr>
                        <a:t> 0.961</a:t>
                      </a:r>
                    </a:p>
                  </a:txBody>
                  <a:tcPr anchor="ctr">
                    <a:lnL w="38100" cmpd="sng">
                      <a:solidFill>
                        <a:schemeClr val="tx1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cs typeface="+mn-lt"/>
                        </a:rPr>
                        <a:t>3.974</a:t>
                      </a:r>
                    </a:p>
                  </a:txBody>
                  <a:tcPr anchor="ctr">
                    <a:lnR w="38100" cmpd="sng">
                      <a:solidFill>
                        <a:schemeClr val="tx1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449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180°</a:t>
                      </a:r>
                    </a:p>
                  </a:txBody>
                  <a:tcPr anchor="ctr">
                    <a:lnL w="38100" cmpd="sng">
                      <a:solidFill>
                        <a:schemeClr val="tx1"/>
                      </a:solidFill>
                      <a:prstDash val="solid"/>
                    </a:lnL>
                    <a:lnR w="38100" cmpd="sng">
                      <a:solidFill>
                        <a:schemeClr val="tx1"/>
                      </a:solidFill>
                      <a:prstDash val="solid"/>
                    </a:ln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cs typeface="+mn-lt"/>
                        </a:rPr>
                        <a:t> 2.512</a:t>
                      </a:r>
                    </a:p>
                  </a:txBody>
                  <a:tcPr anchor="ctr">
                    <a:lnL w="38100" cmpd="sng">
                      <a:solidFill>
                        <a:schemeClr val="tx1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cs typeface="+mn-lt"/>
                        </a:rPr>
                        <a:t>4.512</a:t>
                      </a:r>
                    </a:p>
                  </a:txBody>
                  <a:tcPr anchor="ctr">
                    <a:lnR w="38100" cmpd="sng">
                      <a:solidFill>
                        <a:schemeClr val="tx1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838933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7D70C9-4943-394F-F9DB-5D4CBA6E9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3D6F61-D572-8988-248A-2C113EBE4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1">
              <a:rPr lang="en-US" altLang="en-US" smtClean="0"/>
              <a:t>12/1/2025</a:t>
            </a:fld>
            <a:endParaRPr lang="zh-CN" alt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393FC16-1F29-6E9F-6410-C0A104783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686B42E9-7FF6-5A0C-C467-8DF3C02BD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altLang="zh-CN">
                <a:sym typeface="+mn-ea"/>
              </a:rPr>
              <a:t>Real-Time Time-Optimal Spacecraft Attitude Control</a:t>
            </a:r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A7ED28-43EF-191E-EE11-2309722D8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en-US" sz="4400" dirty="0">
                <a:latin typeface="Arial Black" panose="020B0A04020102020204" charset="0"/>
                <a:cs typeface="Arial Black" panose="020B0A04020102020204" charset="0"/>
              </a:rPr>
              <a:t>Algorithm Optimisation</a:t>
            </a:r>
          </a:p>
        </p:txBody>
      </p:sp>
      <p:sp>
        <p:nvSpPr>
          <p:cNvPr id="24" name="Rounded Rectangle 3">
            <a:extLst>
              <a:ext uri="{FF2B5EF4-FFF2-40B4-BE49-F238E27FC236}">
                <a16:creationId xmlns:a16="http://schemas.microsoft.com/office/drawing/2014/main" id="{977B564E-A761-7319-500F-D82BFE6E80D8}"/>
              </a:ext>
            </a:extLst>
          </p:cNvPr>
          <p:cNvSpPr/>
          <p:nvPr/>
        </p:nvSpPr>
        <p:spPr>
          <a:xfrm>
            <a:off x="11998564" y="4671764"/>
            <a:ext cx="3159760" cy="1191408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476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32000" rtlCol="0" anchor="ctr"/>
          <a:lstStyle/>
          <a:p>
            <a:pPr algn="ctr"/>
            <a:r>
              <a:rPr lang="de-DE" altLang="en-US" dirty="0">
                <a:cs typeface="+mn-lt"/>
              </a:rPr>
              <a:t>IPOPT</a:t>
            </a:r>
            <a:br>
              <a:rPr lang="de-DE" altLang="en-US" dirty="0">
                <a:cs typeface="+mn-lt"/>
              </a:rPr>
            </a:br>
            <a:r>
              <a:rPr lang="de-DE" altLang="en-US" dirty="0">
                <a:cs typeface="+mn-lt"/>
              </a:rPr>
              <a:t>VS</a:t>
            </a:r>
          </a:p>
          <a:p>
            <a:pPr algn="ctr"/>
            <a:r>
              <a:rPr lang="de-DE" altLang="en-US" dirty="0">
                <a:cs typeface="+mn-lt"/>
              </a:rPr>
              <a:t>FATROP</a:t>
            </a:r>
          </a:p>
        </p:txBody>
      </p:sp>
      <p:sp>
        <p:nvSpPr>
          <p:cNvPr id="23" name="Rounded Rectangle 3">
            <a:extLst>
              <a:ext uri="{FF2B5EF4-FFF2-40B4-BE49-F238E27FC236}">
                <a16:creationId xmlns:a16="http://schemas.microsoft.com/office/drawing/2014/main" id="{92C0D76C-018D-D318-CA26-842CFCA16FDD}"/>
              </a:ext>
            </a:extLst>
          </p:cNvPr>
          <p:cNvSpPr/>
          <p:nvPr/>
        </p:nvSpPr>
        <p:spPr>
          <a:xfrm>
            <a:off x="9224884" y="3171663"/>
            <a:ext cx="3159760" cy="1191408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476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32000" rtlCol="0" anchor="ctr"/>
          <a:lstStyle/>
          <a:p>
            <a:pPr algn="ctr"/>
            <a:r>
              <a:rPr lang="de-DE" altLang="en-US" dirty="0">
                <a:cs typeface="+mn-lt"/>
              </a:rPr>
              <a:t>CPU-RK4</a:t>
            </a:r>
            <a:br>
              <a:rPr lang="de-DE" altLang="en-US" dirty="0">
                <a:cs typeface="+mn-lt"/>
              </a:rPr>
            </a:br>
            <a:r>
              <a:rPr lang="de-DE" altLang="en-US" dirty="0">
                <a:cs typeface="+mn-lt"/>
              </a:rPr>
              <a:t>VS</a:t>
            </a:r>
          </a:p>
          <a:p>
            <a:pPr algn="ctr"/>
            <a:r>
              <a:rPr lang="de-DE" altLang="en-US" dirty="0">
                <a:cs typeface="+mn-lt"/>
              </a:rPr>
              <a:t>CVODES &amp; GPU-RK4</a:t>
            </a:r>
          </a:p>
        </p:txBody>
      </p:sp>
      <p:sp>
        <p:nvSpPr>
          <p:cNvPr id="22" name="Rounded Rectangle 3">
            <a:extLst>
              <a:ext uri="{FF2B5EF4-FFF2-40B4-BE49-F238E27FC236}">
                <a16:creationId xmlns:a16="http://schemas.microsoft.com/office/drawing/2014/main" id="{FA34C2B5-1888-E13D-A19E-76BA14C56888}"/>
              </a:ext>
            </a:extLst>
          </p:cNvPr>
          <p:cNvSpPr/>
          <p:nvPr/>
        </p:nvSpPr>
        <p:spPr>
          <a:xfrm>
            <a:off x="11998564" y="1648862"/>
            <a:ext cx="3159760" cy="1191408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476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32000" rtlCol="0" anchor="ctr"/>
          <a:lstStyle/>
          <a:p>
            <a:pPr algn="ctr"/>
            <a:r>
              <a:rPr lang="de-DE" altLang="en-US" dirty="0">
                <a:cs typeface="+mn-lt"/>
              </a:rPr>
              <a:t>Multiple Shooting</a:t>
            </a:r>
            <a:br>
              <a:rPr lang="de-DE" altLang="en-US" dirty="0">
                <a:cs typeface="+mn-lt"/>
              </a:rPr>
            </a:br>
            <a:r>
              <a:rPr lang="de-DE" altLang="en-US" dirty="0">
                <a:cs typeface="+mn-lt"/>
              </a:rPr>
              <a:t>VS</a:t>
            </a:r>
          </a:p>
          <a:p>
            <a:pPr algn="ctr"/>
            <a:r>
              <a:rPr lang="de-DE" altLang="en-US" dirty="0">
                <a:cs typeface="+mn-lt"/>
              </a:rPr>
              <a:t>HS Collocation</a:t>
            </a:r>
          </a:p>
        </p:txBody>
      </p:sp>
      <p:sp>
        <p:nvSpPr>
          <p:cNvPr id="16" name="Rounded Rectangle 3">
            <a:extLst>
              <a:ext uri="{FF2B5EF4-FFF2-40B4-BE49-F238E27FC236}">
                <a16:creationId xmlns:a16="http://schemas.microsoft.com/office/drawing/2014/main" id="{D0419EBD-2132-7BAA-DEFA-4388DE3FFE07}"/>
              </a:ext>
            </a:extLst>
          </p:cNvPr>
          <p:cNvSpPr/>
          <p:nvPr/>
        </p:nvSpPr>
        <p:spPr>
          <a:xfrm>
            <a:off x="10709038" y="1648862"/>
            <a:ext cx="1650999" cy="1191408"/>
          </a:xfrm>
          <a:prstGeom prst="roundRect">
            <a:avLst/>
          </a:prstGeom>
          <a:solidFill>
            <a:srgbClr val="002060"/>
          </a:solidFill>
          <a:ln w="476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altLang="en-US" dirty="0">
                <a:cs typeface="+mn-lt"/>
              </a:rPr>
              <a:t>Transcription Method </a:t>
            </a:r>
          </a:p>
        </p:txBody>
      </p:sp>
      <p:sp>
        <p:nvSpPr>
          <p:cNvPr id="20" name="Rounded Rectangle 3">
            <a:extLst>
              <a:ext uri="{FF2B5EF4-FFF2-40B4-BE49-F238E27FC236}">
                <a16:creationId xmlns:a16="http://schemas.microsoft.com/office/drawing/2014/main" id="{7EFED520-0EBC-6AA8-FB26-939C8D0B2365}"/>
              </a:ext>
            </a:extLst>
          </p:cNvPr>
          <p:cNvSpPr/>
          <p:nvPr/>
        </p:nvSpPr>
        <p:spPr>
          <a:xfrm>
            <a:off x="7949805" y="3171663"/>
            <a:ext cx="1650999" cy="1191408"/>
          </a:xfrm>
          <a:prstGeom prst="roundRect">
            <a:avLst/>
          </a:prstGeom>
          <a:solidFill>
            <a:srgbClr val="002060"/>
          </a:solidFill>
          <a:ln w="476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altLang="en-US" dirty="0">
                <a:cs typeface="+mn-lt"/>
              </a:rPr>
              <a:t>Integration Scheme</a:t>
            </a:r>
          </a:p>
        </p:txBody>
      </p:sp>
      <p:sp>
        <p:nvSpPr>
          <p:cNvPr id="21" name="Rounded Rectangle 3">
            <a:extLst>
              <a:ext uri="{FF2B5EF4-FFF2-40B4-BE49-F238E27FC236}">
                <a16:creationId xmlns:a16="http://schemas.microsoft.com/office/drawing/2014/main" id="{C763A301-1F3C-C731-DD2F-BB6A6DB97154}"/>
              </a:ext>
            </a:extLst>
          </p:cNvPr>
          <p:cNvSpPr/>
          <p:nvPr/>
        </p:nvSpPr>
        <p:spPr>
          <a:xfrm>
            <a:off x="10709037" y="4671765"/>
            <a:ext cx="1650999" cy="1191408"/>
          </a:xfrm>
          <a:prstGeom prst="roundRect">
            <a:avLst/>
          </a:prstGeom>
          <a:solidFill>
            <a:srgbClr val="002060"/>
          </a:solidFill>
          <a:ln w="476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altLang="en-US" dirty="0">
                <a:cs typeface="+mn-lt"/>
              </a:rPr>
              <a:t>NLP Solver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59A38BD-BB2C-15F3-B59B-6ECC9F01778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2753381"/>
              </p:ext>
            </p:extLst>
          </p:nvPr>
        </p:nvGraphicFramePr>
        <p:xfrm>
          <a:off x="1016501" y="2244566"/>
          <a:ext cx="6044197" cy="33224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0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6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25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94066">
                  <a:extLst>
                    <a:ext uri="{9D8B030D-6E8A-4147-A177-3AD203B41FA5}">
                      <a16:colId xmlns:a16="http://schemas.microsoft.com/office/drawing/2014/main" val="2668981870"/>
                    </a:ext>
                  </a:extLst>
                </a:gridCol>
              </a:tblGrid>
              <a:tr h="613431">
                <a:tc rowSpan="2"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/>
                        <a:t>Computation Time (s)</a:t>
                      </a:r>
                      <a:endParaRPr lang="en-US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mpd="sng">
                      <a:solidFill>
                        <a:schemeClr val="tx1"/>
                      </a:solidFill>
                      <a:prstDash val="solid"/>
                    </a:lnR>
                    <a:lnT w="38100" cmpd="sng">
                      <a:solidFill>
                        <a:schemeClr val="tx1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dirty="0"/>
                    </a:p>
                  </a:txBody>
                  <a:tcPr anchor="ctr">
                    <a:lnR w="38100" cmpd="sng">
                      <a:solidFill>
                        <a:schemeClr val="tx1"/>
                      </a:solidFill>
                      <a:prstDash val="solid"/>
                    </a:lnR>
                    <a:lnT w="38100" cmpd="sng">
                      <a:solidFill>
                        <a:schemeClr val="tx1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mpd="sng">
                      <a:solidFill>
                        <a:schemeClr val="tx1"/>
                      </a:solidFill>
                      <a:prstDash val="solid"/>
                    </a:lnR>
                    <a:lnT w="38100" cmpd="sng">
                      <a:solidFill>
                        <a:schemeClr val="tx1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798787461"/>
                  </a:ext>
                </a:extLst>
              </a:tr>
              <a:tr h="613431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 w="38100" cmpd="sng">
                      <a:solidFill>
                        <a:schemeClr val="tx1"/>
                      </a:solidFill>
                      <a:prstDash val="soli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CPU RK4</a:t>
                      </a:r>
                    </a:p>
                  </a:txBody>
                  <a:tcPr anchor="ctr">
                    <a:lnL w="38100" cmpd="sng">
                      <a:solidFill>
                        <a:schemeClr val="tx1"/>
                      </a:solidFill>
                      <a:prstDash val="solid"/>
                    </a:lnL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GPU RK4</a:t>
                      </a:r>
                    </a:p>
                  </a:txBody>
                  <a:tcPr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dirty="0"/>
                        <a:t>GPU CVODES</a:t>
                      </a:r>
                      <a:endParaRPr lang="en-US" dirty="0"/>
                    </a:p>
                  </a:txBody>
                  <a:tcPr anchor="ctr">
                    <a:lnR w="38100" cmpd="sng">
                      <a:solidFill>
                        <a:schemeClr val="tx1"/>
                      </a:solidFill>
                      <a:prstDash val="solid"/>
                    </a:ln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105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45°</a:t>
                      </a:r>
                    </a:p>
                  </a:txBody>
                  <a:tcPr anchor="ctr">
                    <a:lnL w="38100" cmpd="sng">
                      <a:solidFill>
                        <a:schemeClr val="tx1"/>
                      </a:solidFill>
                      <a:prstDash val="solid"/>
                    </a:lnL>
                    <a:lnR w="38100" cmpd="sng">
                      <a:solidFill>
                        <a:schemeClr val="tx1"/>
                      </a:solidFill>
                      <a:prstDash val="solid"/>
                    </a:ln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solidFill>
                            <a:schemeClr val="bg1">
                              <a:lumMod val="10000"/>
                            </a:schemeClr>
                          </a:solidFill>
                          <a:cs typeface="+mn-lt"/>
                          <a:sym typeface="+mn-ea"/>
                        </a:rPr>
                        <a:t> </a:t>
                      </a:r>
                      <a:r>
                        <a:rPr lang="en-US" sz="1800" dirty="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15.890</a:t>
                      </a:r>
                      <a:endParaRPr lang="en-US" sz="1800" dirty="0">
                        <a:solidFill>
                          <a:schemeClr val="bg1">
                            <a:lumMod val="10000"/>
                          </a:schemeClr>
                        </a:solidFill>
                        <a:cs typeface="+mn-lt"/>
                        <a:sym typeface="+mn-ea"/>
                      </a:endParaRPr>
                    </a:p>
                  </a:txBody>
                  <a:tcPr anchor="ctr">
                    <a:lnL w="38100" cmpd="sng">
                      <a:solidFill>
                        <a:schemeClr val="tx1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18.129</a:t>
                      </a:r>
                      <a:endParaRPr lang="en-US" sz="1800" dirty="0">
                        <a:solidFill>
                          <a:schemeClr val="bg1">
                            <a:lumMod val="10000"/>
                          </a:schemeClr>
                        </a:solidFill>
                        <a:cs typeface="+mn-lt"/>
                        <a:sym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852.945</a:t>
                      </a:r>
                      <a:endParaRPr lang="en-US" sz="1800" dirty="0">
                        <a:solidFill>
                          <a:schemeClr val="bg1">
                            <a:lumMod val="10000"/>
                          </a:schemeClr>
                        </a:solidFill>
                        <a:cs typeface="+mn-lt"/>
                        <a:sym typeface="+mn-ea"/>
                      </a:endParaRPr>
                    </a:p>
                  </a:txBody>
                  <a:tcPr anchor="ctr">
                    <a:lnR w="38100" cmpd="sng">
                      <a:solidFill>
                        <a:schemeClr val="tx1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105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90°</a:t>
                      </a:r>
                    </a:p>
                  </a:txBody>
                  <a:tcPr anchor="ctr">
                    <a:lnL w="38100" cmpd="sng">
                      <a:solidFill>
                        <a:schemeClr val="tx1"/>
                      </a:solidFill>
                      <a:prstDash val="solid"/>
                    </a:lnL>
                    <a:lnR w="38100" cmpd="sng">
                      <a:solidFill>
                        <a:schemeClr val="tx1"/>
                      </a:solidFill>
                      <a:prstDash val="solid"/>
                    </a:ln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solidFill>
                            <a:schemeClr val="bg1">
                              <a:lumMod val="10000"/>
                            </a:schemeClr>
                          </a:solidFill>
                          <a:cs typeface="+mn-lt"/>
                        </a:rPr>
                        <a:t> </a:t>
                      </a:r>
                      <a:r>
                        <a:rPr lang="en-US" sz="1800" dirty="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2.147</a:t>
                      </a:r>
                      <a:endParaRPr lang="en-US" sz="1800" dirty="0">
                        <a:solidFill>
                          <a:schemeClr val="bg1">
                            <a:lumMod val="10000"/>
                          </a:schemeClr>
                        </a:solidFill>
                        <a:cs typeface="+mn-lt"/>
                      </a:endParaRPr>
                    </a:p>
                  </a:txBody>
                  <a:tcPr anchor="ctr">
                    <a:lnL w="38100" cmpd="sng">
                      <a:solidFill>
                        <a:schemeClr val="tx1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59.575</a:t>
                      </a:r>
                      <a:endParaRPr lang="en-US" sz="1800" dirty="0">
                        <a:solidFill>
                          <a:schemeClr val="bg1">
                            <a:lumMod val="10000"/>
                          </a:schemeClr>
                        </a:solidFill>
                        <a:cs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3612.220</a:t>
                      </a:r>
                      <a:endParaRPr lang="en-US" sz="1800" dirty="0">
                        <a:solidFill>
                          <a:schemeClr val="bg1">
                            <a:lumMod val="10000"/>
                          </a:schemeClr>
                        </a:solidFill>
                        <a:cs typeface="+mn-lt"/>
                      </a:endParaRPr>
                    </a:p>
                  </a:txBody>
                  <a:tcPr anchor="ctr">
                    <a:lnR w="38100" cmpd="sng">
                      <a:solidFill>
                        <a:schemeClr val="tx1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34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180°</a:t>
                      </a:r>
                    </a:p>
                  </a:txBody>
                  <a:tcPr anchor="ctr">
                    <a:lnL w="38100" cmpd="sng">
                      <a:solidFill>
                        <a:schemeClr val="tx1"/>
                      </a:solidFill>
                      <a:prstDash val="solid"/>
                    </a:lnL>
                    <a:lnR w="38100" cmpd="sng">
                      <a:solidFill>
                        <a:schemeClr val="tx1"/>
                      </a:solidFill>
                      <a:prstDash val="solid"/>
                    </a:ln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solidFill>
                            <a:schemeClr val="bg1">
                              <a:lumMod val="10000"/>
                            </a:schemeClr>
                          </a:solidFill>
                          <a:cs typeface="+mn-lt"/>
                        </a:rPr>
                        <a:t> </a:t>
                      </a:r>
                      <a:r>
                        <a:rPr lang="en-US" sz="1800" dirty="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6.957</a:t>
                      </a:r>
                      <a:endParaRPr lang="en-US" sz="1800" dirty="0">
                        <a:solidFill>
                          <a:schemeClr val="bg1">
                            <a:lumMod val="10000"/>
                          </a:schemeClr>
                        </a:solidFill>
                        <a:cs typeface="+mn-lt"/>
                      </a:endParaRPr>
                    </a:p>
                  </a:txBody>
                  <a:tcPr anchor="ctr">
                    <a:lnL w="38100" cmpd="sng">
                      <a:solidFill>
                        <a:schemeClr val="tx1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121.336</a:t>
                      </a:r>
                      <a:endParaRPr lang="en-US" sz="1800" dirty="0">
                        <a:solidFill>
                          <a:schemeClr val="bg1">
                            <a:lumMod val="10000"/>
                          </a:schemeClr>
                        </a:solidFill>
                        <a:cs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1559.010</a:t>
                      </a:r>
                      <a:endParaRPr lang="en-US" sz="1800" dirty="0">
                        <a:solidFill>
                          <a:schemeClr val="bg1">
                            <a:lumMod val="10000"/>
                          </a:schemeClr>
                        </a:solidFill>
                        <a:cs typeface="+mn-lt"/>
                      </a:endParaRPr>
                    </a:p>
                  </a:txBody>
                  <a:tcPr anchor="ctr">
                    <a:lnR w="38100" cmpd="sng">
                      <a:solidFill>
                        <a:schemeClr val="tx1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8814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019F71-5C47-9410-84AF-4732B92D0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CE14A5-6DB6-78BC-7F2E-221335368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1">
              <a:rPr lang="en-US" altLang="en-US" smtClean="0"/>
              <a:t>12/1/2025</a:t>
            </a:fld>
            <a:endParaRPr lang="zh-CN" alt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E7CA944-E56A-24DE-B149-396217302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21CC3F97-9373-6B81-A062-50A7A0D97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altLang="zh-CN">
                <a:sym typeface="+mn-ea"/>
              </a:rPr>
              <a:t>Real-Time Time-Optimal Spacecraft Attitude Control</a:t>
            </a:r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C9131E-909D-A6D8-F688-0D83DC351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en-US" sz="4400" dirty="0">
                <a:latin typeface="Arial Black" panose="020B0A04020102020204" charset="0"/>
                <a:cs typeface="Arial Black" panose="020B0A04020102020204" charset="0"/>
              </a:rPr>
              <a:t>Algorithm Optimisation</a:t>
            </a:r>
          </a:p>
        </p:txBody>
      </p:sp>
      <p:sp>
        <p:nvSpPr>
          <p:cNvPr id="24" name="Rounded Rectangle 3">
            <a:extLst>
              <a:ext uri="{FF2B5EF4-FFF2-40B4-BE49-F238E27FC236}">
                <a16:creationId xmlns:a16="http://schemas.microsoft.com/office/drawing/2014/main" id="{30930D68-3A14-F694-1F88-5ABF0079E4A3}"/>
              </a:ext>
            </a:extLst>
          </p:cNvPr>
          <p:cNvSpPr/>
          <p:nvPr/>
        </p:nvSpPr>
        <p:spPr>
          <a:xfrm>
            <a:off x="9245204" y="4671764"/>
            <a:ext cx="3159760" cy="1191408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476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32000" rtlCol="0" anchor="ctr"/>
          <a:lstStyle/>
          <a:p>
            <a:pPr algn="ctr"/>
            <a:r>
              <a:rPr lang="de-DE" altLang="en-US" dirty="0">
                <a:cs typeface="+mn-lt"/>
              </a:rPr>
              <a:t>IPOPT</a:t>
            </a:r>
            <a:br>
              <a:rPr lang="de-DE" altLang="en-US" dirty="0">
                <a:cs typeface="+mn-lt"/>
              </a:rPr>
            </a:br>
            <a:r>
              <a:rPr lang="de-DE" altLang="en-US" dirty="0">
                <a:cs typeface="+mn-lt"/>
              </a:rPr>
              <a:t>VS</a:t>
            </a:r>
          </a:p>
          <a:p>
            <a:pPr algn="ctr"/>
            <a:r>
              <a:rPr lang="de-DE" altLang="en-US" dirty="0">
                <a:cs typeface="+mn-lt"/>
              </a:rPr>
              <a:t>FATROP</a:t>
            </a:r>
          </a:p>
        </p:txBody>
      </p:sp>
      <p:sp>
        <p:nvSpPr>
          <p:cNvPr id="23" name="Rounded Rectangle 3">
            <a:extLst>
              <a:ext uri="{FF2B5EF4-FFF2-40B4-BE49-F238E27FC236}">
                <a16:creationId xmlns:a16="http://schemas.microsoft.com/office/drawing/2014/main" id="{E595E719-9313-C85D-C894-84C6F2966506}"/>
              </a:ext>
            </a:extLst>
          </p:cNvPr>
          <p:cNvSpPr/>
          <p:nvPr/>
        </p:nvSpPr>
        <p:spPr>
          <a:xfrm>
            <a:off x="11998564" y="3171663"/>
            <a:ext cx="3159760" cy="1191408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476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32000" rtlCol="0" anchor="ctr"/>
          <a:lstStyle/>
          <a:p>
            <a:pPr algn="ctr"/>
            <a:r>
              <a:rPr lang="de-DE" altLang="en-US" dirty="0">
                <a:cs typeface="+mn-lt"/>
              </a:rPr>
              <a:t>CPU-RK4</a:t>
            </a:r>
            <a:br>
              <a:rPr lang="de-DE" altLang="en-US" dirty="0">
                <a:cs typeface="+mn-lt"/>
              </a:rPr>
            </a:br>
            <a:r>
              <a:rPr lang="de-DE" altLang="en-US" dirty="0">
                <a:cs typeface="+mn-lt"/>
              </a:rPr>
              <a:t>VS</a:t>
            </a:r>
          </a:p>
          <a:p>
            <a:pPr algn="ctr"/>
            <a:r>
              <a:rPr lang="de-DE" altLang="en-US" dirty="0">
                <a:cs typeface="+mn-lt"/>
              </a:rPr>
              <a:t>CVODES &amp; GPU-RK4</a:t>
            </a:r>
          </a:p>
        </p:txBody>
      </p:sp>
      <p:sp>
        <p:nvSpPr>
          <p:cNvPr id="22" name="Rounded Rectangle 3">
            <a:extLst>
              <a:ext uri="{FF2B5EF4-FFF2-40B4-BE49-F238E27FC236}">
                <a16:creationId xmlns:a16="http://schemas.microsoft.com/office/drawing/2014/main" id="{28A54983-F908-501E-2A7A-2AA4B5A72A05}"/>
              </a:ext>
            </a:extLst>
          </p:cNvPr>
          <p:cNvSpPr/>
          <p:nvPr/>
        </p:nvSpPr>
        <p:spPr>
          <a:xfrm>
            <a:off x="11998564" y="1648862"/>
            <a:ext cx="3159760" cy="1191408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476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32000" rtlCol="0" anchor="ctr"/>
          <a:lstStyle/>
          <a:p>
            <a:pPr algn="ctr"/>
            <a:r>
              <a:rPr lang="de-DE" altLang="en-US" dirty="0">
                <a:cs typeface="+mn-lt"/>
              </a:rPr>
              <a:t>Multiple Shooting</a:t>
            </a:r>
            <a:br>
              <a:rPr lang="de-DE" altLang="en-US" dirty="0">
                <a:cs typeface="+mn-lt"/>
              </a:rPr>
            </a:br>
            <a:r>
              <a:rPr lang="de-DE" altLang="en-US" dirty="0">
                <a:cs typeface="+mn-lt"/>
              </a:rPr>
              <a:t>VS</a:t>
            </a:r>
          </a:p>
          <a:p>
            <a:pPr algn="ctr"/>
            <a:r>
              <a:rPr lang="de-DE" altLang="en-US" dirty="0">
                <a:cs typeface="+mn-lt"/>
              </a:rPr>
              <a:t>HS Collocation</a:t>
            </a:r>
          </a:p>
        </p:txBody>
      </p:sp>
      <p:sp>
        <p:nvSpPr>
          <p:cNvPr id="16" name="Rounded Rectangle 3">
            <a:extLst>
              <a:ext uri="{FF2B5EF4-FFF2-40B4-BE49-F238E27FC236}">
                <a16:creationId xmlns:a16="http://schemas.microsoft.com/office/drawing/2014/main" id="{DABE175A-DDF5-B907-B2CE-2F779FA0F041}"/>
              </a:ext>
            </a:extLst>
          </p:cNvPr>
          <p:cNvSpPr/>
          <p:nvPr/>
        </p:nvSpPr>
        <p:spPr>
          <a:xfrm>
            <a:off x="10709038" y="1648862"/>
            <a:ext cx="1650999" cy="1191408"/>
          </a:xfrm>
          <a:prstGeom prst="roundRect">
            <a:avLst/>
          </a:prstGeom>
          <a:solidFill>
            <a:srgbClr val="002060"/>
          </a:solidFill>
          <a:ln w="476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altLang="en-US" dirty="0">
                <a:cs typeface="+mn-lt"/>
              </a:rPr>
              <a:t>Transcription Method </a:t>
            </a:r>
          </a:p>
        </p:txBody>
      </p:sp>
      <p:sp>
        <p:nvSpPr>
          <p:cNvPr id="20" name="Rounded Rectangle 3">
            <a:extLst>
              <a:ext uri="{FF2B5EF4-FFF2-40B4-BE49-F238E27FC236}">
                <a16:creationId xmlns:a16="http://schemas.microsoft.com/office/drawing/2014/main" id="{3B530733-7A55-20F3-0E90-7A7BCA9C5325}"/>
              </a:ext>
            </a:extLst>
          </p:cNvPr>
          <p:cNvSpPr/>
          <p:nvPr/>
        </p:nvSpPr>
        <p:spPr>
          <a:xfrm>
            <a:off x="10723485" y="3171663"/>
            <a:ext cx="1650999" cy="1191408"/>
          </a:xfrm>
          <a:prstGeom prst="roundRect">
            <a:avLst/>
          </a:prstGeom>
          <a:solidFill>
            <a:srgbClr val="002060"/>
          </a:solidFill>
          <a:ln w="476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altLang="en-US" dirty="0">
                <a:cs typeface="+mn-lt"/>
              </a:rPr>
              <a:t>Integration Scheme</a:t>
            </a:r>
          </a:p>
        </p:txBody>
      </p:sp>
      <p:sp>
        <p:nvSpPr>
          <p:cNvPr id="21" name="Rounded Rectangle 3">
            <a:extLst>
              <a:ext uri="{FF2B5EF4-FFF2-40B4-BE49-F238E27FC236}">
                <a16:creationId xmlns:a16="http://schemas.microsoft.com/office/drawing/2014/main" id="{9DC52CF9-681F-D892-597C-A462CAD02C87}"/>
              </a:ext>
            </a:extLst>
          </p:cNvPr>
          <p:cNvSpPr/>
          <p:nvPr/>
        </p:nvSpPr>
        <p:spPr>
          <a:xfrm>
            <a:off x="7955677" y="4671765"/>
            <a:ext cx="1650999" cy="1191408"/>
          </a:xfrm>
          <a:prstGeom prst="roundRect">
            <a:avLst/>
          </a:prstGeom>
          <a:solidFill>
            <a:srgbClr val="002060"/>
          </a:solidFill>
          <a:ln w="476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altLang="en-US" dirty="0">
                <a:cs typeface="+mn-lt"/>
              </a:rPr>
              <a:t>NLP Solver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EB9C252-42D8-1AE1-BB57-6D0B5DE6F32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97771522"/>
              </p:ext>
            </p:extLst>
          </p:nvPr>
        </p:nvGraphicFramePr>
        <p:xfrm>
          <a:off x="939502" y="2077185"/>
          <a:ext cx="6198195" cy="33426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40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44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597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7167">
                <a:tc rowSpan="2"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dirty="0"/>
                        <a:t>Computation Time (s)</a:t>
                      </a:r>
                      <a:endParaRPr lang="en-US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mpd="sng">
                      <a:solidFill>
                        <a:schemeClr val="tx1"/>
                      </a:solidFill>
                      <a:prstDash val="solid"/>
                    </a:lnR>
                    <a:lnT w="38100" cmpd="sng">
                      <a:solidFill>
                        <a:schemeClr val="tx1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dirty="0"/>
                    </a:p>
                  </a:txBody>
                  <a:tcPr anchor="ctr">
                    <a:lnR w="38100" cmpd="sng">
                      <a:solidFill>
                        <a:schemeClr val="tx1"/>
                      </a:solidFill>
                      <a:prstDash val="solid"/>
                    </a:lnR>
                    <a:lnT w="38100" cmpd="sng">
                      <a:solidFill>
                        <a:schemeClr val="tx1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798787461"/>
                  </a:ext>
                </a:extLst>
              </a:tr>
              <a:tr h="617167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 w="38100" cmpd="sng">
                      <a:solidFill>
                        <a:schemeClr val="tx1"/>
                      </a:solidFill>
                      <a:prstDash val="soli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IPOPT</a:t>
                      </a:r>
                    </a:p>
                  </a:txBody>
                  <a:tcPr anchor="ctr">
                    <a:lnL w="38100" cmpd="sng">
                      <a:solidFill>
                        <a:schemeClr val="tx1"/>
                      </a:solidFill>
                      <a:prstDash val="solid"/>
                    </a:lnL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FATROP</a:t>
                      </a:r>
                    </a:p>
                  </a:txBody>
                  <a:tcPr anchor="ctr">
                    <a:lnR w="38100" cmpd="sng">
                      <a:solidFill>
                        <a:schemeClr val="tx1"/>
                      </a:solidFill>
                      <a:prstDash val="solid"/>
                    </a:ln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557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45°</a:t>
                      </a:r>
                    </a:p>
                  </a:txBody>
                  <a:tcPr anchor="ctr">
                    <a:lnL w="38100" cmpd="sng">
                      <a:solidFill>
                        <a:schemeClr val="tx1"/>
                      </a:solidFill>
                      <a:prstDash val="solid"/>
                    </a:lnL>
                    <a:lnR w="38100" cmpd="sng">
                      <a:solidFill>
                        <a:schemeClr val="tx1"/>
                      </a:solidFill>
                      <a:prstDash val="solid"/>
                    </a:ln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cs typeface="+mn-lt"/>
                          <a:sym typeface="+mn-ea"/>
                        </a:rPr>
                        <a:t> 1.265</a:t>
                      </a:r>
                    </a:p>
                  </a:txBody>
                  <a:tcPr anchor="ctr">
                    <a:lnL w="38100" cmpd="sng">
                      <a:solidFill>
                        <a:schemeClr val="tx1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0.085</a:t>
                      </a:r>
                      <a:endParaRPr lang="en-US" sz="1800" dirty="0">
                        <a:solidFill>
                          <a:schemeClr val="bg1">
                            <a:lumMod val="10000"/>
                          </a:schemeClr>
                        </a:solidFill>
                        <a:cs typeface="+mn-lt"/>
                        <a:sym typeface="+mn-ea"/>
                      </a:endParaRPr>
                    </a:p>
                  </a:txBody>
                  <a:tcPr anchor="ctr">
                    <a:lnR w="38100" cmpd="sng">
                      <a:solidFill>
                        <a:schemeClr val="tx1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557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90°</a:t>
                      </a:r>
                    </a:p>
                  </a:txBody>
                  <a:tcPr anchor="ctr">
                    <a:lnL w="38100" cmpd="sng">
                      <a:solidFill>
                        <a:schemeClr val="tx1"/>
                      </a:solidFill>
                      <a:prstDash val="solid"/>
                    </a:lnL>
                    <a:lnR w="38100" cmpd="sng">
                      <a:solidFill>
                        <a:schemeClr val="tx1"/>
                      </a:solidFill>
                      <a:prstDash val="solid"/>
                    </a:ln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cs typeface="+mn-lt"/>
                        </a:rPr>
                        <a:t> 0.961</a:t>
                      </a:r>
                    </a:p>
                  </a:txBody>
                  <a:tcPr anchor="ctr">
                    <a:lnL w="38100" cmpd="sng">
                      <a:solidFill>
                        <a:schemeClr val="tx1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0.107</a:t>
                      </a:r>
                      <a:endParaRPr lang="en-US" sz="1800" dirty="0">
                        <a:solidFill>
                          <a:schemeClr val="bg1">
                            <a:lumMod val="10000"/>
                          </a:schemeClr>
                        </a:solidFill>
                        <a:cs typeface="+mn-lt"/>
                      </a:endParaRPr>
                    </a:p>
                  </a:txBody>
                  <a:tcPr anchor="ctr">
                    <a:lnR w="38100" cmpd="sng">
                      <a:solidFill>
                        <a:schemeClr val="tx1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716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180°</a:t>
                      </a:r>
                    </a:p>
                  </a:txBody>
                  <a:tcPr anchor="ctr">
                    <a:lnL w="38100" cmpd="sng">
                      <a:solidFill>
                        <a:schemeClr val="tx1"/>
                      </a:solidFill>
                      <a:prstDash val="solid"/>
                    </a:lnL>
                    <a:lnR w="38100" cmpd="sng">
                      <a:solidFill>
                        <a:schemeClr val="tx1"/>
                      </a:solidFill>
                      <a:prstDash val="solid"/>
                    </a:ln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cs typeface="+mn-lt"/>
                        </a:rPr>
                        <a:t> 2.512</a:t>
                      </a:r>
                    </a:p>
                  </a:txBody>
                  <a:tcPr anchor="ctr">
                    <a:lnL w="38100" cmpd="sng">
                      <a:solidFill>
                        <a:schemeClr val="tx1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0.191</a:t>
                      </a:r>
                      <a:endParaRPr lang="en-US" sz="1800" dirty="0">
                        <a:solidFill>
                          <a:schemeClr val="bg1">
                            <a:lumMod val="10000"/>
                          </a:schemeClr>
                        </a:solidFill>
                        <a:cs typeface="+mn-lt"/>
                      </a:endParaRPr>
                    </a:p>
                  </a:txBody>
                  <a:tcPr anchor="ctr">
                    <a:lnR w="38100" cmpd="sng">
                      <a:solidFill>
                        <a:schemeClr val="tx1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88262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45EBDC-815E-A6F9-2B2C-28062CE65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4474EC4C-532D-DE7F-ACDB-6A319E28E27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88405583"/>
              </p:ext>
            </p:extLst>
          </p:nvPr>
        </p:nvGraphicFramePr>
        <p:xfrm>
          <a:off x="1844040" y="1092294"/>
          <a:ext cx="8128000" cy="54012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28BAC2-04BB-5BD1-3B4A-21F94E98F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1">
              <a:rPr lang="en-US" altLang="en-US" smtClean="0"/>
              <a:t>12/1/2025</a:t>
            </a:fld>
            <a:endParaRPr lang="zh-CN" alt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F037C7F9-860F-8528-D0BE-920DECBBB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B7266C3-B005-7109-4491-AB2D71945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altLang="zh-CN">
                <a:sym typeface="+mn-ea"/>
              </a:rPr>
              <a:t>Real-Time Time-Optimal Spacecraft Attitude Control</a:t>
            </a:r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D68C25-CBEB-D9E0-14DC-A70888F9C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de-DE" altLang="en-US" sz="4400" dirty="0">
                <a:latin typeface="Arial Black" panose="020B0A04020102020204" charset="0"/>
                <a:cs typeface="Arial Black" panose="020B0A04020102020204" charset="0"/>
              </a:rPr>
              <a:t>Reliability Analysis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60E81A0-2E85-218B-AA12-B04DCA4E5CC8}"/>
              </a:ext>
            </a:extLst>
          </p:cNvPr>
          <p:cNvGrpSpPr/>
          <p:nvPr/>
        </p:nvGrpSpPr>
        <p:grpSpPr>
          <a:xfrm>
            <a:off x="4964906" y="3029585"/>
            <a:ext cx="1881187" cy="1881187"/>
            <a:chOff x="3123406" y="1909339"/>
            <a:chExt cx="1881187" cy="1881187"/>
          </a:xfrm>
          <a:solidFill>
            <a:srgbClr val="002060"/>
          </a:solidFill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2365865C-0F88-F80F-BD2F-1487307C507F}"/>
                </a:ext>
              </a:extLst>
            </p:cNvPr>
            <p:cNvSpPr/>
            <p:nvPr/>
          </p:nvSpPr>
          <p:spPr>
            <a:xfrm>
              <a:off x="3123406" y="1909339"/>
              <a:ext cx="1881187" cy="1881187"/>
            </a:xfrm>
            <a:prstGeom prst="ellipse">
              <a:avLst/>
            </a:prstGeom>
            <a:grpFill/>
            <a:ln w="38100"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Oval 4">
              <a:extLst>
                <a:ext uri="{FF2B5EF4-FFF2-40B4-BE49-F238E27FC236}">
                  <a16:creationId xmlns:a16="http://schemas.microsoft.com/office/drawing/2014/main" id="{E81A116F-D2CC-9D77-0AB5-D99238479772}"/>
                </a:ext>
              </a:extLst>
            </p:cNvPr>
            <p:cNvSpPr txBox="1"/>
            <p:nvPr/>
          </p:nvSpPr>
          <p:spPr>
            <a:xfrm>
              <a:off x="3264677" y="2164132"/>
              <a:ext cx="1598646" cy="1371602"/>
            </a:xfrm>
            <a:prstGeom prst="rect">
              <a:avLst/>
            </a:prstGeom>
            <a:noFill/>
            <a:ln w="38100"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de-DE" b="1" kern="1200" dirty="0"/>
                <a:t>BENCHMARK</a:t>
              </a:r>
            </a:p>
            <a:p>
              <a:pPr marL="0" lvl="0" indent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b="1" kern="1200" dirty="0"/>
                <a:t>ALGORITHM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407496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1555E9-72D6-FBDF-90C9-16ABAC27F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24F867-65E1-4B08-BA5D-2C636A1C7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1">
              <a:rPr lang="en-US" altLang="en-US" smtClean="0"/>
              <a:t>12/1/2025</a:t>
            </a:fld>
            <a:endParaRPr lang="zh-CN" alt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CA1A2BA5-59C2-A149-C1DA-1C0CD20ED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6757E391-B064-0073-8D99-6418FA69C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altLang="zh-CN">
                <a:sym typeface="+mn-ea"/>
              </a:rPr>
              <a:t>Real-Time Time-Optimal Spacecraft Attitude Control</a:t>
            </a:r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9CB757-6CE8-5900-5C69-678379606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de-DE" altLang="en-US" sz="4400" dirty="0">
                <a:latin typeface="Arial Black" panose="020B0A04020102020204" charset="0"/>
                <a:cs typeface="Arial Black" panose="020B0A04020102020204" charset="0"/>
              </a:rPr>
              <a:t>Reliability Analysis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D88A8E3-BCD7-6D7F-53E4-81D7645E2E4F}"/>
              </a:ext>
            </a:extLst>
          </p:cNvPr>
          <p:cNvGrpSpPr/>
          <p:nvPr/>
        </p:nvGrpSpPr>
        <p:grpSpPr>
          <a:xfrm>
            <a:off x="5003662" y="1325563"/>
            <a:ext cx="1783458" cy="1783458"/>
            <a:chOff x="3123406" y="1909339"/>
            <a:chExt cx="1881187" cy="1881187"/>
          </a:xfrm>
          <a:solidFill>
            <a:srgbClr val="002060"/>
          </a:solidFill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92D86E29-03D3-88E3-7141-140D64633D68}"/>
                </a:ext>
              </a:extLst>
            </p:cNvPr>
            <p:cNvSpPr/>
            <p:nvPr/>
          </p:nvSpPr>
          <p:spPr>
            <a:xfrm>
              <a:off x="3123406" y="1909339"/>
              <a:ext cx="1881187" cy="1881187"/>
            </a:xfrm>
            <a:prstGeom prst="ellipse">
              <a:avLst/>
            </a:prstGeom>
            <a:grpFill/>
            <a:ln w="38100"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Oval 4">
              <a:extLst>
                <a:ext uri="{FF2B5EF4-FFF2-40B4-BE49-F238E27FC236}">
                  <a16:creationId xmlns:a16="http://schemas.microsoft.com/office/drawing/2014/main" id="{07E6C9AD-145B-A88B-ECCD-DB683A83F7C6}"/>
                </a:ext>
              </a:extLst>
            </p:cNvPr>
            <p:cNvSpPr txBox="1"/>
            <p:nvPr/>
          </p:nvSpPr>
          <p:spPr>
            <a:xfrm>
              <a:off x="3264677" y="2164132"/>
              <a:ext cx="1598646" cy="1371602"/>
            </a:xfrm>
            <a:prstGeom prst="rect">
              <a:avLst/>
            </a:prstGeom>
            <a:noFill/>
            <a:ln w="38100"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de-DE" b="1" dirty="0"/>
                <a:t>OPTIMISED</a:t>
              </a:r>
              <a:endParaRPr lang="de-DE" b="1" kern="1200" dirty="0"/>
            </a:p>
            <a:p>
              <a:pPr marL="0" lvl="0" indent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b="1" kern="1200" dirty="0"/>
                <a:t>ALGORITHM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2AFFBA65-502A-DB45-D5D9-F48944E2D71D}"/>
              </a:ext>
            </a:extLst>
          </p:cNvPr>
          <p:cNvGrpSpPr/>
          <p:nvPr/>
        </p:nvGrpSpPr>
        <p:grpSpPr>
          <a:xfrm>
            <a:off x="5003662" y="3246181"/>
            <a:ext cx="1783458" cy="1783458"/>
            <a:chOff x="3123406" y="1909339"/>
            <a:chExt cx="1881187" cy="1881187"/>
          </a:xfrm>
          <a:solidFill>
            <a:srgbClr val="002060"/>
          </a:solidFill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CBDD2303-63AD-13D4-497A-ACF87C4DC874}"/>
                </a:ext>
              </a:extLst>
            </p:cNvPr>
            <p:cNvSpPr/>
            <p:nvPr/>
          </p:nvSpPr>
          <p:spPr>
            <a:xfrm>
              <a:off x="3123406" y="1909339"/>
              <a:ext cx="1881187" cy="1881187"/>
            </a:xfrm>
            <a:prstGeom prst="ellipse">
              <a:avLst/>
            </a:prstGeom>
            <a:grpFill/>
            <a:ln w="38100"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7" name="Oval 4">
              <a:extLst>
                <a:ext uri="{FF2B5EF4-FFF2-40B4-BE49-F238E27FC236}">
                  <a16:creationId xmlns:a16="http://schemas.microsoft.com/office/drawing/2014/main" id="{C9B9770D-045E-6981-797D-8C093FDCBF66}"/>
                </a:ext>
              </a:extLst>
            </p:cNvPr>
            <p:cNvSpPr txBox="1"/>
            <p:nvPr/>
          </p:nvSpPr>
          <p:spPr>
            <a:xfrm>
              <a:off x="3264677" y="2164132"/>
              <a:ext cx="1598646" cy="1371602"/>
            </a:xfrm>
            <a:prstGeom prst="rect">
              <a:avLst/>
            </a:prstGeom>
            <a:noFill/>
            <a:ln w="38100"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de-DE" b="1" kern="1200" dirty="0"/>
                <a:t>BENCHMARK</a:t>
              </a:r>
            </a:p>
            <a:p>
              <a:pPr marL="0" lvl="0" indent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b="1" kern="1200" dirty="0"/>
                <a:t>ALGORITHM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778A6ED-B17C-98B7-1BEA-85A0ADB11438}"/>
              </a:ext>
            </a:extLst>
          </p:cNvPr>
          <p:cNvGrpSpPr/>
          <p:nvPr/>
        </p:nvGrpSpPr>
        <p:grpSpPr>
          <a:xfrm>
            <a:off x="7212235" y="3663468"/>
            <a:ext cx="1791623" cy="948884"/>
            <a:chOff x="3168188" y="165329"/>
            <a:chExt cx="1791623" cy="948884"/>
          </a:xfrm>
        </p:grpSpPr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D57002D0-9950-7E34-5417-F2711F862FE1}"/>
                </a:ext>
              </a:extLst>
            </p:cNvPr>
            <p:cNvSpPr/>
            <p:nvPr/>
          </p:nvSpPr>
          <p:spPr>
            <a:xfrm>
              <a:off x="3168188" y="165329"/>
              <a:ext cx="1791623" cy="948884"/>
            </a:xfrm>
            <a:prstGeom prst="parallelogram">
              <a:avLst/>
            </a:prstGeom>
            <a:solidFill>
              <a:schemeClr val="bg1">
                <a:lumMod val="50000"/>
              </a:schemeClr>
            </a:solidFill>
            <a:ln w="38100">
              <a:solidFill>
                <a:schemeClr val="bg1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Rectangle: Rounded Corners 4">
              <a:extLst>
                <a:ext uri="{FF2B5EF4-FFF2-40B4-BE49-F238E27FC236}">
                  <a16:creationId xmlns:a16="http://schemas.microsoft.com/office/drawing/2014/main" id="{B98DBC0C-1C6A-92CD-1594-CEDAE1003874}"/>
                </a:ext>
              </a:extLst>
            </p:cNvPr>
            <p:cNvSpPr txBox="1"/>
            <p:nvPr/>
          </p:nvSpPr>
          <p:spPr>
            <a:xfrm>
              <a:off x="3214509" y="211650"/>
              <a:ext cx="1698981" cy="85624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8580" tIns="68580" rIns="68580" bIns="68580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de-DE" sz="1800" kern="1200" dirty="0"/>
                <a:t>Reference </a:t>
              </a:r>
              <a:br>
                <a:rPr lang="de-DE" sz="1800" kern="1200" dirty="0"/>
              </a:br>
              <a:r>
                <a:rPr lang="de-DE" sz="1800" kern="1200" dirty="0"/>
                <a:t>Results</a:t>
              </a:r>
              <a:endParaRPr lang="en-US" sz="1800" kern="1200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55B3FB5-B9A7-DFA1-FEEA-CBD7E9920F19}"/>
              </a:ext>
            </a:extLst>
          </p:cNvPr>
          <p:cNvGrpSpPr/>
          <p:nvPr/>
        </p:nvGrpSpPr>
        <p:grpSpPr>
          <a:xfrm>
            <a:off x="7212235" y="1742850"/>
            <a:ext cx="1791623" cy="948884"/>
            <a:chOff x="3168188" y="165329"/>
            <a:chExt cx="1791623" cy="948884"/>
          </a:xfrm>
        </p:grpSpPr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E833B013-9D69-51B8-2CC9-7FE43971CBAF}"/>
                </a:ext>
              </a:extLst>
            </p:cNvPr>
            <p:cNvSpPr/>
            <p:nvPr/>
          </p:nvSpPr>
          <p:spPr>
            <a:xfrm>
              <a:off x="3168188" y="165329"/>
              <a:ext cx="1791623" cy="948884"/>
            </a:xfrm>
            <a:prstGeom prst="parallelogram">
              <a:avLst/>
            </a:prstGeom>
            <a:solidFill>
              <a:schemeClr val="bg1">
                <a:lumMod val="50000"/>
              </a:schemeClr>
            </a:solidFill>
            <a:ln w="38100">
              <a:solidFill>
                <a:schemeClr val="bg1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Rectangle: Rounded Corners 4">
              <a:extLst>
                <a:ext uri="{FF2B5EF4-FFF2-40B4-BE49-F238E27FC236}">
                  <a16:creationId xmlns:a16="http://schemas.microsoft.com/office/drawing/2014/main" id="{CA39F789-C437-AC21-E2B3-56981F105971}"/>
                </a:ext>
              </a:extLst>
            </p:cNvPr>
            <p:cNvSpPr txBox="1"/>
            <p:nvPr/>
          </p:nvSpPr>
          <p:spPr>
            <a:xfrm>
              <a:off x="3214509" y="211650"/>
              <a:ext cx="1698981" cy="85624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8580" tIns="68580" rIns="68580" bIns="68580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de-DE" sz="1800" kern="1200" dirty="0"/>
                <a:t>Results</a:t>
              </a:r>
              <a:endParaRPr lang="en-US" sz="1800" kern="120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412CBF7-9010-C027-1682-BE165D6BCF02}"/>
              </a:ext>
            </a:extLst>
          </p:cNvPr>
          <p:cNvGrpSpPr/>
          <p:nvPr/>
        </p:nvGrpSpPr>
        <p:grpSpPr>
          <a:xfrm>
            <a:off x="9615746" y="2645413"/>
            <a:ext cx="1791623" cy="948884"/>
            <a:chOff x="3168188" y="165329"/>
            <a:chExt cx="1791623" cy="948884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A6F28C52-E514-5D6C-31BE-CFEFA350507E}"/>
                </a:ext>
              </a:extLst>
            </p:cNvPr>
            <p:cNvSpPr/>
            <p:nvPr/>
          </p:nvSpPr>
          <p:spPr>
            <a:xfrm>
              <a:off x="3168188" y="165329"/>
              <a:ext cx="1791623" cy="948884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 w="38100">
              <a:solidFill>
                <a:schemeClr val="bg1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Rectangle: Rounded Corners 4">
              <a:extLst>
                <a:ext uri="{FF2B5EF4-FFF2-40B4-BE49-F238E27FC236}">
                  <a16:creationId xmlns:a16="http://schemas.microsoft.com/office/drawing/2014/main" id="{FA261143-5E54-CF51-420A-D0D5CD1B0D2D}"/>
                </a:ext>
              </a:extLst>
            </p:cNvPr>
            <p:cNvSpPr txBox="1"/>
            <p:nvPr/>
          </p:nvSpPr>
          <p:spPr>
            <a:xfrm>
              <a:off x="3214509" y="211650"/>
              <a:ext cx="1698981" cy="85624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8580" tIns="68580" rIns="68580" bIns="68580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de-DE" sz="1800" kern="1200" dirty="0"/>
                <a:t>Compute</a:t>
              </a:r>
              <a:br>
                <a:rPr lang="de-DE" sz="1800" kern="1200" dirty="0"/>
              </a:br>
              <a:r>
                <a:rPr lang="de-DE" sz="1800" kern="1200" dirty="0"/>
                <a:t>Performance</a:t>
              </a:r>
              <a:br>
                <a:rPr lang="de-DE" sz="1800" kern="1200" dirty="0"/>
              </a:br>
              <a:r>
                <a:rPr lang="de-DE" sz="1800" kern="1200" dirty="0"/>
                <a:t>Metrics</a:t>
              </a:r>
              <a:endParaRPr lang="en-US" sz="1800" kern="1200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040B342-E74C-80C6-109F-5162459A69E3}"/>
              </a:ext>
            </a:extLst>
          </p:cNvPr>
          <p:cNvGrpSpPr/>
          <p:nvPr/>
        </p:nvGrpSpPr>
        <p:grpSpPr>
          <a:xfrm>
            <a:off x="2636075" y="2714584"/>
            <a:ext cx="1791623" cy="948884"/>
            <a:chOff x="3168188" y="165329"/>
            <a:chExt cx="1791623" cy="948884"/>
          </a:xfrm>
        </p:grpSpPr>
        <p:sp>
          <p:nvSpPr>
            <p:cNvPr id="23" name="Parallelogram 22">
              <a:extLst>
                <a:ext uri="{FF2B5EF4-FFF2-40B4-BE49-F238E27FC236}">
                  <a16:creationId xmlns:a16="http://schemas.microsoft.com/office/drawing/2014/main" id="{DF0F9AD6-7CFF-FAC2-EE70-F3775CB3CA20}"/>
                </a:ext>
              </a:extLst>
            </p:cNvPr>
            <p:cNvSpPr/>
            <p:nvPr/>
          </p:nvSpPr>
          <p:spPr>
            <a:xfrm>
              <a:off x="3168188" y="165329"/>
              <a:ext cx="1791623" cy="948884"/>
            </a:xfrm>
            <a:prstGeom prst="parallelogram">
              <a:avLst/>
            </a:prstGeom>
            <a:solidFill>
              <a:schemeClr val="bg1">
                <a:lumMod val="50000"/>
              </a:schemeClr>
            </a:solidFill>
            <a:ln w="38100">
              <a:solidFill>
                <a:schemeClr val="bg1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Rectangle: Rounded Corners 4">
              <a:extLst>
                <a:ext uri="{FF2B5EF4-FFF2-40B4-BE49-F238E27FC236}">
                  <a16:creationId xmlns:a16="http://schemas.microsoft.com/office/drawing/2014/main" id="{F4C11E50-1C64-A3FF-2FC6-27225060FFF0}"/>
                </a:ext>
              </a:extLst>
            </p:cNvPr>
            <p:cNvSpPr txBox="1"/>
            <p:nvPr/>
          </p:nvSpPr>
          <p:spPr>
            <a:xfrm>
              <a:off x="3214509" y="211650"/>
              <a:ext cx="1698981" cy="85624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8580" tIns="68580" rIns="68580" bIns="68580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de-DE" sz="1800" kern="1200" dirty="0"/>
                <a:t>Boundary Conditions</a:t>
              </a:r>
              <a:endParaRPr lang="en-US" sz="1800" kern="1200" dirty="0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A35B295-23A3-4832-752C-B6EE429DCB6F}"/>
              </a:ext>
            </a:extLst>
          </p:cNvPr>
          <p:cNvGrpSpPr/>
          <p:nvPr/>
        </p:nvGrpSpPr>
        <p:grpSpPr>
          <a:xfrm>
            <a:off x="233497" y="2718854"/>
            <a:ext cx="1791623" cy="948884"/>
            <a:chOff x="3168188" y="165329"/>
            <a:chExt cx="1791623" cy="948884"/>
          </a:xfrm>
        </p:grpSpPr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E33DF267-52B6-6AA2-F32F-7EA0ED52EDF2}"/>
                </a:ext>
              </a:extLst>
            </p:cNvPr>
            <p:cNvSpPr/>
            <p:nvPr/>
          </p:nvSpPr>
          <p:spPr>
            <a:xfrm>
              <a:off x="3168188" y="165329"/>
              <a:ext cx="1791623" cy="948884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 w="38100">
              <a:solidFill>
                <a:schemeClr val="bg1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: Rounded Corners 4">
              <a:extLst>
                <a:ext uri="{FF2B5EF4-FFF2-40B4-BE49-F238E27FC236}">
                  <a16:creationId xmlns:a16="http://schemas.microsoft.com/office/drawing/2014/main" id="{45059ACC-FB14-9EE6-4BC6-43C66A851955}"/>
                </a:ext>
              </a:extLst>
            </p:cNvPr>
            <p:cNvSpPr txBox="1"/>
            <p:nvPr/>
          </p:nvSpPr>
          <p:spPr>
            <a:xfrm>
              <a:off x="3214509" y="211650"/>
              <a:ext cx="1698981" cy="85624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8580" tIns="68580" rIns="68580" bIns="68580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de-DE" sz="1800" kern="1200" dirty="0"/>
                <a:t>LHS</a:t>
              </a:r>
              <a:endParaRPr lang="en-US" sz="1800" kern="1200" dirty="0"/>
            </a:p>
          </p:txBody>
        </p:sp>
      </p:grp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9FF104E7-346D-E0A6-A447-4D16BE99521A}"/>
              </a:ext>
            </a:extLst>
          </p:cNvPr>
          <p:cNvCxnSpPr>
            <a:stCxn id="24" idx="3"/>
            <a:endCxn id="6" idx="2"/>
          </p:cNvCxnSpPr>
          <p:nvPr/>
        </p:nvCxnSpPr>
        <p:spPr>
          <a:xfrm>
            <a:off x="4381377" y="3189026"/>
            <a:ext cx="622285" cy="948884"/>
          </a:xfrm>
          <a:prstGeom prst="bentConnector3">
            <a:avLst/>
          </a:prstGeom>
          <a:ln w="762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096E4680-17CF-B3F1-B993-3DA6158D12A3}"/>
              </a:ext>
            </a:extLst>
          </p:cNvPr>
          <p:cNvCxnSpPr>
            <a:cxnSpLocks/>
            <a:stCxn id="24" idx="3"/>
            <a:endCxn id="14" idx="2"/>
          </p:cNvCxnSpPr>
          <p:nvPr/>
        </p:nvCxnSpPr>
        <p:spPr>
          <a:xfrm flipV="1">
            <a:off x="4381377" y="2217292"/>
            <a:ext cx="622285" cy="971734"/>
          </a:xfrm>
          <a:prstGeom prst="bentConnector3">
            <a:avLst>
              <a:gd name="adj1" fmla="val 50000"/>
            </a:avLst>
          </a:prstGeom>
          <a:ln w="762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117D583-A9B1-38C4-2338-7A201A4589CD}"/>
              </a:ext>
            </a:extLst>
          </p:cNvPr>
          <p:cNvCxnSpPr>
            <a:stCxn id="26" idx="3"/>
            <a:endCxn id="24" idx="1"/>
          </p:cNvCxnSpPr>
          <p:nvPr/>
        </p:nvCxnSpPr>
        <p:spPr>
          <a:xfrm flipV="1">
            <a:off x="2025120" y="3189026"/>
            <a:ext cx="657276" cy="4270"/>
          </a:xfrm>
          <a:prstGeom prst="straightConnector1">
            <a:avLst/>
          </a:prstGeom>
          <a:ln w="762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D46050AB-29E6-88DA-9573-7144D7D9D47A}"/>
              </a:ext>
            </a:extLst>
          </p:cNvPr>
          <p:cNvCxnSpPr>
            <a:cxnSpLocks/>
            <a:stCxn id="14" idx="6"/>
            <a:endCxn id="18" idx="1"/>
          </p:cNvCxnSpPr>
          <p:nvPr/>
        </p:nvCxnSpPr>
        <p:spPr>
          <a:xfrm>
            <a:off x="6787120" y="2217292"/>
            <a:ext cx="471436" cy="0"/>
          </a:xfrm>
          <a:prstGeom prst="straightConnector1">
            <a:avLst/>
          </a:prstGeom>
          <a:ln w="762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80961189-C41E-BF5D-948A-9AC1AE3E8802}"/>
              </a:ext>
            </a:extLst>
          </p:cNvPr>
          <p:cNvCxnSpPr>
            <a:cxnSpLocks/>
            <a:stCxn id="6" idx="6"/>
            <a:endCxn id="10" idx="1"/>
          </p:cNvCxnSpPr>
          <p:nvPr/>
        </p:nvCxnSpPr>
        <p:spPr>
          <a:xfrm>
            <a:off x="6787120" y="4137910"/>
            <a:ext cx="471436" cy="0"/>
          </a:xfrm>
          <a:prstGeom prst="straightConnector1">
            <a:avLst/>
          </a:prstGeom>
          <a:ln w="762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019C9DD8-83B8-6685-FC0E-6C6E776A7CC1}"/>
              </a:ext>
            </a:extLst>
          </p:cNvPr>
          <p:cNvCxnSpPr>
            <a:cxnSpLocks/>
            <a:stCxn id="18" idx="3"/>
            <a:endCxn id="20" idx="1"/>
          </p:cNvCxnSpPr>
          <p:nvPr/>
        </p:nvCxnSpPr>
        <p:spPr>
          <a:xfrm>
            <a:off x="8957537" y="2217292"/>
            <a:ext cx="658209" cy="902563"/>
          </a:xfrm>
          <a:prstGeom prst="bentConnector3">
            <a:avLst>
              <a:gd name="adj1" fmla="val 50000"/>
            </a:avLst>
          </a:prstGeom>
          <a:ln w="762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96D7BD66-E94D-9CD1-7A87-D2FA73C45705}"/>
              </a:ext>
            </a:extLst>
          </p:cNvPr>
          <p:cNvCxnSpPr>
            <a:cxnSpLocks/>
            <a:stCxn id="10" idx="3"/>
            <a:endCxn id="20" idx="1"/>
          </p:cNvCxnSpPr>
          <p:nvPr/>
        </p:nvCxnSpPr>
        <p:spPr>
          <a:xfrm flipV="1">
            <a:off x="8957537" y="3119855"/>
            <a:ext cx="658209" cy="1018055"/>
          </a:xfrm>
          <a:prstGeom prst="bentConnector3">
            <a:avLst>
              <a:gd name="adj1" fmla="val 50000"/>
            </a:avLst>
          </a:prstGeom>
          <a:ln w="762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CE4F7683-FFC9-12C1-CDEF-0BAD46AD9961}"/>
              </a:ext>
            </a:extLst>
          </p:cNvPr>
          <p:cNvCxnSpPr>
            <a:cxnSpLocks/>
            <a:stCxn id="20" idx="2"/>
            <a:endCxn id="26" idx="2"/>
          </p:cNvCxnSpPr>
          <p:nvPr/>
        </p:nvCxnSpPr>
        <p:spPr>
          <a:xfrm rot="5400000">
            <a:off x="5783714" y="-1060107"/>
            <a:ext cx="73441" cy="9382249"/>
          </a:xfrm>
          <a:prstGeom prst="bentConnector3">
            <a:avLst>
              <a:gd name="adj1" fmla="val 2532991"/>
            </a:avLst>
          </a:prstGeom>
          <a:ln w="762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6A91A4BD-6870-086C-D983-29D3249573C9}"/>
              </a:ext>
            </a:extLst>
          </p:cNvPr>
          <p:cNvSpPr txBox="1"/>
          <p:nvPr/>
        </p:nvSpPr>
        <p:spPr>
          <a:xfrm>
            <a:off x="5492157" y="5505980"/>
            <a:ext cx="20283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X 10,000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18069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D8F58-153F-5F14-1555-AC51224ED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6893DF89-1445-8F0D-F7EE-2BB5906D8366}"/>
              </a:ext>
            </a:extLst>
          </p:cNvPr>
          <p:cNvSpPr/>
          <p:nvPr/>
        </p:nvSpPr>
        <p:spPr>
          <a:xfrm>
            <a:off x="3078480" y="2997200"/>
            <a:ext cx="8778240" cy="3359150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AA9956-7EE1-878B-D6DD-07A42B813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1">
              <a:rPr lang="en-US" altLang="en-US" smtClean="0"/>
              <a:t>12/1/2025</a:t>
            </a:fld>
            <a:endParaRPr lang="zh-CN" alt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690F3D37-7FFB-5DA2-817B-AC26AAC39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16</a:t>
            </a:fld>
            <a:endParaRPr lang="zh-CN" alt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9364AE3B-0BFC-8658-AC79-14FC4CFAF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altLang="zh-CN">
                <a:sym typeface="+mn-ea"/>
              </a:rPr>
              <a:t>Real-Time Time-Optimal Spacecraft Attitude Control</a:t>
            </a:r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F783EC-511D-278C-69FA-1432DBF24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de-DE" altLang="en-US" sz="4400" dirty="0">
                <a:latin typeface="Arial Black" panose="020B0A04020102020204" charset="0"/>
                <a:cs typeface="Arial Black" panose="020B0A04020102020204" charset="0"/>
              </a:rPr>
              <a:t>Reliability Analysis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AB7117AC-F3DD-222E-007C-C90BB90DE4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0240" y="3429000"/>
            <a:ext cx="8326790" cy="2783857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B1F819EE-59A2-62ED-0F77-1E1D25429DDF}"/>
              </a:ext>
            </a:extLst>
          </p:cNvPr>
          <p:cNvSpPr txBox="1"/>
          <p:nvPr/>
        </p:nvSpPr>
        <p:spPr>
          <a:xfrm>
            <a:off x="452120" y="1526488"/>
            <a:ext cx="60909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Scenario A: Symmetric spacecraft | Rest-to-Rest</a:t>
            </a:r>
          </a:p>
          <a:p>
            <a:r>
              <a:rPr lang="de-DE" dirty="0"/>
              <a:t>Scenario B: Symmetric spacecraft | Track-to-Track</a:t>
            </a:r>
          </a:p>
          <a:p>
            <a:r>
              <a:rPr lang="de-DE" dirty="0"/>
              <a:t>Scenario C: Asymmetric spacecraft | Track-to-Track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C93D774-B41A-0FF8-BBEE-4A7A23EC0940}"/>
              </a:ext>
            </a:extLst>
          </p:cNvPr>
          <p:cNvSpPr txBox="1"/>
          <p:nvPr/>
        </p:nvSpPr>
        <p:spPr>
          <a:xfrm>
            <a:off x="2382520" y="3100841"/>
            <a:ext cx="6090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bg1">
                    <a:lumMod val="10000"/>
                  </a:schemeClr>
                </a:solidFill>
              </a:rPr>
              <a:t>Benchmark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B581B2F-6AA4-89C7-C109-06EACBF1172D}"/>
              </a:ext>
            </a:extLst>
          </p:cNvPr>
          <p:cNvSpPr txBox="1"/>
          <p:nvPr/>
        </p:nvSpPr>
        <p:spPr>
          <a:xfrm>
            <a:off x="6764020" y="3100841"/>
            <a:ext cx="6090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bg1">
                    <a:lumMod val="10000"/>
                  </a:schemeClr>
                </a:solidFill>
              </a:rPr>
              <a:t>Optimised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966A791-6523-CDC8-8496-FC3E6664DA81}"/>
              </a:ext>
            </a:extLst>
          </p:cNvPr>
          <p:cNvSpPr txBox="1"/>
          <p:nvPr/>
        </p:nvSpPr>
        <p:spPr>
          <a:xfrm>
            <a:off x="8179837" y="2477005"/>
            <a:ext cx="701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91%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FC728AF-B85A-6754-2300-88F4287E25B3}"/>
              </a:ext>
            </a:extLst>
          </p:cNvPr>
          <p:cNvSpPr txBox="1"/>
          <p:nvPr/>
        </p:nvSpPr>
        <p:spPr>
          <a:xfrm>
            <a:off x="9474705" y="2456969"/>
            <a:ext cx="701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88%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65922FD-E876-D114-80ED-B515A17B13C2}"/>
              </a:ext>
            </a:extLst>
          </p:cNvPr>
          <p:cNvSpPr txBox="1"/>
          <p:nvPr/>
        </p:nvSpPr>
        <p:spPr>
          <a:xfrm>
            <a:off x="10582962" y="2456969"/>
            <a:ext cx="701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70%</a:t>
            </a:r>
          </a:p>
        </p:txBody>
      </p:sp>
    </p:spTree>
    <p:extLst>
      <p:ext uri="{BB962C8B-B14F-4D97-AF65-F5344CB8AC3E}">
        <p14:creationId xmlns:p14="http://schemas.microsoft.com/office/powerpoint/2010/main" val="38688736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D33106-C7CD-78B4-7957-D3D9BE6083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FEB57BB6-E01F-5506-414A-43B5CF4F83F2}"/>
              </a:ext>
            </a:extLst>
          </p:cNvPr>
          <p:cNvSpPr/>
          <p:nvPr/>
        </p:nvSpPr>
        <p:spPr>
          <a:xfrm>
            <a:off x="571836" y="2080727"/>
            <a:ext cx="11284884" cy="4205580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9A2C24-C964-D289-0EF5-FF757EFA29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837" y="2519860"/>
            <a:ext cx="11284883" cy="3766447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022E85-DA83-6FEF-4F97-ACB05EE4D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1">
              <a:rPr lang="en-US" altLang="en-US" smtClean="0"/>
              <a:t>12/1/2025</a:t>
            </a:fld>
            <a:endParaRPr lang="zh-CN" alt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A2D3626-E03B-5DF1-BE43-ED00F0BCC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17</a:t>
            </a:fld>
            <a:endParaRPr lang="zh-CN" alt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ABB08790-A820-8A77-1265-4A8FBB620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altLang="zh-CN">
                <a:sym typeface="+mn-ea"/>
              </a:rPr>
              <a:t>Real-Time Time-Optimal Spacecraft Attitude Control</a:t>
            </a:r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180F64-4CC6-0DA6-875A-C18890FC9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de-DE" altLang="en-US" sz="4400" dirty="0">
                <a:latin typeface="Arial Black" panose="020B0A04020102020204" charset="0"/>
                <a:cs typeface="Arial Black" panose="020B0A04020102020204" charset="0"/>
              </a:rPr>
              <a:t>Reliability Analysis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F4CD6B-5F3D-854E-2692-3BFFC30CEF45}"/>
              </a:ext>
            </a:extLst>
          </p:cNvPr>
          <p:cNvSpPr txBox="1"/>
          <p:nvPr/>
        </p:nvSpPr>
        <p:spPr>
          <a:xfrm>
            <a:off x="335280" y="2150528"/>
            <a:ext cx="6090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bg1">
                    <a:lumMod val="10000"/>
                  </a:schemeClr>
                </a:solidFill>
              </a:rPr>
              <a:t>Benchmark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7A23C7-750F-B855-FD1E-C6CE23E551A2}"/>
              </a:ext>
            </a:extLst>
          </p:cNvPr>
          <p:cNvSpPr txBox="1"/>
          <p:nvPr/>
        </p:nvSpPr>
        <p:spPr>
          <a:xfrm>
            <a:off x="6426200" y="2150528"/>
            <a:ext cx="6090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bg1">
                    <a:lumMod val="10000"/>
                  </a:schemeClr>
                </a:solidFill>
              </a:rPr>
              <a:t>Optimised</a:t>
            </a:r>
          </a:p>
        </p:txBody>
      </p:sp>
    </p:spTree>
    <p:extLst>
      <p:ext uri="{BB962C8B-B14F-4D97-AF65-F5344CB8AC3E}">
        <p14:creationId xmlns:p14="http://schemas.microsoft.com/office/powerpoint/2010/main" val="37977966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D0BE28-9754-98F1-6C99-8FD9514E5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2A9E24-97B1-8A59-AB89-894E5A3C4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1">
              <a:rPr lang="en-US" altLang="en-US" smtClean="0"/>
              <a:t>12/1/2025</a:t>
            </a:fld>
            <a:endParaRPr lang="zh-CN" alt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A263D3A-2BF8-7B10-D0B1-94DB13233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892E8087-7D78-E9CF-4210-447753266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altLang="zh-CN">
                <a:sym typeface="+mn-ea"/>
              </a:rPr>
              <a:t>Real-Time Time-Optimal Spacecraft Attitude Control</a:t>
            </a:r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C13E74-1B95-09C0-2555-D54EF2B7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de-DE" altLang="en-US" sz="4400" dirty="0">
                <a:latin typeface="Arial Black" panose="020B0A04020102020204" charset="0"/>
                <a:cs typeface="Arial Black" panose="020B0A04020102020204" charset="0"/>
              </a:rPr>
              <a:t>PSO Development</a:t>
            </a:r>
          </a:p>
        </p:txBody>
      </p:sp>
      <p:pic>
        <p:nvPicPr>
          <p:cNvPr id="36" name="Picture 2">
            <a:extLst>
              <a:ext uri="{FF2B5EF4-FFF2-40B4-BE49-F238E27FC236}">
                <a16:creationId xmlns:a16="http://schemas.microsoft.com/office/drawing/2014/main" id="{6250DBB6-2FA5-4B30-9441-85E845F12D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99041" y="2530786"/>
            <a:ext cx="4728210" cy="35556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FACBEE82-3E39-A171-EC20-C5269A9D51C4}"/>
                  </a:ext>
                </a:extLst>
              </p:cNvPr>
              <p:cNvSpPr txBox="1"/>
              <p:nvPr/>
            </p:nvSpPr>
            <p:spPr>
              <a:xfrm>
                <a:off x="603381" y="1696451"/>
                <a:ext cx="5991320" cy="4168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de-DE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p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p>
                        <m:sSupPr>
                          <m:ctrlPr>
                            <a:rPr lang="de-DE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p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DE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de-DE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de-DE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 −</m:t>
                          </m:r>
                          <m:sSup>
                            <m:sSupPr>
                              <m:ctrlPr>
                                <a:rPr lang="de-DE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de-DE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d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DE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de-DE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de-DE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de-DE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de-DE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FACBEE82-3E39-A171-EC20-C5269A9D51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381" y="1696451"/>
                <a:ext cx="5991320" cy="41684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51D2811D-0A81-D2DE-61A7-D9B025269D26}"/>
                  </a:ext>
                </a:extLst>
              </p:cNvPr>
              <p:cNvSpPr txBox="1"/>
              <p:nvPr/>
            </p:nvSpPr>
            <p:spPr>
              <a:xfrm>
                <a:off x="603381" y="2285949"/>
                <a:ext cx="2450158" cy="3758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de-DE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de-DE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de-DE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p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51D2811D-0A81-D2DE-61A7-D9B025269D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381" y="2285949"/>
                <a:ext cx="2450158" cy="375872"/>
              </a:xfrm>
              <a:prstGeom prst="rect">
                <a:avLst/>
              </a:prstGeom>
              <a:blipFill>
                <a:blip r:embed="rId4"/>
                <a:stretch>
                  <a:fillRect l="-995" r="-249" b="-80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2" name="Text Box 17">
                <a:extLst>
                  <a:ext uri="{FF2B5EF4-FFF2-40B4-BE49-F238E27FC236}">
                    <a16:creationId xmlns:a16="http://schemas.microsoft.com/office/drawing/2014/main" id="{3F95FBD6-4EFB-5B4A-A690-AAC3C763A9C5}"/>
                  </a:ext>
                </a:extLst>
              </p:cNvPr>
              <p:cNvSpPr txBox="1"/>
              <p:nvPr/>
            </p:nvSpPr>
            <p:spPr>
              <a:xfrm>
                <a:off x="8677468" y="2391856"/>
                <a:ext cx="2911151" cy="33857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de-DE" altLang="en-US" dirty="0">
                    <a:latin typeface="+mn-ea"/>
                    <a:cs typeface="+mn-ea"/>
                  </a:rPr>
                  <a:t>Legend:</a:t>
                </a:r>
              </a:p>
              <a:p>
                <a:pPr algn="l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de-DE" altLang="de-DE" b="0" i="1" smtClean="0">
                        <a:latin typeface="Cambria Math" panose="02040503050406030204" pitchFamily="18" charset="0"/>
                        <a:cs typeface="DejaVu Math TeX Gyre" panose="02000503000000000000" charset="0"/>
                      </a:rPr>
                      <m:t>𝑔</m:t>
                    </m:r>
                  </m:oMath>
                </a14:m>
                <a:r>
                  <a:rPr lang="de-DE" altLang="en-US" dirty="0">
                    <a:latin typeface="+mn-ea"/>
                    <a:cs typeface="+mn-ea"/>
                  </a:rPr>
                  <a:t> </a:t>
                </a:r>
                <a:r>
                  <a:rPr lang="de-DE" altLang="en-US" dirty="0">
                    <a:latin typeface="+mn-ea"/>
                    <a:cs typeface="+mn-ea"/>
                    <a:sym typeface="+mn-ea"/>
                  </a:rPr>
                  <a:t>→</a:t>
                </a:r>
                <a14:m>
                  <m:oMath xmlns:m="http://schemas.openxmlformats.org/officeDocument/2006/math">
                    <m:r>
                      <a:rPr lang="en-US" altLang="de-DE" i="1">
                        <a:latin typeface="Cambria Math" panose="02040503050406030204" pitchFamily="18" charset="0"/>
                        <a:cs typeface="DejaVu Math TeX Gyre" panose="02000503000000000000" charset="0"/>
                        <a:sym typeface="+mn-ea"/>
                      </a:rPr>
                      <m:t> </m:t>
                    </m:r>
                  </m:oMath>
                </a14:m>
                <a:r>
                  <a:rPr lang="de-DE" altLang="en-US" dirty="0">
                    <a:latin typeface="+mn-ea"/>
                    <a:cs typeface="+mn-ea"/>
                  </a:rPr>
                  <a:t>Global Best</a:t>
                </a:r>
              </a:p>
              <a:p>
                <a:pPr algn="l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de-DE" altLang="en-US" b="0" i="1" smtClean="0">
                        <a:latin typeface="Cambria Math" panose="02040503050406030204" pitchFamily="18" charset="0"/>
                        <a:cs typeface="+mn-ea"/>
                      </a:rPr>
                      <m:t>𝑝</m:t>
                    </m:r>
                  </m:oMath>
                </a14:m>
                <a:r>
                  <a:rPr lang="de-DE" altLang="en-US" dirty="0">
                    <a:latin typeface="+mn-ea"/>
                    <a:cs typeface="+mn-ea"/>
                  </a:rPr>
                  <a:t> </a:t>
                </a:r>
                <a:r>
                  <a:rPr lang="de-DE" altLang="en-US" dirty="0">
                    <a:latin typeface="+mn-ea"/>
                    <a:cs typeface="+mn-ea"/>
                    <a:sym typeface="+mn-ea"/>
                  </a:rPr>
                  <a:t>→</a:t>
                </a:r>
                <a14:m>
                  <m:oMath xmlns:m="http://schemas.openxmlformats.org/officeDocument/2006/math">
                    <m:r>
                      <a:rPr lang="en-US" altLang="de-DE" i="1">
                        <a:latin typeface="Cambria Math" panose="02040503050406030204" pitchFamily="18" charset="0"/>
                        <a:cs typeface="DejaVu Math TeX Gyre" panose="02000503000000000000" charset="0"/>
                        <a:sym typeface="+mn-ea"/>
                      </a:rPr>
                      <m:t> </m:t>
                    </m:r>
                  </m:oMath>
                </a14:m>
                <a:r>
                  <a:rPr lang="de-DE" altLang="en-US" dirty="0">
                    <a:latin typeface="+mn-ea"/>
                    <a:cs typeface="+mn-ea"/>
                  </a:rPr>
                  <a:t>Personal Best</a:t>
                </a:r>
              </a:p>
              <a:p>
                <a:pPr algn="l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de-DE" altLang="de-DE" b="0" i="1" smtClean="0">
                        <a:latin typeface="Cambria Math" panose="02040503050406030204" pitchFamily="18" charset="0"/>
                        <a:cs typeface="DejaVu Math TeX Gyre" panose="02000503000000000000" charset="0"/>
                      </a:rPr>
                      <m:t>𝑣</m:t>
                    </m:r>
                  </m:oMath>
                </a14:m>
                <a:r>
                  <a:rPr lang="de-DE" altLang="en-US" dirty="0">
                    <a:latin typeface="+mn-ea"/>
                    <a:cs typeface="+mn-ea"/>
                  </a:rPr>
                  <a:t> </a:t>
                </a:r>
                <a:r>
                  <a:rPr lang="de-DE" altLang="en-US" dirty="0">
                    <a:latin typeface="+mn-ea"/>
                    <a:cs typeface="+mn-ea"/>
                    <a:sym typeface="+mn-ea"/>
                  </a:rPr>
                  <a:t>→</a:t>
                </a:r>
                <a14:m>
                  <m:oMath xmlns:m="http://schemas.openxmlformats.org/officeDocument/2006/math">
                    <m:r>
                      <a:rPr lang="en-US" altLang="de-DE" i="1">
                        <a:latin typeface="Cambria Math" panose="02040503050406030204" pitchFamily="18" charset="0"/>
                        <a:cs typeface="DejaVu Math TeX Gyre" panose="02000503000000000000" charset="0"/>
                        <a:sym typeface="+mn-ea"/>
                      </a:rPr>
                      <m:t> </m:t>
                    </m:r>
                  </m:oMath>
                </a14:m>
                <a:r>
                  <a:rPr lang="de-DE" altLang="en-US" dirty="0">
                    <a:latin typeface="+mn-ea"/>
                    <a:cs typeface="+mn-ea"/>
                  </a:rPr>
                  <a:t>Velocity</a:t>
                </a:r>
              </a:p>
              <a:p>
                <a:pPr algn="l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de-DE" altLang="de-DE" b="0" i="1" smtClean="0">
                        <a:latin typeface="Cambria Math" panose="02040503050406030204" pitchFamily="18" charset="0"/>
                        <a:ea typeface="MS Mincho" charset="0"/>
                        <a:cs typeface="DejaVu Math TeX Gyre" panose="02000503000000000000" charset="0"/>
                      </a:rPr>
                      <m:t>𝑥</m:t>
                    </m:r>
                  </m:oMath>
                </a14:m>
                <a:r>
                  <a:rPr lang="de-DE" altLang="en-US" i="1" dirty="0">
                    <a:latin typeface="+mn-ea"/>
                    <a:cs typeface="+mn-ea"/>
                  </a:rPr>
                  <a:t> </a:t>
                </a:r>
                <a:r>
                  <a:rPr lang="de-DE" altLang="en-US" dirty="0">
                    <a:latin typeface="+mn-ea"/>
                    <a:cs typeface="+mn-ea"/>
                    <a:sym typeface="+mn-ea"/>
                  </a:rPr>
                  <a:t>→</a:t>
                </a:r>
                <a14:m>
                  <m:oMath xmlns:m="http://schemas.openxmlformats.org/officeDocument/2006/math">
                    <m:r>
                      <a:rPr lang="en-US" altLang="de-DE" i="1">
                        <a:latin typeface="Cambria Math" panose="02040503050406030204" pitchFamily="18" charset="0"/>
                        <a:cs typeface="DejaVu Math TeX Gyre" panose="02000503000000000000" charset="0"/>
                        <a:sym typeface="+mn-ea"/>
                      </a:rPr>
                      <m:t> </m:t>
                    </m:r>
                  </m:oMath>
                </a14:m>
                <a:r>
                  <a:rPr lang="de-DE" altLang="en-US" dirty="0">
                    <a:latin typeface="+mn-ea"/>
                    <a:cs typeface="+mn-ea"/>
                  </a:rPr>
                  <a:t>Position</a:t>
                </a:r>
              </a:p>
              <a:p>
                <a:pPr algn="l">
                  <a:lnSpc>
                    <a:spcPct val="12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de-DE" altLang="de-DE" b="0" i="1" smtClean="0">
                            <a:latin typeface="Cambria Math" panose="02040503050406030204" pitchFamily="18" charset="0"/>
                            <a:cs typeface="DejaVu Math TeX Gyre" panose="02000503000000000000" charset="0"/>
                            <a:sym typeface="+mn-ea"/>
                          </a:rPr>
                        </m:ctrlPr>
                      </m:sSubPr>
                      <m:e>
                        <m:r>
                          <a:rPr lang="de-DE" altLang="de-DE" b="0" i="1" smtClean="0">
                            <a:latin typeface="Cambria Math" panose="02040503050406030204" pitchFamily="18" charset="0"/>
                            <a:cs typeface="DejaVu Math TeX Gyre" panose="02000503000000000000" charset="0"/>
                            <a:sym typeface="+mn-ea"/>
                          </a:rPr>
                          <m:t>𝑤</m:t>
                        </m:r>
                      </m:e>
                      <m:sub>
                        <m:r>
                          <a:rPr lang="de-DE" altLang="de-DE" b="0" i="1" smtClean="0">
                            <a:latin typeface="Cambria Math" panose="02040503050406030204" pitchFamily="18" charset="0"/>
                            <a:cs typeface="DejaVu Math TeX Gyre" panose="02000503000000000000" charset="0"/>
                            <a:sym typeface="+mn-ea"/>
                          </a:rPr>
                          <m:t>0</m:t>
                        </m:r>
                      </m:sub>
                    </m:sSub>
                  </m:oMath>
                </a14:m>
                <a:r>
                  <a:rPr lang="de-DE" altLang="en-US" dirty="0">
                    <a:latin typeface="+mn-ea"/>
                    <a:cs typeface="+mn-ea"/>
                  </a:rPr>
                  <a:t> </a:t>
                </a:r>
                <a:r>
                  <a:rPr lang="de-DE" altLang="en-US" dirty="0">
                    <a:latin typeface="+mn-ea"/>
                    <a:cs typeface="+mn-ea"/>
                    <a:sym typeface="+mn-ea"/>
                  </a:rPr>
                  <a:t>→</a:t>
                </a:r>
                <a14:m>
                  <m:oMath xmlns:m="http://schemas.openxmlformats.org/officeDocument/2006/math">
                    <m:r>
                      <a:rPr lang="en-US" altLang="de-DE" i="1">
                        <a:latin typeface="Cambria Math" panose="02040503050406030204" pitchFamily="18" charset="0"/>
                        <a:cs typeface="DejaVu Math TeX Gyre" panose="02000503000000000000" charset="0"/>
                        <a:sym typeface="+mn-ea"/>
                      </a:rPr>
                      <m:t> </m:t>
                    </m:r>
                  </m:oMath>
                </a14:m>
                <a:r>
                  <a:rPr lang="de-DE" altLang="en-US" dirty="0">
                    <a:latin typeface="+mn-ea"/>
                    <a:cs typeface="+mn-ea"/>
                  </a:rPr>
                  <a:t>Inertia weight</a:t>
                </a:r>
              </a:p>
              <a:p>
                <a:pPr algn="l">
                  <a:lnSpc>
                    <a:spcPct val="12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de-DE" altLang="de-DE" b="0" i="1" smtClean="0">
                            <a:latin typeface="Cambria Math" panose="02040503050406030204" pitchFamily="18" charset="0"/>
                            <a:cs typeface="DejaVu Math TeX Gyre" panose="02000503000000000000" charset="0"/>
                            <a:sym typeface="+mn-ea"/>
                          </a:rPr>
                        </m:ctrlPr>
                      </m:sSubPr>
                      <m:e>
                        <m:r>
                          <a:rPr lang="de-DE" altLang="de-DE" b="0" i="1" smtClean="0">
                            <a:latin typeface="Cambria Math" panose="02040503050406030204" pitchFamily="18" charset="0"/>
                            <a:cs typeface="DejaVu Math TeX Gyre" panose="02000503000000000000" charset="0"/>
                            <a:sym typeface="+mn-ea"/>
                          </a:rPr>
                          <m:t>𝑐</m:t>
                        </m:r>
                      </m:e>
                      <m:sub>
                        <m:r>
                          <a:rPr lang="de-DE" altLang="de-DE" b="0" i="1" smtClean="0">
                            <a:latin typeface="Cambria Math" panose="02040503050406030204" pitchFamily="18" charset="0"/>
                            <a:cs typeface="DejaVu Math TeX Gyre" panose="02000503000000000000" charset="0"/>
                            <a:sym typeface="+mn-ea"/>
                          </a:rPr>
                          <m:t>1</m:t>
                        </m:r>
                      </m:sub>
                    </m:sSub>
                  </m:oMath>
                </a14:m>
                <a:r>
                  <a:rPr lang="de-DE" altLang="en-US" dirty="0">
                    <a:latin typeface="+mn-ea"/>
                    <a:cs typeface="+mn-ea"/>
                  </a:rPr>
                  <a:t> </a:t>
                </a:r>
                <a:r>
                  <a:rPr lang="de-DE" altLang="en-US" dirty="0">
                    <a:latin typeface="+mn-ea"/>
                    <a:cs typeface="+mn-ea"/>
                    <a:sym typeface="+mn-ea"/>
                  </a:rPr>
                  <a:t>→</a:t>
                </a:r>
                <a14:m>
                  <m:oMath xmlns:m="http://schemas.openxmlformats.org/officeDocument/2006/math">
                    <m:r>
                      <a:rPr lang="en-US" altLang="de-DE" i="1">
                        <a:latin typeface="Cambria Math" panose="02040503050406030204" pitchFamily="18" charset="0"/>
                        <a:cs typeface="DejaVu Math TeX Gyre" panose="02000503000000000000" charset="0"/>
                        <a:sym typeface="+mn-ea"/>
                      </a:rPr>
                      <m:t> </m:t>
                    </m:r>
                  </m:oMath>
                </a14:m>
                <a:r>
                  <a:rPr lang="de-DE" altLang="en-US" dirty="0">
                    <a:latin typeface="+mn-ea"/>
                    <a:cs typeface="+mn-ea"/>
                  </a:rPr>
                  <a:t>Cognitive parameter</a:t>
                </a:r>
              </a:p>
              <a:p>
                <a:pPr algn="l">
                  <a:lnSpc>
                    <a:spcPct val="12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de-DE" altLang="de-DE" b="0" i="1" smtClean="0">
                            <a:latin typeface="Cambria Math" panose="02040503050406030204" pitchFamily="18" charset="0"/>
                            <a:ea typeface="MS Mincho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de-DE" altLang="de-DE" b="0" i="1" smtClean="0">
                            <a:latin typeface="Cambria Math" panose="02040503050406030204" pitchFamily="18" charset="0"/>
                            <a:ea typeface="MS Mincho" charset="0"/>
                            <a:cs typeface="DejaVu Math TeX Gyre" panose="02000503000000000000" charset="0"/>
                          </a:rPr>
                          <m:t>𝑐</m:t>
                        </m:r>
                      </m:e>
                      <m:sub>
                        <m:r>
                          <a:rPr lang="de-DE" altLang="de-DE" b="0" i="1" smtClean="0">
                            <a:latin typeface="Cambria Math" panose="02040503050406030204" pitchFamily="18" charset="0"/>
                            <a:ea typeface="MS Mincho" charset="0"/>
                            <a:cs typeface="DejaVu Math TeX Gyre" panose="02000503000000000000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de-DE" altLang="en-US" i="1" dirty="0">
                    <a:latin typeface="+mn-ea"/>
                    <a:cs typeface="+mn-ea"/>
                  </a:rPr>
                  <a:t> </a:t>
                </a:r>
                <a:r>
                  <a:rPr lang="de-DE" altLang="en-US" dirty="0">
                    <a:latin typeface="+mn-ea"/>
                    <a:cs typeface="+mn-ea"/>
                    <a:sym typeface="+mn-ea"/>
                  </a:rPr>
                  <a:t>→</a:t>
                </a:r>
                <a14:m>
                  <m:oMath xmlns:m="http://schemas.openxmlformats.org/officeDocument/2006/math">
                    <m:r>
                      <a:rPr lang="en-US" altLang="de-DE" i="1">
                        <a:latin typeface="Cambria Math" panose="02040503050406030204" pitchFamily="18" charset="0"/>
                        <a:cs typeface="DejaVu Math TeX Gyre" panose="02000503000000000000" charset="0"/>
                        <a:sym typeface="+mn-ea"/>
                      </a:rPr>
                      <m:t> </m:t>
                    </m:r>
                  </m:oMath>
                </a14:m>
                <a:r>
                  <a:rPr lang="de-DE" altLang="en-US" dirty="0">
                    <a:latin typeface="+mn-ea"/>
                    <a:cs typeface="+mn-ea"/>
                  </a:rPr>
                  <a:t>Social parameter</a:t>
                </a:r>
              </a:p>
              <a:p>
                <a:pPr algn="l">
                  <a:lnSpc>
                    <a:spcPct val="12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de-DE" altLang="de-DE" b="0" i="1" smtClean="0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de-DE" altLang="de-DE" b="0" i="1" smtClean="0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𝑟</m:t>
                        </m:r>
                      </m:e>
                      <m:sub>
                        <m:r>
                          <a:rPr lang="de-DE" altLang="de-DE" b="0" i="1" smtClean="0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de-DE" altLang="en-US" i="1" dirty="0">
                    <a:latin typeface="+mn-ea"/>
                    <a:cs typeface="+mn-ea"/>
                  </a:rPr>
                  <a:t> </a:t>
                </a:r>
                <a:r>
                  <a:rPr lang="de-DE" altLang="en-US" dirty="0">
                    <a:latin typeface="+mn-ea"/>
                    <a:cs typeface="+mn-ea"/>
                    <a:sym typeface="+mn-ea"/>
                  </a:rPr>
                  <a:t>→</a:t>
                </a:r>
                <a14:m>
                  <m:oMath xmlns:m="http://schemas.openxmlformats.org/officeDocument/2006/math">
                    <m:r>
                      <a:rPr lang="en-US" altLang="de-DE" i="1">
                        <a:latin typeface="Cambria Math" panose="02040503050406030204" pitchFamily="18" charset="0"/>
                        <a:cs typeface="DejaVu Math TeX Gyre" panose="02000503000000000000" charset="0"/>
                        <a:sym typeface="+mn-ea"/>
                      </a:rPr>
                      <m:t> </m:t>
                    </m:r>
                  </m:oMath>
                </a14:m>
                <a:r>
                  <a:rPr lang="de-DE" altLang="en-US" dirty="0">
                    <a:latin typeface="+mn-ea"/>
                    <a:cs typeface="+mn-ea"/>
                  </a:rPr>
                  <a:t>Random value</a:t>
                </a:r>
              </a:p>
              <a:p>
                <a:pPr algn="l">
                  <a:lnSpc>
                    <a:spcPct val="12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de-DE" altLang="de-DE" b="0" i="1" smtClean="0">
                            <a:latin typeface="Cambria Math" panose="02040503050406030204" pitchFamily="18" charset="0"/>
                            <a:ea typeface="MS Mincho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de-DE" altLang="de-DE" b="0" i="1" smtClean="0">
                            <a:latin typeface="Cambria Math" panose="02040503050406030204" pitchFamily="18" charset="0"/>
                            <a:ea typeface="MS Mincho" charset="0"/>
                            <a:cs typeface="DejaVu Math TeX Gyre" panose="02000503000000000000" charset="0"/>
                          </a:rPr>
                          <m:t>𝑟</m:t>
                        </m:r>
                      </m:e>
                      <m:sub>
                        <m:r>
                          <a:rPr lang="de-DE" altLang="de-DE" b="0" i="1" smtClean="0">
                            <a:latin typeface="Cambria Math" panose="02040503050406030204" pitchFamily="18" charset="0"/>
                            <a:ea typeface="MS Mincho" charset="0"/>
                            <a:cs typeface="DejaVu Math TeX Gyre" panose="02000503000000000000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de-DE" altLang="en-US" dirty="0">
                    <a:latin typeface="+mn-ea"/>
                    <a:cs typeface="+mn-ea"/>
                  </a:rPr>
                  <a:t> </a:t>
                </a:r>
                <a:r>
                  <a:rPr lang="de-DE" altLang="en-US" dirty="0">
                    <a:latin typeface="+mn-ea"/>
                    <a:cs typeface="+mn-ea"/>
                    <a:sym typeface="+mn-ea"/>
                  </a:rPr>
                  <a:t>→</a:t>
                </a:r>
                <a14:m>
                  <m:oMath xmlns:m="http://schemas.openxmlformats.org/officeDocument/2006/math">
                    <m:r>
                      <a:rPr lang="en-US" altLang="de-DE" i="1">
                        <a:latin typeface="Cambria Math" panose="02040503050406030204" pitchFamily="18" charset="0"/>
                        <a:cs typeface="DejaVu Math TeX Gyre" panose="02000503000000000000" charset="0"/>
                        <a:sym typeface="+mn-ea"/>
                      </a:rPr>
                      <m:t> </m:t>
                    </m:r>
                  </m:oMath>
                </a14:m>
                <a:r>
                  <a:rPr lang="de-DE" altLang="en-US" dirty="0">
                    <a:latin typeface="+mn-ea"/>
                    <a:cs typeface="+mn-ea"/>
                  </a:rPr>
                  <a:t>Random Value</a:t>
                </a:r>
              </a:p>
            </p:txBody>
          </p:sp>
        </mc:Choice>
        <mc:Fallback>
          <p:sp>
            <p:nvSpPr>
              <p:cNvPr id="42" name="Text Box 17">
                <a:extLst>
                  <a:ext uri="{FF2B5EF4-FFF2-40B4-BE49-F238E27FC236}">
                    <a16:creationId xmlns:a16="http://schemas.microsoft.com/office/drawing/2014/main" id="{3F95FBD6-4EFB-5B4A-A690-AAC3C763A9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77468" y="2391856"/>
                <a:ext cx="2911151" cy="3385799"/>
              </a:xfrm>
              <a:prstGeom prst="rect">
                <a:avLst/>
              </a:prstGeom>
              <a:blipFill>
                <a:blip r:embed="rId5"/>
                <a:stretch>
                  <a:fillRect b="-19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TextBox 42">
            <a:extLst>
              <a:ext uri="{FF2B5EF4-FFF2-40B4-BE49-F238E27FC236}">
                <a16:creationId xmlns:a16="http://schemas.microsoft.com/office/drawing/2014/main" id="{83252832-D3FE-326E-729E-F76C0CAF56C0}"/>
              </a:ext>
            </a:extLst>
          </p:cNvPr>
          <p:cNvSpPr txBox="1"/>
          <p:nvPr/>
        </p:nvSpPr>
        <p:spPr>
          <a:xfrm>
            <a:off x="1940767" y="1133848"/>
            <a:ext cx="24057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b="1" dirty="0"/>
              <a:t>Update Law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927049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42" grpId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19AAA-2574-B721-E710-4E5546A00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F007DB-B863-16E6-00FE-3CD0DC068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1">
              <a:rPr lang="en-US" altLang="en-US" smtClean="0"/>
              <a:t>12/1/2025</a:t>
            </a:fld>
            <a:endParaRPr lang="zh-CN" alt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B1CEF4E-6935-1B5E-5D85-0F9FDBB6C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19</a:t>
            </a:fld>
            <a:endParaRPr lang="zh-CN" alt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68051F15-93F2-9090-B74F-23CB06880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altLang="zh-CN">
                <a:sym typeface="+mn-ea"/>
              </a:rPr>
              <a:t>Real-Time Time-Optimal Spacecraft Attitude Control</a:t>
            </a:r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58415E-6D12-B6E8-98C6-51124DCE6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de-DE" altLang="en-US" sz="4400" dirty="0">
                <a:latin typeface="Arial Black" panose="020B0A04020102020204" charset="0"/>
                <a:cs typeface="Arial Black" panose="020B0A04020102020204" charset="0"/>
              </a:rPr>
              <a:t>PSO Development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8BFF36E8-726F-3A6C-9343-B40A4ABB11D1}"/>
              </a:ext>
            </a:extLst>
          </p:cNvPr>
          <p:cNvGrpSpPr/>
          <p:nvPr/>
        </p:nvGrpSpPr>
        <p:grpSpPr>
          <a:xfrm>
            <a:off x="1180725" y="2222895"/>
            <a:ext cx="9830550" cy="2412211"/>
            <a:chOff x="1180725" y="1751609"/>
            <a:chExt cx="9830550" cy="2412211"/>
          </a:xfrm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0F1E5743-8F13-F9C0-81F9-E146F53645B5}"/>
                </a:ext>
              </a:extLst>
            </p:cNvPr>
            <p:cNvSpPr/>
            <p:nvPr/>
          </p:nvSpPr>
          <p:spPr>
            <a:xfrm>
              <a:off x="1180725" y="2440197"/>
              <a:ext cx="4620376" cy="1723623"/>
            </a:xfrm>
            <a:prstGeom prst="round2SameRect">
              <a:avLst>
                <a:gd name="adj1" fmla="val 0"/>
                <a:gd name="adj2" fmla="val 16578"/>
              </a:avLst>
            </a:prstGeom>
            <a:solidFill>
              <a:schemeClr val="bg1">
                <a:lumMod val="50000"/>
              </a:schemeClr>
            </a:solidFill>
            <a:ln w="476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rtlCol="0" anchor="ctr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de-DE" altLang="en-US" dirty="0">
                  <a:cs typeface="+mn-lt"/>
                </a:rPr>
                <a:t>Full control trajectory parameterisation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de-DE" altLang="en-US" dirty="0">
                  <a:cs typeface="+mn-lt"/>
                </a:rPr>
                <a:t>50 x 3 + 1 = 151 dimensions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de-DE" altLang="en-US" dirty="0">
                  <a:cs typeface="+mn-lt"/>
                </a:rPr>
                <a:t>No assumption about solution structure</a:t>
              </a:r>
            </a:p>
          </p:txBody>
        </p:sp>
        <p:sp>
          <p:nvSpPr>
            <p:cNvPr id="28" name="Rounded Rectangle 3">
              <a:extLst>
                <a:ext uri="{FF2B5EF4-FFF2-40B4-BE49-F238E27FC236}">
                  <a16:creationId xmlns:a16="http://schemas.microsoft.com/office/drawing/2014/main" id="{C3EE476D-DD94-1D83-91A0-B83A32FC889D}"/>
                </a:ext>
              </a:extLst>
            </p:cNvPr>
            <p:cNvSpPr/>
            <p:nvPr/>
          </p:nvSpPr>
          <p:spPr>
            <a:xfrm>
              <a:off x="1180725" y="1751609"/>
              <a:ext cx="4620376" cy="883242"/>
            </a:xfrm>
            <a:prstGeom prst="roundRect">
              <a:avLst/>
            </a:prstGeom>
            <a:solidFill>
              <a:srgbClr val="002060"/>
            </a:solidFill>
            <a:ln w="476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altLang="en-US" b="1" dirty="0">
                  <a:cs typeface="+mn-lt"/>
                </a:rPr>
                <a:t>FULL</a:t>
              </a:r>
              <a:br>
                <a:rPr lang="de-DE" altLang="en-US" b="1" dirty="0">
                  <a:cs typeface="+mn-lt"/>
                </a:rPr>
              </a:br>
              <a:r>
                <a:rPr lang="de-DE" altLang="en-US" b="1" dirty="0">
                  <a:cs typeface="+mn-lt"/>
                </a:rPr>
                <a:t>PSO</a:t>
              </a:r>
            </a:p>
          </p:txBody>
        </p:sp>
        <p:sp>
          <p:nvSpPr>
            <p:cNvPr id="30" name="Rounded Rectangle 3">
              <a:extLst>
                <a:ext uri="{FF2B5EF4-FFF2-40B4-BE49-F238E27FC236}">
                  <a16:creationId xmlns:a16="http://schemas.microsoft.com/office/drawing/2014/main" id="{B09AC5D5-E0EF-1B5F-5ABF-2EFA11F4DC64}"/>
                </a:ext>
              </a:extLst>
            </p:cNvPr>
            <p:cNvSpPr/>
            <p:nvPr/>
          </p:nvSpPr>
          <p:spPr>
            <a:xfrm>
              <a:off x="6390899" y="2440197"/>
              <a:ext cx="4620376" cy="1723623"/>
            </a:xfrm>
            <a:prstGeom prst="round2SameRect">
              <a:avLst>
                <a:gd name="adj1" fmla="val 0"/>
                <a:gd name="adj2" fmla="val 16578"/>
              </a:avLst>
            </a:prstGeom>
            <a:solidFill>
              <a:schemeClr val="bg1">
                <a:lumMod val="50000"/>
              </a:schemeClr>
            </a:solidFill>
            <a:ln w="476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rtlCol="0" anchor="ctr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de-DE" altLang="en-US" dirty="0">
                  <a:cs typeface="+mn-lt"/>
                </a:rPr>
                <a:t>Control switch times parameterisation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de-DE" altLang="en-US" dirty="0">
                  <a:cs typeface="+mn-lt"/>
                </a:rPr>
                <a:t>3 + 6 + 1 = 10 dimensions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de-DE" altLang="en-US" dirty="0">
                  <a:cs typeface="+mn-lt"/>
                </a:rPr>
                <a:t>Assumes bang-bang control</a:t>
              </a:r>
            </a:p>
          </p:txBody>
        </p:sp>
        <p:sp>
          <p:nvSpPr>
            <p:cNvPr id="33" name="Rounded Rectangle 3">
              <a:extLst>
                <a:ext uri="{FF2B5EF4-FFF2-40B4-BE49-F238E27FC236}">
                  <a16:creationId xmlns:a16="http://schemas.microsoft.com/office/drawing/2014/main" id="{CA72F32B-CCAC-B19A-056B-9321E0985628}"/>
                </a:ext>
              </a:extLst>
            </p:cNvPr>
            <p:cNvSpPr/>
            <p:nvPr/>
          </p:nvSpPr>
          <p:spPr>
            <a:xfrm>
              <a:off x="6390899" y="1751609"/>
              <a:ext cx="4620376" cy="883242"/>
            </a:xfrm>
            <a:prstGeom prst="roundRect">
              <a:avLst/>
            </a:prstGeom>
            <a:solidFill>
              <a:srgbClr val="002060"/>
            </a:solidFill>
            <a:ln w="476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altLang="en-US" b="1" dirty="0">
                  <a:cs typeface="+mn-lt"/>
                </a:rPr>
                <a:t>STO</a:t>
              </a:r>
              <a:br>
                <a:rPr lang="de-DE" altLang="en-US" b="1" dirty="0">
                  <a:cs typeface="+mn-lt"/>
                </a:rPr>
              </a:br>
              <a:r>
                <a:rPr lang="de-DE" altLang="en-US" b="1" dirty="0">
                  <a:cs typeface="+mn-lt"/>
                </a:rPr>
                <a:t>PSO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305545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668824-DFF7-1B6C-8B88-299FD502A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750B24-D23B-187F-4909-A72458ACA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1">
              <a:rPr lang="en-US" altLang="en-US" smtClean="0"/>
              <a:t>12/1/2025</a:t>
            </a:fld>
            <a:endParaRPr lang="zh-CN" alt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6DDE97A-ADC0-7972-3FBE-FBE1D9E26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20</a:t>
            </a:fld>
            <a:endParaRPr lang="zh-CN" alt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0200A7C7-339F-DB97-F60F-CBA01222F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altLang="zh-CN">
                <a:sym typeface="+mn-ea"/>
              </a:rPr>
              <a:t>Real-Time Time-Optimal Spacecraft Attitude Control</a:t>
            </a:r>
            <a:endParaRPr lang="zh-CN" alt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2452616-8F0A-FA3E-893A-1598B7E779F3}"/>
              </a:ext>
            </a:extLst>
          </p:cNvPr>
          <p:cNvGrpSpPr/>
          <p:nvPr/>
        </p:nvGrpSpPr>
        <p:grpSpPr>
          <a:xfrm>
            <a:off x="6369942" y="2392019"/>
            <a:ext cx="1783458" cy="1783458"/>
            <a:chOff x="3123406" y="1909339"/>
            <a:chExt cx="1881187" cy="1881187"/>
          </a:xfrm>
          <a:solidFill>
            <a:srgbClr val="002060"/>
          </a:solidFill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6436CDE7-20DD-1014-2A68-876B2BC97C03}"/>
                </a:ext>
              </a:extLst>
            </p:cNvPr>
            <p:cNvSpPr/>
            <p:nvPr/>
          </p:nvSpPr>
          <p:spPr>
            <a:xfrm>
              <a:off x="3123406" y="1909339"/>
              <a:ext cx="1881187" cy="1881187"/>
            </a:xfrm>
            <a:prstGeom prst="ellipse">
              <a:avLst/>
            </a:prstGeom>
            <a:grpFill/>
            <a:ln w="38100"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Oval 4">
              <a:extLst>
                <a:ext uri="{FF2B5EF4-FFF2-40B4-BE49-F238E27FC236}">
                  <a16:creationId xmlns:a16="http://schemas.microsoft.com/office/drawing/2014/main" id="{E741A039-F781-0837-14D2-07E0D16A5941}"/>
                </a:ext>
              </a:extLst>
            </p:cNvPr>
            <p:cNvSpPr txBox="1"/>
            <p:nvPr/>
          </p:nvSpPr>
          <p:spPr>
            <a:xfrm>
              <a:off x="3264677" y="2164132"/>
              <a:ext cx="1598646" cy="1371602"/>
            </a:xfrm>
            <a:prstGeom prst="rect">
              <a:avLst/>
            </a:prstGeom>
            <a:noFill/>
            <a:ln w="38100"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de-DE" b="1" dirty="0"/>
                <a:t>MC</a:t>
              </a:r>
              <a:br>
                <a:rPr lang="de-DE" b="1" dirty="0"/>
              </a:br>
              <a:r>
                <a:rPr lang="de-DE" b="1" dirty="0"/>
                <a:t>Boundary</a:t>
              </a:r>
              <a:br>
                <a:rPr lang="de-DE" b="1" dirty="0"/>
              </a:br>
              <a:r>
                <a:rPr lang="de-DE" b="1" kern="1200" dirty="0"/>
                <a:t>Conditions</a:t>
              </a:r>
              <a:endParaRPr lang="en-US" b="1" kern="120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B0BBFED-6F1B-38F5-9A3D-3991E102F158}"/>
              </a:ext>
            </a:extLst>
          </p:cNvPr>
          <p:cNvGrpSpPr/>
          <p:nvPr/>
        </p:nvGrpSpPr>
        <p:grpSpPr>
          <a:xfrm>
            <a:off x="9449155" y="2809306"/>
            <a:ext cx="1606340" cy="948884"/>
            <a:chOff x="3168188" y="165329"/>
            <a:chExt cx="1791623" cy="948884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A926752D-7BB6-AC33-FC85-83238ACE838D}"/>
                </a:ext>
              </a:extLst>
            </p:cNvPr>
            <p:cNvSpPr/>
            <p:nvPr/>
          </p:nvSpPr>
          <p:spPr>
            <a:xfrm>
              <a:off x="3168188" y="165329"/>
              <a:ext cx="1791623" cy="948884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 w="38100">
              <a:solidFill>
                <a:schemeClr val="bg1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Rectangle: Rounded Corners 4">
              <a:extLst>
                <a:ext uri="{FF2B5EF4-FFF2-40B4-BE49-F238E27FC236}">
                  <a16:creationId xmlns:a16="http://schemas.microsoft.com/office/drawing/2014/main" id="{0DE61D4F-37C6-68D2-7E4D-96F17D5ACB31}"/>
                </a:ext>
              </a:extLst>
            </p:cNvPr>
            <p:cNvSpPr txBox="1"/>
            <p:nvPr/>
          </p:nvSpPr>
          <p:spPr>
            <a:xfrm>
              <a:off x="3214509" y="211650"/>
              <a:ext cx="1698981" cy="85624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8580" tIns="68580" rIns="68580" bIns="68580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de-DE" sz="1800" kern="1200" dirty="0"/>
                <a:t>Compute</a:t>
              </a:r>
              <a:br>
                <a:rPr lang="de-DE" sz="1800" kern="1200" dirty="0"/>
              </a:br>
              <a:r>
                <a:rPr lang="de-DE" sz="1800" kern="1200" dirty="0"/>
                <a:t>Performance</a:t>
              </a:r>
              <a:br>
                <a:rPr lang="de-DE" sz="1800" kern="1200" dirty="0"/>
              </a:br>
              <a:r>
                <a:rPr lang="de-DE" sz="1800" kern="1200" dirty="0"/>
                <a:t>Metrics</a:t>
              </a:r>
              <a:endParaRPr lang="en-US" sz="1800" kern="1200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85089ED-F9DB-711B-DC77-52C42D85F03A}"/>
              </a:ext>
            </a:extLst>
          </p:cNvPr>
          <p:cNvGrpSpPr/>
          <p:nvPr/>
        </p:nvGrpSpPr>
        <p:grpSpPr>
          <a:xfrm>
            <a:off x="3584682" y="2809306"/>
            <a:ext cx="1606340" cy="948884"/>
            <a:chOff x="3168188" y="165329"/>
            <a:chExt cx="1791623" cy="948884"/>
          </a:xfrm>
        </p:grpSpPr>
        <p:sp>
          <p:nvSpPr>
            <p:cNvPr id="23" name="Parallelogram 22">
              <a:extLst>
                <a:ext uri="{FF2B5EF4-FFF2-40B4-BE49-F238E27FC236}">
                  <a16:creationId xmlns:a16="http://schemas.microsoft.com/office/drawing/2014/main" id="{826F70D7-78C9-4C2F-B7C4-086B7A344E8F}"/>
                </a:ext>
              </a:extLst>
            </p:cNvPr>
            <p:cNvSpPr/>
            <p:nvPr/>
          </p:nvSpPr>
          <p:spPr>
            <a:xfrm>
              <a:off x="3168188" y="165329"/>
              <a:ext cx="1791623" cy="948884"/>
            </a:xfrm>
            <a:prstGeom prst="parallelogram">
              <a:avLst/>
            </a:prstGeom>
            <a:solidFill>
              <a:schemeClr val="bg1">
                <a:lumMod val="50000"/>
              </a:schemeClr>
            </a:solidFill>
            <a:ln w="38100">
              <a:solidFill>
                <a:schemeClr val="bg1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Rectangle: Rounded Corners 4">
              <a:extLst>
                <a:ext uri="{FF2B5EF4-FFF2-40B4-BE49-F238E27FC236}">
                  <a16:creationId xmlns:a16="http://schemas.microsoft.com/office/drawing/2014/main" id="{68F42E57-2393-121A-36A8-D999EC0A461E}"/>
                </a:ext>
              </a:extLst>
            </p:cNvPr>
            <p:cNvSpPr txBox="1"/>
            <p:nvPr/>
          </p:nvSpPr>
          <p:spPr>
            <a:xfrm>
              <a:off x="3214509" y="211650"/>
              <a:ext cx="1698981" cy="85624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8580" tIns="68580" rIns="68580" bIns="68580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de-DE" sz="1800" kern="1200" dirty="0"/>
                <a:t>PSO</a:t>
              </a:r>
              <a:br>
                <a:rPr lang="de-DE" sz="1800" kern="1200" dirty="0"/>
              </a:br>
              <a:r>
                <a:rPr lang="de-DE" sz="1800" kern="1200" dirty="0"/>
                <a:t>Parameters</a:t>
              </a:r>
              <a:endParaRPr lang="en-US" sz="1800" kern="1200" dirty="0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5F9BBF5-A451-152C-1DD2-B82ED2E6C14D}"/>
              </a:ext>
            </a:extLst>
          </p:cNvPr>
          <p:cNvGrpSpPr/>
          <p:nvPr/>
        </p:nvGrpSpPr>
        <p:grpSpPr>
          <a:xfrm>
            <a:off x="1170837" y="2809306"/>
            <a:ext cx="965945" cy="948884"/>
            <a:chOff x="3168188" y="165329"/>
            <a:chExt cx="1791623" cy="948884"/>
          </a:xfrm>
        </p:grpSpPr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B03E7FDA-093B-1FE0-7A99-801D6AFA5AD8}"/>
                </a:ext>
              </a:extLst>
            </p:cNvPr>
            <p:cNvSpPr/>
            <p:nvPr/>
          </p:nvSpPr>
          <p:spPr>
            <a:xfrm>
              <a:off x="3168188" y="165329"/>
              <a:ext cx="1791623" cy="948884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50000"/>
              </a:schemeClr>
            </a:solidFill>
            <a:ln w="38100">
              <a:solidFill>
                <a:schemeClr val="bg1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: Rounded Corners 4">
              <a:extLst>
                <a:ext uri="{FF2B5EF4-FFF2-40B4-BE49-F238E27FC236}">
                  <a16:creationId xmlns:a16="http://schemas.microsoft.com/office/drawing/2014/main" id="{5A7B7F23-8B0C-1EFF-8F9F-920A6A61A0E0}"/>
                </a:ext>
              </a:extLst>
            </p:cNvPr>
            <p:cNvSpPr txBox="1"/>
            <p:nvPr/>
          </p:nvSpPr>
          <p:spPr>
            <a:xfrm>
              <a:off x="3214509" y="211650"/>
              <a:ext cx="1698981" cy="85624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8580" tIns="68580" rIns="68580" bIns="68580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de-DE" sz="1800" kern="1200" dirty="0"/>
                <a:t>LHS</a:t>
              </a:r>
              <a:endParaRPr lang="en-US" sz="1800" kern="1200" dirty="0"/>
            </a:p>
          </p:txBody>
        </p:sp>
      </p:grp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0C6CDAA3-4CE0-BCD2-D499-593BE2CC3CD3}"/>
              </a:ext>
            </a:extLst>
          </p:cNvPr>
          <p:cNvCxnSpPr>
            <a:stCxn id="26" idx="3"/>
            <a:endCxn id="24" idx="1"/>
          </p:cNvCxnSpPr>
          <p:nvPr/>
        </p:nvCxnSpPr>
        <p:spPr>
          <a:xfrm>
            <a:off x="2136782" y="3283748"/>
            <a:ext cx="1489431" cy="0"/>
          </a:xfrm>
          <a:prstGeom prst="straightConnector1">
            <a:avLst/>
          </a:prstGeom>
          <a:ln w="762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7BB89E4C-484D-8738-FBBA-3888140056CD}"/>
              </a:ext>
            </a:extLst>
          </p:cNvPr>
          <p:cNvCxnSpPr>
            <a:cxnSpLocks/>
            <a:stCxn id="20" idx="2"/>
            <a:endCxn id="26" idx="2"/>
          </p:cNvCxnSpPr>
          <p:nvPr/>
        </p:nvCxnSpPr>
        <p:spPr>
          <a:xfrm rot="5400000">
            <a:off x="5953068" y="-541067"/>
            <a:ext cx="12700" cy="8598515"/>
          </a:xfrm>
          <a:prstGeom prst="bentConnector3">
            <a:avLst>
              <a:gd name="adj1" fmla="val 7383669"/>
            </a:avLst>
          </a:prstGeom>
          <a:ln w="762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3D3EAD4B-B9F8-9211-23F2-94C53F46A334}"/>
              </a:ext>
            </a:extLst>
          </p:cNvPr>
          <p:cNvSpPr txBox="1"/>
          <p:nvPr/>
        </p:nvSpPr>
        <p:spPr>
          <a:xfrm>
            <a:off x="5488077" y="4707075"/>
            <a:ext cx="20283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X 1000</a:t>
            </a:r>
            <a:endParaRPr lang="en-US" dirty="0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8EFED421-239F-136E-6C4A-E6B885F888A3}"/>
              </a:ext>
            </a:extLst>
          </p:cNvPr>
          <p:cNvCxnSpPr>
            <a:cxnSpLocks/>
            <a:stCxn id="24" idx="3"/>
            <a:endCxn id="14" idx="2"/>
          </p:cNvCxnSpPr>
          <p:nvPr/>
        </p:nvCxnSpPr>
        <p:spPr>
          <a:xfrm>
            <a:off x="5149492" y="3283748"/>
            <a:ext cx="1220450" cy="0"/>
          </a:xfrm>
          <a:prstGeom prst="straightConnector1">
            <a:avLst/>
          </a:prstGeom>
          <a:ln w="762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357D59D0-193D-7DAE-664E-6A5DAC9047CA}"/>
              </a:ext>
            </a:extLst>
          </p:cNvPr>
          <p:cNvCxnSpPr>
            <a:cxnSpLocks/>
            <a:stCxn id="14" idx="6"/>
            <a:endCxn id="20" idx="1"/>
          </p:cNvCxnSpPr>
          <p:nvPr/>
        </p:nvCxnSpPr>
        <p:spPr>
          <a:xfrm>
            <a:off x="8153400" y="3283748"/>
            <a:ext cx="1295755" cy="0"/>
          </a:xfrm>
          <a:prstGeom prst="straightConnector1">
            <a:avLst/>
          </a:prstGeom>
          <a:ln w="762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itle 1">
            <a:extLst>
              <a:ext uri="{FF2B5EF4-FFF2-40B4-BE49-F238E27FC236}">
                <a16:creationId xmlns:a16="http://schemas.microsoft.com/office/drawing/2014/main" id="{10099EDB-2E43-81FA-5879-17AD5625A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de-DE" altLang="en-US" sz="4400" dirty="0">
                <a:latin typeface="Arial Black" panose="020B0A04020102020204" charset="0"/>
                <a:cs typeface="Arial Black" panose="020B0A04020102020204" charset="0"/>
              </a:rPr>
              <a:t>PSO Reliability</a:t>
            </a:r>
          </a:p>
        </p:txBody>
      </p:sp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64" name="Slide Zoom 63">
                <a:extLst>
                  <a:ext uri="{FF2B5EF4-FFF2-40B4-BE49-F238E27FC236}">
                    <a16:creationId xmlns:a16="http://schemas.microsoft.com/office/drawing/2014/main" id="{951EC70E-00D4-FA97-5C89-CEA80706A58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878010867"/>
                  </p:ext>
                </p:extLst>
              </p:nvPr>
            </p:nvGraphicFramePr>
            <p:xfrm>
              <a:off x="6333133" y="2278964"/>
              <a:ext cx="1905844" cy="1905844"/>
            </p:xfrm>
            <a:graphic>
              <a:graphicData uri="http://schemas.microsoft.com/office/powerpoint/2016/slidezoom">
                <pslz:sldZm>
                  <pslz:sldZmObj sldId="298" cId="1609513394">
                    <pslz:zmPr id="{DBD448BD-66C6-49B8-94E1-C91A71CEE3F7}" imageType="cover" transitionDur="1000">
                      <p166:blipFill xmlns:p166="http://schemas.microsoft.com/office/powerpoint/2016/6/main">
                        <a:blip r:embed="rId2" cstate="print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905844" cy="1905844"/>
                        </a:xfrm>
                        <a:prstGeom prst="rect">
                          <a:avLst/>
                        </a:prstGeom>
                        <a:ln w="3175">
                          <a:noFill/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64" name="Slide Zoom 63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951EC70E-00D4-FA97-5C89-CEA80706A58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333133" y="2278964"/>
                <a:ext cx="1905844" cy="1905844"/>
              </a:xfrm>
              <a:prstGeom prst="rect">
                <a:avLst/>
              </a:prstGeom>
              <a:ln w="3175">
                <a:noFill/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855238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4DB113-AF98-EF37-E1A1-650605405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5FB37B-E30C-C62C-6ABA-178BB078C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1">
              <a:rPr lang="en-US" altLang="en-US" smtClean="0"/>
              <a:t>12/1/2025</a:t>
            </a:fld>
            <a:endParaRPr lang="zh-CN" alt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97BFD18-FC6D-B057-403E-A04C0619E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21</a:t>
            </a:fld>
            <a:endParaRPr lang="zh-CN" alt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1B89FE23-6DA8-6960-7313-B28B1DC5B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altLang="zh-CN">
                <a:sym typeface="+mn-ea"/>
              </a:rPr>
              <a:t>Real-Time Time-Optimal Spacecraft Attitude Control</a:t>
            </a:r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7F5289-2F88-7107-DE3D-C72D99DAF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de-DE" altLang="en-US" sz="4400" dirty="0">
                <a:latin typeface="Arial Black" panose="020B0A04020102020204" charset="0"/>
                <a:cs typeface="Arial Black" panose="020B0A04020102020204" charset="0"/>
              </a:rPr>
              <a:t>PSO Reliability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CD86B83-2C44-09FB-3686-840E54AE4F88}"/>
              </a:ext>
            </a:extLst>
          </p:cNvPr>
          <p:cNvGrpSpPr/>
          <p:nvPr/>
        </p:nvGrpSpPr>
        <p:grpSpPr>
          <a:xfrm>
            <a:off x="6395134" y="1325563"/>
            <a:ext cx="1783458" cy="1783458"/>
            <a:chOff x="3123406" y="1909339"/>
            <a:chExt cx="1881187" cy="1881187"/>
          </a:xfrm>
          <a:solidFill>
            <a:srgbClr val="002060"/>
          </a:solidFill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B9C43288-86C4-7C6C-5A40-B4218423B895}"/>
                </a:ext>
              </a:extLst>
            </p:cNvPr>
            <p:cNvSpPr/>
            <p:nvPr/>
          </p:nvSpPr>
          <p:spPr>
            <a:xfrm>
              <a:off x="3123406" y="1909339"/>
              <a:ext cx="1881187" cy="1881187"/>
            </a:xfrm>
            <a:prstGeom prst="ellipse">
              <a:avLst/>
            </a:prstGeom>
            <a:grpFill/>
            <a:ln w="38100"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Oval 4">
              <a:extLst>
                <a:ext uri="{FF2B5EF4-FFF2-40B4-BE49-F238E27FC236}">
                  <a16:creationId xmlns:a16="http://schemas.microsoft.com/office/drawing/2014/main" id="{F0F4FBA1-EF0D-36F0-3F95-661EA59A95FC}"/>
                </a:ext>
              </a:extLst>
            </p:cNvPr>
            <p:cNvSpPr txBox="1"/>
            <p:nvPr/>
          </p:nvSpPr>
          <p:spPr>
            <a:xfrm>
              <a:off x="3264677" y="2164132"/>
              <a:ext cx="1598646" cy="1371602"/>
            </a:xfrm>
            <a:prstGeom prst="rect">
              <a:avLst/>
            </a:prstGeom>
            <a:noFill/>
            <a:ln w="38100"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de-DE" b="1" dirty="0"/>
                <a:t>OPTIMISED</a:t>
              </a:r>
              <a:endParaRPr lang="de-DE" b="1" kern="1200" dirty="0"/>
            </a:p>
            <a:p>
              <a:pPr marL="0" lvl="0" indent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b="1" kern="1200" dirty="0"/>
                <a:t>ALGORITHM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458BB51F-08EE-BBE2-76E1-CED792E93D23}"/>
              </a:ext>
            </a:extLst>
          </p:cNvPr>
          <p:cNvGrpSpPr/>
          <p:nvPr/>
        </p:nvGrpSpPr>
        <p:grpSpPr>
          <a:xfrm>
            <a:off x="6395134" y="3246181"/>
            <a:ext cx="1783458" cy="1783458"/>
            <a:chOff x="3123406" y="1909339"/>
            <a:chExt cx="1881187" cy="1881187"/>
          </a:xfrm>
          <a:solidFill>
            <a:srgbClr val="002060"/>
          </a:solidFill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8DF26732-A1D6-1ABB-2E52-8727987D9BBF}"/>
                </a:ext>
              </a:extLst>
            </p:cNvPr>
            <p:cNvSpPr/>
            <p:nvPr/>
          </p:nvSpPr>
          <p:spPr>
            <a:xfrm>
              <a:off x="3123406" y="1909339"/>
              <a:ext cx="1881187" cy="1881187"/>
            </a:xfrm>
            <a:prstGeom prst="ellipse">
              <a:avLst/>
            </a:prstGeom>
            <a:grpFill/>
            <a:ln w="38100"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7" name="Oval 4">
              <a:extLst>
                <a:ext uri="{FF2B5EF4-FFF2-40B4-BE49-F238E27FC236}">
                  <a16:creationId xmlns:a16="http://schemas.microsoft.com/office/drawing/2014/main" id="{0A41A8DB-65BF-13B7-C3E3-DB42B709B0EE}"/>
                </a:ext>
              </a:extLst>
            </p:cNvPr>
            <p:cNvSpPr txBox="1"/>
            <p:nvPr/>
          </p:nvSpPr>
          <p:spPr>
            <a:xfrm>
              <a:off x="3264677" y="2164132"/>
              <a:ext cx="1598646" cy="1371602"/>
            </a:xfrm>
            <a:prstGeom prst="rect">
              <a:avLst/>
            </a:prstGeom>
            <a:noFill/>
            <a:ln w="38100"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de-DE" b="1" kern="1200" dirty="0"/>
                <a:t>OPTIMIZED</a:t>
              </a:r>
            </a:p>
            <a:p>
              <a:pPr marL="0" lvl="0" indent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b="1" kern="1200" dirty="0"/>
                <a:t>ALGORITHM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721E0241-6E68-D98E-642C-43C58E41B002}"/>
              </a:ext>
            </a:extLst>
          </p:cNvPr>
          <p:cNvGrpSpPr/>
          <p:nvPr/>
        </p:nvGrpSpPr>
        <p:grpSpPr>
          <a:xfrm>
            <a:off x="8488017" y="3663468"/>
            <a:ext cx="1307776" cy="948884"/>
            <a:chOff x="3168188" y="165329"/>
            <a:chExt cx="1791623" cy="948884"/>
          </a:xfrm>
        </p:grpSpPr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A5E24D8B-0C41-AB28-8F42-12336432B108}"/>
                </a:ext>
              </a:extLst>
            </p:cNvPr>
            <p:cNvSpPr/>
            <p:nvPr/>
          </p:nvSpPr>
          <p:spPr>
            <a:xfrm>
              <a:off x="3168188" y="165329"/>
              <a:ext cx="1791623" cy="948884"/>
            </a:xfrm>
            <a:prstGeom prst="parallelogram">
              <a:avLst/>
            </a:prstGeom>
            <a:solidFill>
              <a:schemeClr val="bg1">
                <a:lumMod val="50000"/>
              </a:schemeClr>
            </a:solidFill>
            <a:ln w="38100">
              <a:solidFill>
                <a:schemeClr val="bg1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Rectangle: Rounded Corners 4">
              <a:extLst>
                <a:ext uri="{FF2B5EF4-FFF2-40B4-BE49-F238E27FC236}">
                  <a16:creationId xmlns:a16="http://schemas.microsoft.com/office/drawing/2014/main" id="{E3CA5A7C-A70C-A7BC-1D3C-4D638EE9652A}"/>
                </a:ext>
              </a:extLst>
            </p:cNvPr>
            <p:cNvSpPr txBox="1"/>
            <p:nvPr/>
          </p:nvSpPr>
          <p:spPr>
            <a:xfrm>
              <a:off x="3214509" y="211650"/>
              <a:ext cx="1698981" cy="85624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8580" tIns="68580" rIns="68580" bIns="68580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de-DE" sz="1800" kern="1200" dirty="0"/>
                <a:t>Results</a:t>
              </a:r>
              <a:endParaRPr lang="en-US" sz="1800" kern="1200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9BFB3AD-A703-5615-AAEB-6C45E0DC8D5D}"/>
              </a:ext>
            </a:extLst>
          </p:cNvPr>
          <p:cNvGrpSpPr/>
          <p:nvPr/>
        </p:nvGrpSpPr>
        <p:grpSpPr>
          <a:xfrm>
            <a:off x="8488017" y="1742850"/>
            <a:ext cx="1307776" cy="948884"/>
            <a:chOff x="3168188" y="165329"/>
            <a:chExt cx="1791623" cy="948884"/>
          </a:xfrm>
        </p:grpSpPr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AFB108AC-2F90-276E-F9E5-283B84E9DA8F}"/>
                </a:ext>
              </a:extLst>
            </p:cNvPr>
            <p:cNvSpPr/>
            <p:nvPr/>
          </p:nvSpPr>
          <p:spPr>
            <a:xfrm>
              <a:off x="3168188" y="165329"/>
              <a:ext cx="1791623" cy="948884"/>
            </a:xfrm>
            <a:prstGeom prst="parallelogram">
              <a:avLst/>
            </a:prstGeom>
            <a:solidFill>
              <a:schemeClr val="bg1">
                <a:lumMod val="50000"/>
              </a:schemeClr>
            </a:solidFill>
            <a:ln w="38100">
              <a:solidFill>
                <a:schemeClr val="bg1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Rectangle: Rounded Corners 4">
              <a:extLst>
                <a:ext uri="{FF2B5EF4-FFF2-40B4-BE49-F238E27FC236}">
                  <a16:creationId xmlns:a16="http://schemas.microsoft.com/office/drawing/2014/main" id="{358FCCD9-0BAB-AF9C-8F9D-5D64D1FEABE7}"/>
                </a:ext>
              </a:extLst>
            </p:cNvPr>
            <p:cNvSpPr txBox="1"/>
            <p:nvPr/>
          </p:nvSpPr>
          <p:spPr>
            <a:xfrm>
              <a:off x="3214509" y="211650"/>
              <a:ext cx="1698981" cy="85624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8580" tIns="68580" rIns="68580" bIns="68580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de-DE" sz="1800" kern="1200" dirty="0"/>
                <a:t>Results</a:t>
              </a:r>
              <a:endParaRPr lang="en-US" sz="1800" kern="120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1ACA8EC-EFAE-FB55-8606-ECE4A8A4739C}"/>
              </a:ext>
            </a:extLst>
          </p:cNvPr>
          <p:cNvGrpSpPr/>
          <p:nvPr/>
        </p:nvGrpSpPr>
        <p:grpSpPr>
          <a:xfrm>
            <a:off x="10394187" y="2645413"/>
            <a:ext cx="1606340" cy="948884"/>
            <a:chOff x="3168188" y="165329"/>
            <a:chExt cx="1791623" cy="948884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FBC7B394-5FB9-3365-1BE9-4F04D528C148}"/>
                </a:ext>
              </a:extLst>
            </p:cNvPr>
            <p:cNvSpPr/>
            <p:nvPr/>
          </p:nvSpPr>
          <p:spPr>
            <a:xfrm>
              <a:off x="3168188" y="165329"/>
              <a:ext cx="1791623" cy="948884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 w="38100">
              <a:solidFill>
                <a:schemeClr val="bg1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Rectangle: Rounded Corners 4">
              <a:extLst>
                <a:ext uri="{FF2B5EF4-FFF2-40B4-BE49-F238E27FC236}">
                  <a16:creationId xmlns:a16="http://schemas.microsoft.com/office/drawing/2014/main" id="{6A0F019B-3A88-C79D-9363-4EC2358ECCBF}"/>
                </a:ext>
              </a:extLst>
            </p:cNvPr>
            <p:cNvSpPr txBox="1"/>
            <p:nvPr/>
          </p:nvSpPr>
          <p:spPr>
            <a:xfrm>
              <a:off x="3214509" y="211650"/>
              <a:ext cx="1698981" cy="85624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8580" tIns="68580" rIns="68580" bIns="68580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de-DE" sz="1800" kern="1200" dirty="0"/>
                <a:t>Compute</a:t>
              </a:r>
              <a:br>
                <a:rPr lang="de-DE" sz="1800" kern="1200" dirty="0"/>
              </a:br>
              <a:r>
                <a:rPr lang="de-DE" sz="1800" kern="1200" dirty="0"/>
                <a:t>Performance</a:t>
              </a:r>
              <a:br>
                <a:rPr lang="de-DE" sz="1800" kern="1200" dirty="0"/>
              </a:br>
              <a:r>
                <a:rPr lang="de-DE" sz="1800" kern="1200" dirty="0"/>
                <a:t>Metrics</a:t>
              </a:r>
              <a:endParaRPr lang="en-US" sz="1800" kern="1200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8610EE6-5935-5A07-E20D-91D209F3526D}"/>
              </a:ext>
            </a:extLst>
          </p:cNvPr>
          <p:cNvGrpSpPr/>
          <p:nvPr/>
        </p:nvGrpSpPr>
        <p:grpSpPr>
          <a:xfrm>
            <a:off x="1406630" y="2706669"/>
            <a:ext cx="1606340" cy="948884"/>
            <a:chOff x="3168188" y="165329"/>
            <a:chExt cx="1791623" cy="948884"/>
          </a:xfrm>
        </p:grpSpPr>
        <p:sp>
          <p:nvSpPr>
            <p:cNvPr id="23" name="Parallelogram 22">
              <a:extLst>
                <a:ext uri="{FF2B5EF4-FFF2-40B4-BE49-F238E27FC236}">
                  <a16:creationId xmlns:a16="http://schemas.microsoft.com/office/drawing/2014/main" id="{36B0F7B4-9415-9BA5-3009-36BF4CEA2EF3}"/>
                </a:ext>
              </a:extLst>
            </p:cNvPr>
            <p:cNvSpPr/>
            <p:nvPr/>
          </p:nvSpPr>
          <p:spPr>
            <a:xfrm>
              <a:off x="3168188" y="165329"/>
              <a:ext cx="1791623" cy="948884"/>
            </a:xfrm>
            <a:prstGeom prst="parallelogram">
              <a:avLst/>
            </a:prstGeom>
            <a:solidFill>
              <a:schemeClr val="bg1">
                <a:lumMod val="50000"/>
              </a:schemeClr>
            </a:solidFill>
            <a:ln w="38100">
              <a:solidFill>
                <a:schemeClr val="bg1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Rectangle: Rounded Corners 4">
              <a:extLst>
                <a:ext uri="{FF2B5EF4-FFF2-40B4-BE49-F238E27FC236}">
                  <a16:creationId xmlns:a16="http://schemas.microsoft.com/office/drawing/2014/main" id="{4307077E-BA3B-D1EA-BC82-03E68DF2F9B7}"/>
                </a:ext>
              </a:extLst>
            </p:cNvPr>
            <p:cNvSpPr txBox="1"/>
            <p:nvPr/>
          </p:nvSpPr>
          <p:spPr>
            <a:xfrm>
              <a:off x="3214509" y="211650"/>
              <a:ext cx="1698981" cy="85624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8580" tIns="68580" rIns="68580" bIns="68580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de-DE" sz="1800" kern="1200" dirty="0"/>
                <a:t>Boundary Conditions</a:t>
              </a:r>
              <a:endParaRPr lang="en-US" sz="1800" kern="1200" dirty="0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0DE062B-8177-D839-6ED0-883A32C06B6F}"/>
              </a:ext>
            </a:extLst>
          </p:cNvPr>
          <p:cNvGrpSpPr/>
          <p:nvPr/>
        </p:nvGrpSpPr>
        <p:grpSpPr>
          <a:xfrm>
            <a:off x="97542" y="2718854"/>
            <a:ext cx="965945" cy="948884"/>
            <a:chOff x="3168188" y="165329"/>
            <a:chExt cx="1791623" cy="948884"/>
          </a:xfrm>
        </p:grpSpPr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E8B72F27-64F7-6FB9-B0B3-FF1DBC432225}"/>
                </a:ext>
              </a:extLst>
            </p:cNvPr>
            <p:cNvSpPr/>
            <p:nvPr/>
          </p:nvSpPr>
          <p:spPr>
            <a:xfrm>
              <a:off x="3168188" y="165329"/>
              <a:ext cx="1791623" cy="948884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50000"/>
              </a:schemeClr>
            </a:solidFill>
            <a:ln w="38100">
              <a:solidFill>
                <a:schemeClr val="bg1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: Rounded Corners 4">
              <a:extLst>
                <a:ext uri="{FF2B5EF4-FFF2-40B4-BE49-F238E27FC236}">
                  <a16:creationId xmlns:a16="http://schemas.microsoft.com/office/drawing/2014/main" id="{6A6F6FBC-3318-2FF3-1BDC-200331627A42}"/>
                </a:ext>
              </a:extLst>
            </p:cNvPr>
            <p:cNvSpPr txBox="1"/>
            <p:nvPr/>
          </p:nvSpPr>
          <p:spPr>
            <a:xfrm>
              <a:off x="3214509" y="211650"/>
              <a:ext cx="1698981" cy="85624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8580" tIns="68580" rIns="68580" bIns="68580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de-DE" sz="1800" kern="1200" dirty="0"/>
                <a:t>LHS</a:t>
              </a:r>
              <a:endParaRPr lang="en-US" sz="1800" kern="1200" dirty="0"/>
            </a:p>
          </p:txBody>
        </p:sp>
      </p:grp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9DFAAFA1-3F1C-866E-3159-357B8763B69A}"/>
              </a:ext>
            </a:extLst>
          </p:cNvPr>
          <p:cNvCxnSpPr>
            <a:cxnSpLocks/>
            <a:stCxn id="24" idx="3"/>
            <a:endCxn id="36" idx="1"/>
          </p:cNvCxnSpPr>
          <p:nvPr/>
        </p:nvCxnSpPr>
        <p:spPr>
          <a:xfrm>
            <a:off x="2971440" y="3181111"/>
            <a:ext cx="638070" cy="956799"/>
          </a:xfrm>
          <a:prstGeom prst="bentConnector3">
            <a:avLst/>
          </a:prstGeom>
          <a:ln w="762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FBD63724-E629-7AD4-EAF7-C60313D95A13}"/>
              </a:ext>
            </a:extLst>
          </p:cNvPr>
          <p:cNvCxnSpPr>
            <a:cxnSpLocks/>
            <a:stCxn id="24" idx="3"/>
            <a:endCxn id="30" idx="1"/>
          </p:cNvCxnSpPr>
          <p:nvPr/>
        </p:nvCxnSpPr>
        <p:spPr>
          <a:xfrm flipV="1">
            <a:off x="2971440" y="2217292"/>
            <a:ext cx="627429" cy="963819"/>
          </a:xfrm>
          <a:prstGeom prst="bentConnector3">
            <a:avLst>
              <a:gd name="adj1" fmla="val 50000"/>
            </a:avLst>
          </a:prstGeom>
          <a:ln w="762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2ADB9E4D-81F3-C732-5162-5A6940C7A359}"/>
              </a:ext>
            </a:extLst>
          </p:cNvPr>
          <p:cNvCxnSpPr>
            <a:stCxn id="26" idx="3"/>
            <a:endCxn id="24" idx="1"/>
          </p:cNvCxnSpPr>
          <p:nvPr/>
        </p:nvCxnSpPr>
        <p:spPr>
          <a:xfrm flipV="1">
            <a:off x="1063487" y="3181111"/>
            <a:ext cx="384674" cy="12185"/>
          </a:xfrm>
          <a:prstGeom prst="straightConnector1">
            <a:avLst/>
          </a:prstGeom>
          <a:ln w="762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86F2A8C-ECE6-CAB5-6E80-F07EED701785}"/>
              </a:ext>
            </a:extLst>
          </p:cNvPr>
          <p:cNvCxnSpPr>
            <a:cxnSpLocks/>
            <a:stCxn id="53" idx="3"/>
            <a:endCxn id="6" idx="2"/>
          </p:cNvCxnSpPr>
          <p:nvPr/>
        </p:nvCxnSpPr>
        <p:spPr>
          <a:xfrm>
            <a:off x="6053610" y="4137910"/>
            <a:ext cx="341524" cy="0"/>
          </a:xfrm>
          <a:prstGeom prst="straightConnector1">
            <a:avLst/>
          </a:prstGeom>
          <a:ln w="762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71DD2EE8-6FF0-21EA-854E-8825DAF70FE9}"/>
              </a:ext>
            </a:extLst>
          </p:cNvPr>
          <p:cNvCxnSpPr>
            <a:cxnSpLocks/>
            <a:stCxn id="6" idx="6"/>
            <a:endCxn id="10" idx="1"/>
          </p:cNvCxnSpPr>
          <p:nvPr/>
        </p:nvCxnSpPr>
        <p:spPr>
          <a:xfrm>
            <a:off x="8178592" y="4137910"/>
            <a:ext cx="343237" cy="0"/>
          </a:xfrm>
          <a:prstGeom prst="straightConnector1">
            <a:avLst/>
          </a:prstGeom>
          <a:ln w="762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FC56E1C2-96DC-2AE2-A507-A1BAFDA3DD11}"/>
              </a:ext>
            </a:extLst>
          </p:cNvPr>
          <p:cNvCxnSpPr>
            <a:cxnSpLocks/>
            <a:stCxn id="18" idx="3"/>
            <a:endCxn id="20" idx="1"/>
          </p:cNvCxnSpPr>
          <p:nvPr/>
        </p:nvCxnSpPr>
        <p:spPr>
          <a:xfrm>
            <a:off x="9761982" y="2217292"/>
            <a:ext cx="632205" cy="902563"/>
          </a:xfrm>
          <a:prstGeom prst="bentConnector3">
            <a:avLst>
              <a:gd name="adj1" fmla="val 50000"/>
            </a:avLst>
          </a:prstGeom>
          <a:ln w="762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4E157E83-49FF-9F90-369C-3DBA4E7284DD}"/>
              </a:ext>
            </a:extLst>
          </p:cNvPr>
          <p:cNvCxnSpPr>
            <a:cxnSpLocks/>
            <a:stCxn id="10" idx="3"/>
            <a:endCxn id="20" idx="1"/>
          </p:cNvCxnSpPr>
          <p:nvPr/>
        </p:nvCxnSpPr>
        <p:spPr>
          <a:xfrm flipV="1">
            <a:off x="9761982" y="3119855"/>
            <a:ext cx="632205" cy="1018055"/>
          </a:xfrm>
          <a:prstGeom prst="bentConnector3">
            <a:avLst>
              <a:gd name="adj1" fmla="val 50000"/>
            </a:avLst>
          </a:prstGeom>
          <a:ln w="762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B9344EC1-3E2E-69AA-651A-64B2E6963EFA}"/>
              </a:ext>
            </a:extLst>
          </p:cNvPr>
          <p:cNvCxnSpPr>
            <a:cxnSpLocks/>
            <a:stCxn id="20" idx="2"/>
            <a:endCxn id="26" idx="2"/>
          </p:cNvCxnSpPr>
          <p:nvPr/>
        </p:nvCxnSpPr>
        <p:spPr>
          <a:xfrm rot="5400000">
            <a:off x="5852216" y="-1677404"/>
            <a:ext cx="73441" cy="10616842"/>
          </a:xfrm>
          <a:prstGeom prst="bentConnector3">
            <a:avLst>
              <a:gd name="adj1" fmla="val 2522494"/>
            </a:avLst>
          </a:prstGeom>
          <a:ln w="762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56AF6EE9-C13B-6D55-A1F3-041A5632FE5F}"/>
              </a:ext>
            </a:extLst>
          </p:cNvPr>
          <p:cNvSpPr txBox="1"/>
          <p:nvPr/>
        </p:nvSpPr>
        <p:spPr>
          <a:xfrm>
            <a:off x="5492157" y="5505980"/>
            <a:ext cx="20283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X 1000</a:t>
            </a:r>
            <a:endParaRPr lang="en-US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8D5728E-2BA0-0625-C064-2EBE3D6093E8}"/>
              </a:ext>
            </a:extLst>
          </p:cNvPr>
          <p:cNvGrpSpPr/>
          <p:nvPr/>
        </p:nvGrpSpPr>
        <p:grpSpPr>
          <a:xfrm>
            <a:off x="3573258" y="1742850"/>
            <a:ext cx="990600" cy="948884"/>
            <a:chOff x="3168188" y="165329"/>
            <a:chExt cx="1791623" cy="948884"/>
          </a:xfrm>
        </p:grpSpPr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7B0B2BC8-5027-D366-F4F2-FE9EE32A132C}"/>
                </a:ext>
              </a:extLst>
            </p:cNvPr>
            <p:cNvSpPr/>
            <p:nvPr/>
          </p:nvSpPr>
          <p:spPr>
            <a:xfrm>
              <a:off x="3168188" y="165329"/>
              <a:ext cx="1791623" cy="948884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50000"/>
              </a:schemeClr>
            </a:solidFill>
            <a:ln w="38100">
              <a:solidFill>
                <a:schemeClr val="bg1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b="1"/>
            </a:p>
          </p:txBody>
        </p:sp>
        <p:sp>
          <p:nvSpPr>
            <p:cNvPr id="30" name="Rectangle: Rounded Corners 4">
              <a:extLst>
                <a:ext uri="{FF2B5EF4-FFF2-40B4-BE49-F238E27FC236}">
                  <a16:creationId xmlns:a16="http://schemas.microsoft.com/office/drawing/2014/main" id="{14108429-F823-55E8-A432-2B23CC8E3E05}"/>
                </a:ext>
              </a:extLst>
            </p:cNvPr>
            <p:cNvSpPr txBox="1"/>
            <p:nvPr/>
          </p:nvSpPr>
          <p:spPr>
            <a:xfrm>
              <a:off x="3214509" y="211650"/>
              <a:ext cx="1698981" cy="85624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8580" tIns="68580" rIns="68580" bIns="68580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de-DE" b="1" dirty="0"/>
                <a:t>FULL</a:t>
              </a:r>
              <a:br>
                <a:rPr lang="de-DE" b="1" dirty="0"/>
              </a:br>
              <a:r>
                <a:rPr lang="de-DE" b="1" dirty="0"/>
                <a:t>PSO</a:t>
              </a:r>
              <a:endParaRPr lang="en-US" sz="1800" b="1" kern="1200" dirty="0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988021F0-9C69-1163-221E-0F4664F14C31}"/>
              </a:ext>
            </a:extLst>
          </p:cNvPr>
          <p:cNvGrpSpPr/>
          <p:nvPr/>
        </p:nvGrpSpPr>
        <p:grpSpPr>
          <a:xfrm>
            <a:off x="3584479" y="3663468"/>
            <a:ext cx="968158" cy="948884"/>
            <a:chOff x="3168188" y="165329"/>
            <a:chExt cx="1791623" cy="948884"/>
          </a:xfrm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2DB413FF-7760-3F79-DC93-F85B41073A76}"/>
                </a:ext>
              </a:extLst>
            </p:cNvPr>
            <p:cNvSpPr/>
            <p:nvPr/>
          </p:nvSpPr>
          <p:spPr>
            <a:xfrm>
              <a:off x="3168188" y="165329"/>
              <a:ext cx="1791623" cy="948884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50000"/>
              </a:schemeClr>
            </a:solidFill>
            <a:ln w="38100">
              <a:solidFill>
                <a:schemeClr val="bg1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b="1"/>
            </a:p>
          </p:txBody>
        </p:sp>
        <p:sp>
          <p:nvSpPr>
            <p:cNvPr id="36" name="Rectangle: Rounded Corners 4">
              <a:extLst>
                <a:ext uri="{FF2B5EF4-FFF2-40B4-BE49-F238E27FC236}">
                  <a16:creationId xmlns:a16="http://schemas.microsoft.com/office/drawing/2014/main" id="{7C162ABE-6B80-88E4-095B-5C4B104C2216}"/>
                </a:ext>
              </a:extLst>
            </p:cNvPr>
            <p:cNvSpPr txBox="1"/>
            <p:nvPr/>
          </p:nvSpPr>
          <p:spPr>
            <a:xfrm>
              <a:off x="3214509" y="211650"/>
              <a:ext cx="1698981" cy="85624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8580" tIns="68580" rIns="68580" bIns="68580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de-DE" b="1" dirty="0"/>
                <a:t>STO</a:t>
              </a:r>
              <a:br>
                <a:rPr lang="de-DE" b="1" dirty="0"/>
              </a:br>
              <a:r>
                <a:rPr lang="de-DE" b="1" dirty="0"/>
                <a:t>PSO</a:t>
              </a:r>
              <a:endParaRPr lang="en-US" sz="1800" b="1" kern="1200" dirty="0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C361BDAA-127E-FE79-D8E0-07B66D2F2460}"/>
              </a:ext>
            </a:extLst>
          </p:cNvPr>
          <p:cNvGrpSpPr/>
          <p:nvPr/>
        </p:nvGrpSpPr>
        <p:grpSpPr>
          <a:xfrm>
            <a:off x="4817619" y="1742850"/>
            <a:ext cx="1268794" cy="948884"/>
            <a:chOff x="3168188" y="165329"/>
            <a:chExt cx="1791623" cy="948884"/>
          </a:xfrm>
        </p:grpSpPr>
        <p:sp>
          <p:nvSpPr>
            <p:cNvPr id="48" name="Parallelogram 47">
              <a:extLst>
                <a:ext uri="{FF2B5EF4-FFF2-40B4-BE49-F238E27FC236}">
                  <a16:creationId xmlns:a16="http://schemas.microsoft.com/office/drawing/2014/main" id="{AB21B707-9984-1847-CB19-BDA39AB76B46}"/>
                </a:ext>
              </a:extLst>
            </p:cNvPr>
            <p:cNvSpPr/>
            <p:nvPr/>
          </p:nvSpPr>
          <p:spPr>
            <a:xfrm>
              <a:off x="3168188" y="165329"/>
              <a:ext cx="1791623" cy="948884"/>
            </a:xfrm>
            <a:prstGeom prst="parallelogram">
              <a:avLst/>
            </a:prstGeom>
            <a:solidFill>
              <a:schemeClr val="bg1">
                <a:lumMod val="50000"/>
              </a:schemeClr>
            </a:solidFill>
            <a:ln w="38100">
              <a:solidFill>
                <a:schemeClr val="bg1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9" name="Rectangle: Rounded Corners 4">
              <a:extLst>
                <a:ext uri="{FF2B5EF4-FFF2-40B4-BE49-F238E27FC236}">
                  <a16:creationId xmlns:a16="http://schemas.microsoft.com/office/drawing/2014/main" id="{B0FD25AF-F313-4CBF-81F9-169FA1A065A8}"/>
                </a:ext>
              </a:extLst>
            </p:cNvPr>
            <p:cNvSpPr txBox="1"/>
            <p:nvPr/>
          </p:nvSpPr>
          <p:spPr>
            <a:xfrm>
              <a:off x="3214509" y="211650"/>
              <a:ext cx="1698981" cy="85624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8580" tIns="68580" rIns="68580" bIns="68580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de-DE" sz="1800" kern="1200" dirty="0"/>
                <a:t>Initial</a:t>
              </a:r>
              <a:br>
                <a:rPr lang="de-DE" sz="1800" kern="1200" dirty="0"/>
              </a:br>
              <a:r>
                <a:rPr lang="de-DE" sz="1800" kern="1200" dirty="0"/>
                <a:t>Guess</a:t>
              </a:r>
              <a:endParaRPr lang="en-US" sz="1800" kern="1200" dirty="0"/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3B0935E1-5DC1-49B3-4FEA-4E830B26CA4E}"/>
              </a:ext>
            </a:extLst>
          </p:cNvPr>
          <p:cNvGrpSpPr/>
          <p:nvPr/>
        </p:nvGrpSpPr>
        <p:grpSpPr>
          <a:xfrm>
            <a:off x="4817619" y="3663468"/>
            <a:ext cx="1268794" cy="948884"/>
            <a:chOff x="3168188" y="165329"/>
            <a:chExt cx="1791623" cy="948884"/>
          </a:xfrm>
        </p:grpSpPr>
        <p:sp>
          <p:nvSpPr>
            <p:cNvPr id="52" name="Parallelogram 51">
              <a:extLst>
                <a:ext uri="{FF2B5EF4-FFF2-40B4-BE49-F238E27FC236}">
                  <a16:creationId xmlns:a16="http://schemas.microsoft.com/office/drawing/2014/main" id="{78F6FEB8-7816-BED4-F151-ABC5DAAE00C0}"/>
                </a:ext>
              </a:extLst>
            </p:cNvPr>
            <p:cNvSpPr/>
            <p:nvPr/>
          </p:nvSpPr>
          <p:spPr>
            <a:xfrm>
              <a:off x="3168188" y="165329"/>
              <a:ext cx="1791623" cy="948884"/>
            </a:xfrm>
            <a:prstGeom prst="parallelogram">
              <a:avLst/>
            </a:prstGeom>
            <a:solidFill>
              <a:schemeClr val="bg1">
                <a:lumMod val="50000"/>
              </a:schemeClr>
            </a:solidFill>
            <a:ln w="38100">
              <a:solidFill>
                <a:schemeClr val="bg1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3" name="Rectangle: Rounded Corners 4">
              <a:extLst>
                <a:ext uri="{FF2B5EF4-FFF2-40B4-BE49-F238E27FC236}">
                  <a16:creationId xmlns:a16="http://schemas.microsoft.com/office/drawing/2014/main" id="{D15029F8-FED7-81A7-0A41-D94E0CAB11BD}"/>
                </a:ext>
              </a:extLst>
            </p:cNvPr>
            <p:cNvSpPr txBox="1"/>
            <p:nvPr/>
          </p:nvSpPr>
          <p:spPr>
            <a:xfrm>
              <a:off x="3214509" y="211650"/>
              <a:ext cx="1698981" cy="85624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8580" tIns="68580" rIns="68580" bIns="68580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de-DE" sz="1800" kern="1200" dirty="0"/>
                <a:t>Initial</a:t>
              </a:r>
              <a:br>
                <a:rPr lang="de-DE" sz="1800" kern="1200" dirty="0"/>
              </a:br>
              <a:r>
                <a:rPr lang="de-DE" sz="1800" kern="1200" dirty="0"/>
                <a:t>Guess</a:t>
              </a:r>
              <a:endParaRPr lang="en-US" sz="1800" kern="1200" dirty="0"/>
            </a:p>
          </p:txBody>
        </p:sp>
      </p:grp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7ECF3C05-DCC0-B617-A5FA-82DB9BF63283}"/>
              </a:ext>
            </a:extLst>
          </p:cNvPr>
          <p:cNvCxnSpPr>
            <a:cxnSpLocks/>
            <a:stCxn id="49" idx="3"/>
            <a:endCxn id="14" idx="2"/>
          </p:cNvCxnSpPr>
          <p:nvPr/>
        </p:nvCxnSpPr>
        <p:spPr>
          <a:xfrm>
            <a:off x="6053610" y="2217292"/>
            <a:ext cx="341524" cy="0"/>
          </a:xfrm>
          <a:prstGeom prst="straightConnector1">
            <a:avLst/>
          </a:prstGeom>
          <a:ln w="762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17A2829E-0DE0-ED76-60B1-20F273BBF1D3}"/>
              </a:ext>
            </a:extLst>
          </p:cNvPr>
          <p:cNvCxnSpPr>
            <a:cxnSpLocks/>
            <a:stCxn id="14" idx="6"/>
          </p:cNvCxnSpPr>
          <p:nvPr/>
        </p:nvCxnSpPr>
        <p:spPr>
          <a:xfrm>
            <a:off x="8178592" y="2217292"/>
            <a:ext cx="373054" cy="0"/>
          </a:xfrm>
          <a:prstGeom prst="straightConnector1">
            <a:avLst/>
          </a:prstGeom>
          <a:ln w="762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3A64C953-CF70-F285-A42F-75D77BE9F178}"/>
              </a:ext>
            </a:extLst>
          </p:cNvPr>
          <p:cNvCxnSpPr>
            <a:cxnSpLocks/>
            <a:stCxn id="29" idx="3"/>
            <a:endCxn id="49" idx="1"/>
          </p:cNvCxnSpPr>
          <p:nvPr/>
        </p:nvCxnSpPr>
        <p:spPr>
          <a:xfrm>
            <a:off x="4563858" y="2217292"/>
            <a:ext cx="286565" cy="0"/>
          </a:xfrm>
          <a:prstGeom prst="straightConnector1">
            <a:avLst/>
          </a:prstGeom>
          <a:ln w="762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319CEEC5-7AF4-8C10-177A-23F9816BFD89}"/>
              </a:ext>
            </a:extLst>
          </p:cNvPr>
          <p:cNvCxnSpPr>
            <a:cxnSpLocks/>
            <a:stCxn id="36" idx="3"/>
            <a:endCxn id="53" idx="1"/>
          </p:cNvCxnSpPr>
          <p:nvPr/>
        </p:nvCxnSpPr>
        <p:spPr>
          <a:xfrm>
            <a:off x="4527606" y="4137910"/>
            <a:ext cx="322817" cy="0"/>
          </a:xfrm>
          <a:prstGeom prst="straightConnector1">
            <a:avLst/>
          </a:prstGeom>
          <a:ln w="762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95133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05E357-4F90-567D-A521-7EC4228A6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2C265635-60BF-DCC4-CB01-903196671C36}"/>
              </a:ext>
            </a:extLst>
          </p:cNvPr>
          <p:cNvSpPr/>
          <p:nvPr/>
        </p:nvSpPr>
        <p:spPr>
          <a:xfrm>
            <a:off x="391886" y="1184988"/>
            <a:ext cx="11318032" cy="5217219"/>
          </a:xfrm>
          <a:prstGeom prst="rect">
            <a:avLst/>
          </a:prstGeom>
          <a:solidFill>
            <a:srgbClr val="FEFEFE"/>
          </a:solidFill>
          <a:ln>
            <a:solidFill>
              <a:srgbClr val="FEFE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3C9B0E-C1A1-D5A2-9251-C99A52595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1">
              <a:rPr lang="en-US" altLang="en-US" smtClean="0"/>
              <a:t>12/1/2025</a:t>
            </a:fld>
            <a:endParaRPr lang="zh-CN" alt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905ABC7-9AE7-45DD-2B58-845C5A247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22</a:t>
            </a:fld>
            <a:endParaRPr lang="zh-CN" alt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3A3D917E-F4E1-0BFD-B28C-6AA1627BA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altLang="zh-CN">
                <a:sym typeface="+mn-ea"/>
              </a:rPr>
              <a:t>Real-Time Time-Optimal Spacecraft Attitude Control</a:t>
            </a:r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9BE9EC-7125-A72D-47A9-892F13C3F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de-DE" altLang="en-US" sz="4400" dirty="0">
                <a:latin typeface="Arial Black" panose="020B0A04020102020204" charset="0"/>
                <a:cs typeface="Arial Black" panose="020B0A04020102020204" charset="0"/>
              </a:rPr>
              <a:t>PSO Development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384E7B-C4B1-2FEF-5641-2F00A0AA05B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6" t="-1" r="51598" b="53742"/>
          <a:stretch>
            <a:fillRect/>
          </a:stretch>
        </p:blipFill>
        <p:spPr>
          <a:xfrm>
            <a:off x="4401177" y="1256653"/>
            <a:ext cx="3389647" cy="2520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7B31249-7712-BB67-FFFA-A3F40A38BB8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1704" t="55324"/>
          <a:stretch>
            <a:fillRect/>
          </a:stretch>
        </p:blipFill>
        <p:spPr>
          <a:xfrm>
            <a:off x="4341140" y="3838166"/>
            <a:ext cx="3509721" cy="2520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701D7B9-7C81-C0BA-A2D1-04BB3FF6F57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2393" t="55324"/>
          <a:stretch>
            <a:fillRect/>
          </a:stretch>
        </p:blipFill>
        <p:spPr>
          <a:xfrm>
            <a:off x="8120481" y="3838166"/>
            <a:ext cx="3430649" cy="2520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D09ECC6-E4A9-BD80-87D3-EB63B8FD629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1739" b="53741"/>
          <a:stretch>
            <a:fillRect/>
          </a:stretch>
        </p:blipFill>
        <p:spPr>
          <a:xfrm>
            <a:off x="8156415" y="1256653"/>
            <a:ext cx="3358780" cy="2520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1D862E3-EB94-4E3A-9663-3AAA6F83D02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2366" t="55324"/>
          <a:stretch>
            <a:fillRect/>
          </a:stretch>
        </p:blipFill>
        <p:spPr>
          <a:xfrm>
            <a:off x="584136" y="3838166"/>
            <a:ext cx="3509722" cy="2520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7006EB7-D5C4-DF67-83A2-77403EE5DF0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2366" b="53741"/>
          <a:stretch>
            <a:fillRect/>
          </a:stretch>
        </p:blipFill>
        <p:spPr>
          <a:xfrm>
            <a:off x="644174" y="1256653"/>
            <a:ext cx="3389647" cy="2520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4F27138-9984-78B7-1DB6-DAD51740B888}"/>
              </a:ext>
            </a:extLst>
          </p:cNvPr>
          <p:cNvSpPr txBox="1"/>
          <p:nvPr/>
        </p:nvSpPr>
        <p:spPr>
          <a:xfrm>
            <a:off x="1335697" y="1325563"/>
            <a:ext cx="2006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b="1" dirty="0">
                <a:solidFill>
                  <a:schemeClr val="bg1">
                    <a:lumMod val="10000"/>
                  </a:schemeClr>
                </a:solidFill>
              </a:rPr>
              <a:t>OPTIMAL</a:t>
            </a:r>
            <a:endParaRPr lang="en-US" b="1" dirty="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0B6E91C-1304-AD72-7FE4-B2B17F0A3A52}"/>
              </a:ext>
            </a:extLst>
          </p:cNvPr>
          <p:cNvSpPr txBox="1"/>
          <p:nvPr/>
        </p:nvSpPr>
        <p:spPr>
          <a:xfrm>
            <a:off x="5092700" y="1325563"/>
            <a:ext cx="2006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b="1" dirty="0">
                <a:solidFill>
                  <a:schemeClr val="bg1">
                    <a:lumMod val="10000"/>
                  </a:schemeClr>
                </a:solidFill>
              </a:rPr>
              <a:t>FULL PSO</a:t>
            </a:r>
            <a:endParaRPr lang="en-US" b="1" dirty="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047D4CD-B679-7C94-C4CC-650A209246AF}"/>
              </a:ext>
            </a:extLst>
          </p:cNvPr>
          <p:cNvSpPr txBox="1"/>
          <p:nvPr/>
        </p:nvSpPr>
        <p:spPr>
          <a:xfrm>
            <a:off x="8832505" y="1324291"/>
            <a:ext cx="2006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b="1" dirty="0">
                <a:solidFill>
                  <a:schemeClr val="bg1">
                    <a:lumMod val="10000"/>
                  </a:schemeClr>
                </a:solidFill>
              </a:rPr>
              <a:t>STO PSO</a:t>
            </a:r>
            <a:endParaRPr lang="en-US" b="1" dirty="0">
              <a:solidFill>
                <a:schemeClr val="bg1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74257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3E000-EE48-A4F1-0051-A8DDCF0CCD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D8AA1A-AA36-297C-B238-63285DA88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1">
              <a:rPr lang="en-US" altLang="en-US" smtClean="0"/>
              <a:t>12/1/2025</a:t>
            </a:fld>
            <a:endParaRPr lang="zh-CN" alt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DB47FC4-30C1-B2ED-1CAF-FAE1BB8EF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23</a:t>
            </a:fld>
            <a:endParaRPr lang="zh-CN" alt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846A0FCB-9E8E-356E-83B5-DF6C40B0A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altLang="zh-CN">
                <a:sym typeface="+mn-ea"/>
              </a:rPr>
              <a:t>Real-Time Time-Optimal Spacecraft Attitude Control</a:t>
            </a:r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629B37-B54F-7EA0-69CE-24979C8CC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de-DE" altLang="en-US" sz="4400" dirty="0">
                <a:latin typeface="Arial Black" panose="020B0A04020102020204" charset="0"/>
                <a:cs typeface="Arial Black" panose="020B0A04020102020204" charset="0"/>
              </a:rPr>
              <a:t>PSO Reliability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750EB3D-D3B2-C3EB-B142-72EB9CB91558}"/>
              </a:ext>
            </a:extLst>
          </p:cNvPr>
          <p:cNvGrpSpPr/>
          <p:nvPr/>
        </p:nvGrpSpPr>
        <p:grpSpPr>
          <a:xfrm>
            <a:off x="6395134" y="1325563"/>
            <a:ext cx="1783458" cy="1783458"/>
            <a:chOff x="3123406" y="1909339"/>
            <a:chExt cx="1881187" cy="1881187"/>
          </a:xfrm>
          <a:solidFill>
            <a:srgbClr val="002060"/>
          </a:solidFill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CA486BB1-4EE7-405A-E2C2-E66C05E7CD46}"/>
                </a:ext>
              </a:extLst>
            </p:cNvPr>
            <p:cNvSpPr/>
            <p:nvPr/>
          </p:nvSpPr>
          <p:spPr>
            <a:xfrm>
              <a:off x="3123406" y="1909339"/>
              <a:ext cx="1881187" cy="1881187"/>
            </a:xfrm>
            <a:prstGeom prst="ellipse">
              <a:avLst/>
            </a:prstGeom>
            <a:grpFill/>
            <a:ln w="38100"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Oval 4">
              <a:extLst>
                <a:ext uri="{FF2B5EF4-FFF2-40B4-BE49-F238E27FC236}">
                  <a16:creationId xmlns:a16="http://schemas.microsoft.com/office/drawing/2014/main" id="{473E8C7D-89CA-5477-61E4-D2845D24EF81}"/>
                </a:ext>
              </a:extLst>
            </p:cNvPr>
            <p:cNvSpPr txBox="1"/>
            <p:nvPr/>
          </p:nvSpPr>
          <p:spPr>
            <a:xfrm>
              <a:off x="3264677" y="2164132"/>
              <a:ext cx="1598646" cy="1371602"/>
            </a:xfrm>
            <a:prstGeom prst="rect">
              <a:avLst/>
            </a:prstGeom>
            <a:noFill/>
            <a:ln w="38100"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de-DE" b="1" dirty="0"/>
                <a:t>OPTIMISED</a:t>
              </a:r>
              <a:endParaRPr lang="de-DE" b="1" kern="1200" dirty="0"/>
            </a:p>
            <a:p>
              <a:pPr marL="0" lvl="0" indent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b="1" kern="1200" dirty="0"/>
                <a:t>ALGORITHM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634E1300-D1EF-454B-DDB8-3AEC94B49113}"/>
              </a:ext>
            </a:extLst>
          </p:cNvPr>
          <p:cNvGrpSpPr/>
          <p:nvPr/>
        </p:nvGrpSpPr>
        <p:grpSpPr>
          <a:xfrm>
            <a:off x="6395134" y="3246181"/>
            <a:ext cx="1783458" cy="1783458"/>
            <a:chOff x="3123406" y="1909339"/>
            <a:chExt cx="1881187" cy="1881187"/>
          </a:xfrm>
          <a:solidFill>
            <a:srgbClr val="002060"/>
          </a:solidFill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BA29A3BA-8634-3F52-2A18-D18265FCAD53}"/>
                </a:ext>
              </a:extLst>
            </p:cNvPr>
            <p:cNvSpPr/>
            <p:nvPr/>
          </p:nvSpPr>
          <p:spPr>
            <a:xfrm>
              <a:off x="3123406" y="1909339"/>
              <a:ext cx="1881187" cy="1881187"/>
            </a:xfrm>
            <a:prstGeom prst="ellipse">
              <a:avLst/>
            </a:prstGeom>
            <a:grpFill/>
            <a:ln w="38100"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7" name="Oval 4">
              <a:extLst>
                <a:ext uri="{FF2B5EF4-FFF2-40B4-BE49-F238E27FC236}">
                  <a16:creationId xmlns:a16="http://schemas.microsoft.com/office/drawing/2014/main" id="{AB1FF23A-0851-05E6-C067-D115BAF9C991}"/>
                </a:ext>
              </a:extLst>
            </p:cNvPr>
            <p:cNvSpPr txBox="1"/>
            <p:nvPr/>
          </p:nvSpPr>
          <p:spPr>
            <a:xfrm>
              <a:off x="3264677" y="2164132"/>
              <a:ext cx="1598646" cy="1371602"/>
            </a:xfrm>
            <a:prstGeom prst="rect">
              <a:avLst/>
            </a:prstGeom>
            <a:noFill/>
            <a:ln w="38100"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de-DE" b="1" kern="1200" dirty="0"/>
                <a:t>OPTIMIZED</a:t>
              </a:r>
            </a:p>
            <a:p>
              <a:pPr marL="0" lvl="0" indent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b="1" kern="1200" dirty="0"/>
                <a:t>ALGORITHM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4D48EFAE-A04E-CF27-4D74-8088730291C7}"/>
              </a:ext>
            </a:extLst>
          </p:cNvPr>
          <p:cNvGrpSpPr/>
          <p:nvPr/>
        </p:nvGrpSpPr>
        <p:grpSpPr>
          <a:xfrm>
            <a:off x="8488017" y="3663468"/>
            <a:ext cx="1307776" cy="948884"/>
            <a:chOff x="3168188" y="165329"/>
            <a:chExt cx="1791623" cy="948884"/>
          </a:xfrm>
        </p:grpSpPr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577A770E-C290-544E-89CE-37CE127D3CAD}"/>
                </a:ext>
              </a:extLst>
            </p:cNvPr>
            <p:cNvSpPr/>
            <p:nvPr/>
          </p:nvSpPr>
          <p:spPr>
            <a:xfrm>
              <a:off x="3168188" y="165329"/>
              <a:ext cx="1791623" cy="948884"/>
            </a:xfrm>
            <a:prstGeom prst="parallelogram">
              <a:avLst/>
            </a:prstGeom>
            <a:solidFill>
              <a:schemeClr val="bg1">
                <a:lumMod val="50000"/>
              </a:schemeClr>
            </a:solidFill>
            <a:ln w="38100">
              <a:solidFill>
                <a:schemeClr val="bg1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Rectangle: Rounded Corners 4">
              <a:extLst>
                <a:ext uri="{FF2B5EF4-FFF2-40B4-BE49-F238E27FC236}">
                  <a16:creationId xmlns:a16="http://schemas.microsoft.com/office/drawing/2014/main" id="{23E26C10-08CC-9A40-4C6F-6144AC893ACB}"/>
                </a:ext>
              </a:extLst>
            </p:cNvPr>
            <p:cNvSpPr txBox="1"/>
            <p:nvPr/>
          </p:nvSpPr>
          <p:spPr>
            <a:xfrm>
              <a:off x="3214509" y="211650"/>
              <a:ext cx="1698981" cy="85624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8580" tIns="68580" rIns="68580" bIns="68580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de-DE" sz="1800" kern="1200" dirty="0"/>
                <a:t>Results</a:t>
              </a:r>
              <a:endParaRPr lang="en-US" sz="1800" kern="1200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79AB3FB-8A8C-6DDF-7B96-77FB98C100A9}"/>
              </a:ext>
            </a:extLst>
          </p:cNvPr>
          <p:cNvGrpSpPr/>
          <p:nvPr/>
        </p:nvGrpSpPr>
        <p:grpSpPr>
          <a:xfrm>
            <a:off x="8488017" y="1742850"/>
            <a:ext cx="1307776" cy="948884"/>
            <a:chOff x="3168188" y="165329"/>
            <a:chExt cx="1791623" cy="948884"/>
          </a:xfrm>
        </p:grpSpPr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B2CE6BCA-90A6-DFC6-95CC-C2876233DBF2}"/>
                </a:ext>
              </a:extLst>
            </p:cNvPr>
            <p:cNvSpPr/>
            <p:nvPr/>
          </p:nvSpPr>
          <p:spPr>
            <a:xfrm>
              <a:off x="3168188" y="165329"/>
              <a:ext cx="1791623" cy="948884"/>
            </a:xfrm>
            <a:prstGeom prst="parallelogram">
              <a:avLst/>
            </a:prstGeom>
            <a:solidFill>
              <a:schemeClr val="bg1">
                <a:lumMod val="50000"/>
              </a:schemeClr>
            </a:solidFill>
            <a:ln w="38100">
              <a:solidFill>
                <a:schemeClr val="bg1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Rectangle: Rounded Corners 4">
              <a:extLst>
                <a:ext uri="{FF2B5EF4-FFF2-40B4-BE49-F238E27FC236}">
                  <a16:creationId xmlns:a16="http://schemas.microsoft.com/office/drawing/2014/main" id="{8B4A3CC9-60BE-4519-429B-CAA0D7B72088}"/>
                </a:ext>
              </a:extLst>
            </p:cNvPr>
            <p:cNvSpPr txBox="1"/>
            <p:nvPr/>
          </p:nvSpPr>
          <p:spPr>
            <a:xfrm>
              <a:off x="3214509" y="211650"/>
              <a:ext cx="1698981" cy="85624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8580" tIns="68580" rIns="68580" bIns="68580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de-DE" sz="1800" kern="1200" dirty="0"/>
                <a:t>Results</a:t>
              </a:r>
              <a:endParaRPr lang="en-US" sz="1800" kern="120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0B6195E-8DB9-9EE3-0BE8-5ABB0BA38114}"/>
              </a:ext>
            </a:extLst>
          </p:cNvPr>
          <p:cNvGrpSpPr/>
          <p:nvPr/>
        </p:nvGrpSpPr>
        <p:grpSpPr>
          <a:xfrm>
            <a:off x="10394187" y="2645413"/>
            <a:ext cx="1606340" cy="948884"/>
            <a:chOff x="3168188" y="165329"/>
            <a:chExt cx="1791623" cy="948884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BEAC1FAB-82DF-7507-9E34-5DB9C5B29B91}"/>
                </a:ext>
              </a:extLst>
            </p:cNvPr>
            <p:cNvSpPr/>
            <p:nvPr/>
          </p:nvSpPr>
          <p:spPr>
            <a:xfrm>
              <a:off x="3168188" y="165329"/>
              <a:ext cx="1791623" cy="948884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 w="38100">
              <a:solidFill>
                <a:schemeClr val="bg1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Rectangle: Rounded Corners 4">
              <a:extLst>
                <a:ext uri="{FF2B5EF4-FFF2-40B4-BE49-F238E27FC236}">
                  <a16:creationId xmlns:a16="http://schemas.microsoft.com/office/drawing/2014/main" id="{CD80AB4B-B087-13E9-933F-15E11020A5DD}"/>
                </a:ext>
              </a:extLst>
            </p:cNvPr>
            <p:cNvSpPr txBox="1"/>
            <p:nvPr/>
          </p:nvSpPr>
          <p:spPr>
            <a:xfrm>
              <a:off x="3214509" y="211650"/>
              <a:ext cx="1698981" cy="85624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8580" tIns="68580" rIns="68580" bIns="68580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de-DE" sz="1800" kern="1200" dirty="0"/>
                <a:t>Compute</a:t>
              </a:r>
              <a:br>
                <a:rPr lang="de-DE" sz="1800" kern="1200" dirty="0"/>
              </a:br>
              <a:r>
                <a:rPr lang="de-DE" sz="1800" kern="1200" dirty="0"/>
                <a:t>Performance</a:t>
              </a:r>
              <a:br>
                <a:rPr lang="de-DE" sz="1800" kern="1200" dirty="0"/>
              </a:br>
              <a:r>
                <a:rPr lang="de-DE" sz="1800" kern="1200" dirty="0"/>
                <a:t>Metrics</a:t>
              </a:r>
              <a:endParaRPr lang="en-US" sz="1800" kern="1200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FEE63C0-1273-4D55-6D93-F6969B2BC69E}"/>
              </a:ext>
            </a:extLst>
          </p:cNvPr>
          <p:cNvGrpSpPr/>
          <p:nvPr/>
        </p:nvGrpSpPr>
        <p:grpSpPr>
          <a:xfrm>
            <a:off x="1406630" y="2706669"/>
            <a:ext cx="1606340" cy="948884"/>
            <a:chOff x="3168188" y="165329"/>
            <a:chExt cx="1791623" cy="948884"/>
          </a:xfrm>
        </p:grpSpPr>
        <p:sp>
          <p:nvSpPr>
            <p:cNvPr id="23" name="Parallelogram 22">
              <a:extLst>
                <a:ext uri="{FF2B5EF4-FFF2-40B4-BE49-F238E27FC236}">
                  <a16:creationId xmlns:a16="http://schemas.microsoft.com/office/drawing/2014/main" id="{83EFD1D2-1B02-E9E8-D006-0A80033CC21D}"/>
                </a:ext>
              </a:extLst>
            </p:cNvPr>
            <p:cNvSpPr/>
            <p:nvPr/>
          </p:nvSpPr>
          <p:spPr>
            <a:xfrm>
              <a:off x="3168188" y="165329"/>
              <a:ext cx="1791623" cy="948884"/>
            </a:xfrm>
            <a:prstGeom prst="parallelogram">
              <a:avLst/>
            </a:prstGeom>
            <a:solidFill>
              <a:schemeClr val="bg1">
                <a:lumMod val="50000"/>
              </a:schemeClr>
            </a:solidFill>
            <a:ln w="38100">
              <a:solidFill>
                <a:schemeClr val="bg1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Rectangle: Rounded Corners 4">
              <a:extLst>
                <a:ext uri="{FF2B5EF4-FFF2-40B4-BE49-F238E27FC236}">
                  <a16:creationId xmlns:a16="http://schemas.microsoft.com/office/drawing/2014/main" id="{DCEF4FDA-79E3-EA12-F7D2-343AB0DDD448}"/>
                </a:ext>
              </a:extLst>
            </p:cNvPr>
            <p:cNvSpPr txBox="1"/>
            <p:nvPr/>
          </p:nvSpPr>
          <p:spPr>
            <a:xfrm>
              <a:off x="3214509" y="211650"/>
              <a:ext cx="1698981" cy="85624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8580" tIns="68580" rIns="68580" bIns="68580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de-DE" sz="1800" kern="1200" dirty="0"/>
                <a:t>Boundary Conditions</a:t>
              </a:r>
              <a:endParaRPr lang="en-US" sz="1800" kern="1200" dirty="0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9EE74F6-AEFC-2C23-BBDB-2FDB19BBEB97}"/>
              </a:ext>
            </a:extLst>
          </p:cNvPr>
          <p:cNvGrpSpPr/>
          <p:nvPr/>
        </p:nvGrpSpPr>
        <p:grpSpPr>
          <a:xfrm>
            <a:off x="97542" y="2718854"/>
            <a:ext cx="965945" cy="948884"/>
            <a:chOff x="3168188" y="165329"/>
            <a:chExt cx="1791623" cy="948884"/>
          </a:xfrm>
        </p:grpSpPr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3A6794A5-79C1-7681-E007-5E539F202C1C}"/>
                </a:ext>
              </a:extLst>
            </p:cNvPr>
            <p:cNvSpPr/>
            <p:nvPr/>
          </p:nvSpPr>
          <p:spPr>
            <a:xfrm>
              <a:off x="3168188" y="165329"/>
              <a:ext cx="1791623" cy="948884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50000"/>
              </a:schemeClr>
            </a:solidFill>
            <a:ln w="38100">
              <a:solidFill>
                <a:schemeClr val="bg1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: Rounded Corners 4">
              <a:extLst>
                <a:ext uri="{FF2B5EF4-FFF2-40B4-BE49-F238E27FC236}">
                  <a16:creationId xmlns:a16="http://schemas.microsoft.com/office/drawing/2014/main" id="{BD0DBFAF-4912-A35A-8858-0348C53029F9}"/>
                </a:ext>
              </a:extLst>
            </p:cNvPr>
            <p:cNvSpPr txBox="1"/>
            <p:nvPr/>
          </p:nvSpPr>
          <p:spPr>
            <a:xfrm>
              <a:off x="3214509" y="211650"/>
              <a:ext cx="1698981" cy="85624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8580" tIns="68580" rIns="68580" bIns="68580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de-DE" sz="1800" kern="1200" dirty="0"/>
                <a:t>LHS</a:t>
              </a:r>
              <a:endParaRPr lang="en-US" sz="1800" kern="1200" dirty="0"/>
            </a:p>
          </p:txBody>
        </p:sp>
      </p:grp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34FC141D-EB66-214F-B790-3937E9A1804F}"/>
              </a:ext>
            </a:extLst>
          </p:cNvPr>
          <p:cNvCxnSpPr>
            <a:cxnSpLocks/>
            <a:stCxn id="24" idx="3"/>
            <a:endCxn id="36" idx="1"/>
          </p:cNvCxnSpPr>
          <p:nvPr/>
        </p:nvCxnSpPr>
        <p:spPr>
          <a:xfrm>
            <a:off x="2971440" y="3181111"/>
            <a:ext cx="638070" cy="956799"/>
          </a:xfrm>
          <a:prstGeom prst="bentConnector3">
            <a:avLst/>
          </a:prstGeom>
          <a:ln w="762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249CDDF1-17E7-0846-5263-A72BF9E99B05}"/>
              </a:ext>
            </a:extLst>
          </p:cNvPr>
          <p:cNvCxnSpPr>
            <a:cxnSpLocks/>
            <a:stCxn id="24" idx="3"/>
            <a:endCxn id="30" idx="1"/>
          </p:cNvCxnSpPr>
          <p:nvPr/>
        </p:nvCxnSpPr>
        <p:spPr>
          <a:xfrm flipV="1">
            <a:off x="2971440" y="2217292"/>
            <a:ext cx="627429" cy="963819"/>
          </a:xfrm>
          <a:prstGeom prst="bentConnector3">
            <a:avLst>
              <a:gd name="adj1" fmla="val 50000"/>
            </a:avLst>
          </a:prstGeom>
          <a:ln w="762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F0AA5B13-C55C-C330-0ED0-3E67C02CE366}"/>
              </a:ext>
            </a:extLst>
          </p:cNvPr>
          <p:cNvCxnSpPr>
            <a:stCxn id="26" idx="3"/>
            <a:endCxn id="24" idx="1"/>
          </p:cNvCxnSpPr>
          <p:nvPr/>
        </p:nvCxnSpPr>
        <p:spPr>
          <a:xfrm flipV="1">
            <a:off x="1063487" y="3181111"/>
            <a:ext cx="384674" cy="12185"/>
          </a:xfrm>
          <a:prstGeom prst="straightConnector1">
            <a:avLst/>
          </a:prstGeom>
          <a:ln w="762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9075532-2451-59C0-2C4A-CBDFB937138A}"/>
              </a:ext>
            </a:extLst>
          </p:cNvPr>
          <p:cNvCxnSpPr>
            <a:cxnSpLocks/>
            <a:stCxn id="53" idx="3"/>
            <a:endCxn id="6" idx="2"/>
          </p:cNvCxnSpPr>
          <p:nvPr/>
        </p:nvCxnSpPr>
        <p:spPr>
          <a:xfrm>
            <a:off x="6053610" y="4137910"/>
            <a:ext cx="341524" cy="0"/>
          </a:xfrm>
          <a:prstGeom prst="straightConnector1">
            <a:avLst/>
          </a:prstGeom>
          <a:ln w="762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FE12722A-2704-6D73-801C-B8F4C49726F8}"/>
              </a:ext>
            </a:extLst>
          </p:cNvPr>
          <p:cNvCxnSpPr>
            <a:cxnSpLocks/>
            <a:stCxn id="6" idx="6"/>
            <a:endCxn id="10" idx="1"/>
          </p:cNvCxnSpPr>
          <p:nvPr/>
        </p:nvCxnSpPr>
        <p:spPr>
          <a:xfrm>
            <a:off x="8178592" y="4137910"/>
            <a:ext cx="343237" cy="0"/>
          </a:xfrm>
          <a:prstGeom prst="straightConnector1">
            <a:avLst/>
          </a:prstGeom>
          <a:ln w="762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994C0719-5330-7701-EC72-A5B1173BBF00}"/>
              </a:ext>
            </a:extLst>
          </p:cNvPr>
          <p:cNvCxnSpPr>
            <a:cxnSpLocks/>
            <a:stCxn id="18" idx="3"/>
            <a:endCxn id="20" idx="1"/>
          </p:cNvCxnSpPr>
          <p:nvPr/>
        </p:nvCxnSpPr>
        <p:spPr>
          <a:xfrm>
            <a:off x="9761982" y="2217292"/>
            <a:ext cx="632205" cy="902563"/>
          </a:xfrm>
          <a:prstGeom prst="bentConnector3">
            <a:avLst>
              <a:gd name="adj1" fmla="val 50000"/>
            </a:avLst>
          </a:prstGeom>
          <a:ln w="762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C2AE0321-9E18-24C7-0F64-EA4AFDFC1C12}"/>
              </a:ext>
            </a:extLst>
          </p:cNvPr>
          <p:cNvCxnSpPr>
            <a:cxnSpLocks/>
            <a:stCxn id="10" idx="3"/>
            <a:endCxn id="20" idx="1"/>
          </p:cNvCxnSpPr>
          <p:nvPr/>
        </p:nvCxnSpPr>
        <p:spPr>
          <a:xfrm flipV="1">
            <a:off x="9761982" y="3119855"/>
            <a:ext cx="632205" cy="1018055"/>
          </a:xfrm>
          <a:prstGeom prst="bentConnector3">
            <a:avLst>
              <a:gd name="adj1" fmla="val 50000"/>
            </a:avLst>
          </a:prstGeom>
          <a:ln w="762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7366FCB3-D609-980D-5250-DBFCD474CCBD}"/>
              </a:ext>
            </a:extLst>
          </p:cNvPr>
          <p:cNvCxnSpPr>
            <a:cxnSpLocks/>
            <a:stCxn id="20" idx="2"/>
            <a:endCxn id="26" idx="2"/>
          </p:cNvCxnSpPr>
          <p:nvPr/>
        </p:nvCxnSpPr>
        <p:spPr>
          <a:xfrm rot="5400000">
            <a:off x="5852216" y="-1677404"/>
            <a:ext cx="73441" cy="10616842"/>
          </a:xfrm>
          <a:prstGeom prst="bentConnector3">
            <a:avLst>
              <a:gd name="adj1" fmla="val 2522494"/>
            </a:avLst>
          </a:prstGeom>
          <a:ln w="762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C707FA4F-0C77-E2FF-0F10-A449C5FB602F}"/>
              </a:ext>
            </a:extLst>
          </p:cNvPr>
          <p:cNvSpPr txBox="1"/>
          <p:nvPr/>
        </p:nvSpPr>
        <p:spPr>
          <a:xfrm>
            <a:off x="5492157" y="5505980"/>
            <a:ext cx="20283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X 10,000</a:t>
            </a:r>
            <a:endParaRPr lang="en-US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E340B8B1-03D6-F882-3861-4CF24DC06F3B}"/>
              </a:ext>
            </a:extLst>
          </p:cNvPr>
          <p:cNvGrpSpPr/>
          <p:nvPr/>
        </p:nvGrpSpPr>
        <p:grpSpPr>
          <a:xfrm>
            <a:off x="3573258" y="1742850"/>
            <a:ext cx="990600" cy="948884"/>
            <a:chOff x="3168188" y="165329"/>
            <a:chExt cx="1791623" cy="948884"/>
          </a:xfrm>
        </p:grpSpPr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F2437A5A-7F14-0970-417B-8B070CC99B79}"/>
                </a:ext>
              </a:extLst>
            </p:cNvPr>
            <p:cNvSpPr/>
            <p:nvPr/>
          </p:nvSpPr>
          <p:spPr>
            <a:xfrm>
              <a:off x="3168188" y="165329"/>
              <a:ext cx="1791623" cy="948884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50000"/>
              </a:schemeClr>
            </a:solidFill>
            <a:ln w="38100">
              <a:solidFill>
                <a:schemeClr val="bg1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b="1"/>
            </a:p>
          </p:txBody>
        </p:sp>
        <p:sp>
          <p:nvSpPr>
            <p:cNvPr id="30" name="Rectangle: Rounded Corners 4">
              <a:extLst>
                <a:ext uri="{FF2B5EF4-FFF2-40B4-BE49-F238E27FC236}">
                  <a16:creationId xmlns:a16="http://schemas.microsoft.com/office/drawing/2014/main" id="{663E6BF1-EE55-3CBA-C9CF-FC0F82F84B72}"/>
                </a:ext>
              </a:extLst>
            </p:cNvPr>
            <p:cNvSpPr txBox="1"/>
            <p:nvPr/>
          </p:nvSpPr>
          <p:spPr>
            <a:xfrm>
              <a:off x="3214509" y="211650"/>
              <a:ext cx="1698981" cy="85624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8580" tIns="68580" rIns="68580" bIns="68580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de-DE" b="1" dirty="0"/>
                <a:t>FULL</a:t>
              </a:r>
              <a:br>
                <a:rPr lang="de-DE" b="1" dirty="0"/>
              </a:br>
              <a:r>
                <a:rPr lang="de-DE" b="1" dirty="0"/>
                <a:t>PSO</a:t>
              </a:r>
              <a:endParaRPr lang="en-US" sz="1800" b="1" kern="1200" dirty="0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52BD6335-E2BF-A709-73BA-F5FB9052DA02}"/>
              </a:ext>
            </a:extLst>
          </p:cNvPr>
          <p:cNvGrpSpPr/>
          <p:nvPr/>
        </p:nvGrpSpPr>
        <p:grpSpPr>
          <a:xfrm>
            <a:off x="3584479" y="3663468"/>
            <a:ext cx="968158" cy="948884"/>
            <a:chOff x="3168188" y="165329"/>
            <a:chExt cx="1791623" cy="948884"/>
          </a:xfrm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7FC74A0A-383E-C126-AA20-B7D17BCA4331}"/>
                </a:ext>
              </a:extLst>
            </p:cNvPr>
            <p:cNvSpPr/>
            <p:nvPr/>
          </p:nvSpPr>
          <p:spPr>
            <a:xfrm>
              <a:off x="3168188" y="165329"/>
              <a:ext cx="1791623" cy="948884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50000"/>
              </a:schemeClr>
            </a:solidFill>
            <a:ln w="38100">
              <a:solidFill>
                <a:schemeClr val="bg1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b="1"/>
            </a:p>
          </p:txBody>
        </p:sp>
        <p:sp>
          <p:nvSpPr>
            <p:cNvPr id="36" name="Rectangle: Rounded Corners 4">
              <a:extLst>
                <a:ext uri="{FF2B5EF4-FFF2-40B4-BE49-F238E27FC236}">
                  <a16:creationId xmlns:a16="http://schemas.microsoft.com/office/drawing/2014/main" id="{7576CA6C-19D5-5FA7-8216-F064CAD845BB}"/>
                </a:ext>
              </a:extLst>
            </p:cNvPr>
            <p:cNvSpPr txBox="1"/>
            <p:nvPr/>
          </p:nvSpPr>
          <p:spPr>
            <a:xfrm>
              <a:off x="3214509" y="211650"/>
              <a:ext cx="1698981" cy="85624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8580" tIns="68580" rIns="68580" bIns="68580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de-DE" b="1" dirty="0"/>
                <a:t>STO</a:t>
              </a:r>
              <a:br>
                <a:rPr lang="de-DE" b="1" dirty="0"/>
              </a:br>
              <a:r>
                <a:rPr lang="de-DE" b="1" dirty="0"/>
                <a:t>PSO</a:t>
              </a:r>
              <a:endParaRPr lang="en-US" sz="1800" b="1" kern="1200" dirty="0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56BB3813-EDE8-5424-2023-A11A69CA4ADF}"/>
              </a:ext>
            </a:extLst>
          </p:cNvPr>
          <p:cNvGrpSpPr/>
          <p:nvPr/>
        </p:nvGrpSpPr>
        <p:grpSpPr>
          <a:xfrm>
            <a:off x="4817619" y="1742850"/>
            <a:ext cx="1268794" cy="948884"/>
            <a:chOff x="3168188" y="165329"/>
            <a:chExt cx="1791623" cy="948884"/>
          </a:xfrm>
        </p:grpSpPr>
        <p:sp>
          <p:nvSpPr>
            <p:cNvPr id="48" name="Parallelogram 47">
              <a:extLst>
                <a:ext uri="{FF2B5EF4-FFF2-40B4-BE49-F238E27FC236}">
                  <a16:creationId xmlns:a16="http://schemas.microsoft.com/office/drawing/2014/main" id="{5F112456-B392-ACE9-AC65-6BC36D445AEF}"/>
                </a:ext>
              </a:extLst>
            </p:cNvPr>
            <p:cNvSpPr/>
            <p:nvPr/>
          </p:nvSpPr>
          <p:spPr>
            <a:xfrm>
              <a:off x="3168188" y="165329"/>
              <a:ext cx="1791623" cy="948884"/>
            </a:xfrm>
            <a:prstGeom prst="parallelogram">
              <a:avLst/>
            </a:prstGeom>
            <a:solidFill>
              <a:schemeClr val="bg1">
                <a:lumMod val="50000"/>
              </a:schemeClr>
            </a:solidFill>
            <a:ln w="38100">
              <a:solidFill>
                <a:schemeClr val="bg1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9" name="Rectangle: Rounded Corners 4">
              <a:extLst>
                <a:ext uri="{FF2B5EF4-FFF2-40B4-BE49-F238E27FC236}">
                  <a16:creationId xmlns:a16="http://schemas.microsoft.com/office/drawing/2014/main" id="{A0F78B5B-CD9B-A557-C86B-C75D0304F888}"/>
                </a:ext>
              </a:extLst>
            </p:cNvPr>
            <p:cNvSpPr txBox="1"/>
            <p:nvPr/>
          </p:nvSpPr>
          <p:spPr>
            <a:xfrm>
              <a:off x="3214509" y="211650"/>
              <a:ext cx="1698981" cy="85624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8580" tIns="68580" rIns="68580" bIns="68580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de-DE" sz="1800" kern="1200" dirty="0"/>
                <a:t>Initial</a:t>
              </a:r>
              <a:br>
                <a:rPr lang="de-DE" sz="1800" kern="1200" dirty="0"/>
              </a:br>
              <a:r>
                <a:rPr lang="de-DE" sz="1800" kern="1200" dirty="0"/>
                <a:t>Guess</a:t>
              </a:r>
              <a:endParaRPr lang="en-US" sz="1800" kern="1200" dirty="0"/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EF280B4A-438B-CCD2-A4A2-EACD4EF41AB4}"/>
              </a:ext>
            </a:extLst>
          </p:cNvPr>
          <p:cNvGrpSpPr/>
          <p:nvPr/>
        </p:nvGrpSpPr>
        <p:grpSpPr>
          <a:xfrm>
            <a:off x="4817619" y="3663468"/>
            <a:ext cx="1268794" cy="948884"/>
            <a:chOff x="3168188" y="165329"/>
            <a:chExt cx="1791623" cy="948884"/>
          </a:xfrm>
        </p:grpSpPr>
        <p:sp>
          <p:nvSpPr>
            <p:cNvPr id="52" name="Parallelogram 51">
              <a:extLst>
                <a:ext uri="{FF2B5EF4-FFF2-40B4-BE49-F238E27FC236}">
                  <a16:creationId xmlns:a16="http://schemas.microsoft.com/office/drawing/2014/main" id="{E52E2EA8-672F-4F16-9DD6-D93A61A19B26}"/>
                </a:ext>
              </a:extLst>
            </p:cNvPr>
            <p:cNvSpPr/>
            <p:nvPr/>
          </p:nvSpPr>
          <p:spPr>
            <a:xfrm>
              <a:off x="3168188" y="165329"/>
              <a:ext cx="1791623" cy="948884"/>
            </a:xfrm>
            <a:prstGeom prst="parallelogram">
              <a:avLst/>
            </a:prstGeom>
            <a:solidFill>
              <a:schemeClr val="bg1">
                <a:lumMod val="50000"/>
              </a:schemeClr>
            </a:solidFill>
            <a:ln w="38100">
              <a:solidFill>
                <a:schemeClr val="bg1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3" name="Rectangle: Rounded Corners 4">
              <a:extLst>
                <a:ext uri="{FF2B5EF4-FFF2-40B4-BE49-F238E27FC236}">
                  <a16:creationId xmlns:a16="http://schemas.microsoft.com/office/drawing/2014/main" id="{69F8117C-5C7F-ED57-11EF-A8FBA35E134B}"/>
                </a:ext>
              </a:extLst>
            </p:cNvPr>
            <p:cNvSpPr txBox="1"/>
            <p:nvPr/>
          </p:nvSpPr>
          <p:spPr>
            <a:xfrm>
              <a:off x="3214509" y="211650"/>
              <a:ext cx="1698981" cy="85624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8580" tIns="68580" rIns="68580" bIns="68580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de-DE" sz="1800" kern="1200" dirty="0"/>
                <a:t>Initial</a:t>
              </a:r>
              <a:br>
                <a:rPr lang="de-DE" sz="1800" kern="1200" dirty="0"/>
              </a:br>
              <a:r>
                <a:rPr lang="de-DE" sz="1800" kern="1200" dirty="0"/>
                <a:t>Guess</a:t>
              </a:r>
              <a:endParaRPr lang="en-US" sz="1800" kern="1200" dirty="0"/>
            </a:p>
          </p:txBody>
        </p:sp>
      </p:grp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6D9C76B3-095C-A029-E45A-92765434C14E}"/>
              </a:ext>
            </a:extLst>
          </p:cNvPr>
          <p:cNvCxnSpPr>
            <a:cxnSpLocks/>
            <a:stCxn id="49" idx="3"/>
            <a:endCxn id="14" idx="2"/>
          </p:cNvCxnSpPr>
          <p:nvPr/>
        </p:nvCxnSpPr>
        <p:spPr>
          <a:xfrm>
            <a:off x="6053610" y="2217292"/>
            <a:ext cx="341524" cy="0"/>
          </a:xfrm>
          <a:prstGeom prst="straightConnector1">
            <a:avLst/>
          </a:prstGeom>
          <a:ln w="762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7997E04F-A247-F143-EBF0-E2D75E95424A}"/>
              </a:ext>
            </a:extLst>
          </p:cNvPr>
          <p:cNvCxnSpPr>
            <a:cxnSpLocks/>
            <a:stCxn id="14" idx="6"/>
          </p:cNvCxnSpPr>
          <p:nvPr/>
        </p:nvCxnSpPr>
        <p:spPr>
          <a:xfrm>
            <a:off x="8178592" y="2217292"/>
            <a:ext cx="373054" cy="0"/>
          </a:xfrm>
          <a:prstGeom prst="straightConnector1">
            <a:avLst/>
          </a:prstGeom>
          <a:ln w="762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0097AC78-CA2E-8BA0-6F6F-B5EAFEFB6715}"/>
              </a:ext>
            </a:extLst>
          </p:cNvPr>
          <p:cNvCxnSpPr>
            <a:cxnSpLocks/>
            <a:stCxn id="29" idx="3"/>
            <a:endCxn id="49" idx="1"/>
          </p:cNvCxnSpPr>
          <p:nvPr/>
        </p:nvCxnSpPr>
        <p:spPr>
          <a:xfrm>
            <a:off x="4563858" y="2217292"/>
            <a:ext cx="286565" cy="0"/>
          </a:xfrm>
          <a:prstGeom prst="straightConnector1">
            <a:avLst/>
          </a:prstGeom>
          <a:ln w="762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25165FF1-3A4C-26CD-A38A-4842B49DBE11}"/>
              </a:ext>
            </a:extLst>
          </p:cNvPr>
          <p:cNvCxnSpPr>
            <a:cxnSpLocks/>
            <a:stCxn id="36" idx="3"/>
            <a:endCxn id="53" idx="1"/>
          </p:cNvCxnSpPr>
          <p:nvPr/>
        </p:nvCxnSpPr>
        <p:spPr>
          <a:xfrm>
            <a:off x="4527606" y="4137910"/>
            <a:ext cx="322817" cy="0"/>
          </a:xfrm>
          <a:prstGeom prst="straightConnector1">
            <a:avLst/>
          </a:prstGeom>
          <a:ln w="762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24291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92BDB9-57BA-B199-2CC5-6C6023542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53E3B7-3BF7-0D6D-AAC3-1C6D14C7C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1">
              <a:rPr lang="en-US" altLang="en-US" smtClean="0"/>
              <a:t>12/1/2025</a:t>
            </a:fld>
            <a:endParaRPr lang="zh-CN" alt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382399-CEC0-BDAF-D647-26E911EA9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24</a:t>
            </a:fld>
            <a:endParaRPr lang="zh-CN" alt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68A314D9-F4B8-AEF4-55E8-BED2D4953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altLang="zh-CN">
                <a:sym typeface="+mn-ea"/>
              </a:rPr>
              <a:t>Real-Time Time-Optimal Spacecraft Attitude Control</a:t>
            </a:r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E21715-9C04-BA44-585E-EC27A8D33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de-DE" altLang="en-US" sz="4400" dirty="0">
                <a:latin typeface="Arial Black" panose="020B0A04020102020204" charset="0"/>
                <a:cs typeface="Arial Black" panose="020B0A04020102020204" charset="0"/>
              </a:rPr>
              <a:t>Reliability Analysis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987903-C414-F8F9-6DD7-3EF9A83F03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3126" y="1059711"/>
            <a:ext cx="7325747" cy="5296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451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C1D073-D805-4B17-DABB-CD60F4030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5481F5BA-21D2-5BC9-CE25-EA673A5FEAE6}"/>
              </a:ext>
            </a:extLst>
          </p:cNvPr>
          <p:cNvSpPr/>
          <p:nvPr/>
        </p:nvSpPr>
        <p:spPr>
          <a:xfrm>
            <a:off x="3262176" y="1117600"/>
            <a:ext cx="7629344" cy="5351587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01321A-B340-4C13-9E55-4501EF24A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1">
              <a:rPr lang="en-US" altLang="en-US" smtClean="0"/>
              <a:t>12/1/2025</a:t>
            </a:fld>
            <a:endParaRPr lang="zh-CN" alt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62725ED-DB77-20C3-6051-928E3D045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25</a:t>
            </a:fld>
            <a:endParaRPr lang="zh-CN" alt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0F028DE3-EFA3-17DA-B549-C35BC80F2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altLang="zh-CN">
                <a:sym typeface="+mn-ea"/>
              </a:rPr>
              <a:t>Real-Time Time-Optimal Spacecraft Attitude Control</a:t>
            </a:r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E7815D-515A-913F-A4D6-5B9BB2150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de-DE" altLang="en-US" sz="4400" dirty="0">
                <a:latin typeface="Arial Black" panose="020B0A04020102020204" charset="0"/>
                <a:cs typeface="Arial Black" panose="020B0A04020102020204" charset="0"/>
              </a:rPr>
              <a:t>Reliability Analysis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D26A975-4BE6-8831-9116-CDE6E6FE6159}"/>
              </a:ext>
            </a:extLst>
          </p:cNvPr>
          <p:cNvSpPr txBox="1"/>
          <p:nvPr/>
        </p:nvSpPr>
        <p:spPr>
          <a:xfrm>
            <a:off x="2085340" y="1107620"/>
            <a:ext cx="6090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bg1">
                    <a:lumMod val="10000"/>
                  </a:schemeClr>
                </a:solidFill>
              </a:rPr>
              <a:t>PSO FULL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4F15F86-615A-0B4A-E463-4D61124273E4}"/>
              </a:ext>
            </a:extLst>
          </p:cNvPr>
          <p:cNvSpPr txBox="1"/>
          <p:nvPr/>
        </p:nvSpPr>
        <p:spPr>
          <a:xfrm>
            <a:off x="6192520" y="1143874"/>
            <a:ext cx="6090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bg1">
                    <a:lumMod val="10000"/>
                  </a:schemeClr>
                </a:solidFill>
              </a:rPr>
              <a:t>PSO STO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5B1CA69-C4D0-19A8-7511-54CFD76B444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5556"/>
          <a:stretch>
            <a:fillRect/>
          </a:stretch>
        </p:blipFill>
        <p:spPr>
          <a:xfrm>
            <a:off x="3262177" y="3893661"/>
            <a:ext cx="7456623" cy="2520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EC6C15E-F745-5A2B-C343-85B3CB39449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5556"/>
          <a:stretch>
            <a:fillRect/>
          </a:stretch>
        </p:blipFill>
        <p:spPr>
          <a:xfrm>
            <a:off x="3262176" y="1449109"/>
            <a:ext cx="7456623" cy="2520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053034D-5237-ACE9-3E9F-F2F8A108C656}"/>
              </a:ext>
            </a:extLst>
          </p:cNvPr>
          <p:cNvSpPr txBox="1"/>
          <p:nvPr/>
        </p:nvSpPr>
        <p:spPr>
          <a:xfrm>
            <a:off x="508000" y="2709109"/>
            <a:ext cx="2651760" cy="1703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de-DE" b="1" dirty="0"/>
              <a:t>No PSO medians: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/>
              <a:t>Scenario A: 125ms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/>
              <a:t>Scenario B: 100ms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/>
              <a:t>Scenario C: 295ms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38260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1DE86F-7EF0-78B3-C055-B20A41077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ACAB300D-0D66-F18C-963A-9B9F866F7DD0}"/>
              </a:ext>
            </a:extLst>
          </p:cNvPr>
          <p:cNvSpPr/>
          <p:nvPr/>
        </p:nvSpPr>
        <p:spPr>
          <a:xfrm>
            <a:off x="3262176" y="1117600"/>
            <a:ext cx="7629344" cy="5351587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22286E-CB75-1020-F43C-4B84F0522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1">
              <a:rPr lang="en-US" altLang="en-US" smtClean="0"/>
              <a:t>12/1/2025</a:t>
            </a:fld>
            <a:endParaRPr lang="zh-CN" alt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046E91BE-EE60-90DA-C85B-4B9A9667E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26</a:t>
            </a:fld>
            <a:endParaRPr lang="zh-CN" alt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8BB0CF80-04A0-2CAB-BFD7-5A9A1F0A4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altLang="zh-CN">
                <a:sym typeface="+mn-ea"/>
              </a:rPr>
              <a:t>Real-Time Time-Optimal Spacecraft Attitude Control</a:t>
            </a:r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FAF4A5-8728-0917-92A4-EB65B315B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de-DE" altLang="en-US" sz="4400" dirty="0">
                <a:latin typeface="Arial Black" panose="020B0A04020102020204" charset="0"/>
                <a:cs typeface="Arial Black" panose="020B0A04020102020204" charset="0"/>
              </a:rPr>
              <a:t>Reliability Analysis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ABBB796-5A70-258F-86DB-185EE31AA6AA}"/>
              </a:ext>
            </a:extLst>
          </p:cNvPr>
          <p:cNvSpPr txBox="1"/>
          <p:nvPr/>
        </p:nvSpPr>
        <p:spPr>
          <a:xfrm>
            <a:off x="2085340" y="1107620"/>
            <a:ext cx="6090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bg1">
                    <a:lumMod val="10000"/>
                  </a:schemeClr>
                </a:solidFill>
              </a:rPr>
              <a:t>PSO FULL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9083C68-B287-E764-6305-E39727CED44B}"/>
              </a:ext>
            </a:extLst>
          </p:cNvPr>
          <p:cNvSpPr txBox="1"/>
          <p:nvPr/>
        </p:nvSpPr>
        <p:spPr>
          <a:xfrm>
            <a:off x="6192520" y="1143874"/>
            <a:ext cx="6090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bg1">
                    <a:lumMod val="10000"/>
                  </a:schemeClr>
                </a:solidFill>
              </a:rPr>
              <a:t>PSO STO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F01654-AEA1-8D85-A28B-6519E82414AE}"/>
              </a:ext>
            </a:extLst>
          </p:cNvPr>
          <p:cNvSpPr txBox="1"/>
          <p:nvPr/>
        </p:nvSpPr>
        <p:spPr>
          <a:xfrm>
            <a:off x="508000" y="2709109"/>
            <a:ext cx="2651760" cy="1703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de-DE" b="1" dirty="0"/>
              <a:t>No PSO medians: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/>
              <a:t>Scenario A: 125ms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/>
              <a:t>Scenario B: 100ms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/>
              <a:t>Scenario C: 295ms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2AA5D9-2B8A-6C26-D64B-0901D9F9311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6444"/>
          <a:stretch>
            <a:fillRect/>
          </a:stretch>
        </p:blipFill>
        <p:spPr>
          <a:xfrm>
            <a:off x="3345527" y="3917810"/>
            <a:ext cx="7455600" cy="247556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B3A1AC4-E16E-4A34-426F-4552F09524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6444"/>
          <a:stretch>
            <a:fillRect/>
          </a:stretch>
        </p:blipFill>
        <p:spPr>
          <a:xfrm>
            <a:off x="3345527" y="1441470"/>
            <a:ext cx="7455600" cy="2475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1680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E23A9-50C4-C76E-AA0C-6D268C2CE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9398D955-2294-029E-94E5-86670A349206}"/>
              </a:ext>
            </a:extLst>
          </p:cNvPr>
          <p:cNvSpPr/>
          <p:nvPr/>
        </p:nvSpPr>
        <p:spPr>
          <a:xfrm>
            <a:off x="1625600" y="2252121"/>
            <a:ext cx="9265920" cy="3425638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A786F0-0CC5-5603-4F06-192EF438D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1">
              <a:rPr lang="en-US" altLang="en-US" smtClean="0"/>
              <a:t>12/1/2025</a:t>
            </a:fld>
            <a:endParaRPr lang="zh-CN" alt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C409A4C-53C1-111F-62E5-395843F7C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27</a:t>
            </a:fld>
            <a:endParaRPr lang="zh-CN" alt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A4483FD2-1829-BF2A-8BFB-BA50F0185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altLang="zh-CN">
                <a:sym typeface="+mn-ea"/>
              </a:rPr>
              <a:t>Real-Time Time-Optimal Spacecraft Attitude Control</a:t>
            </a:r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D9649E-AEC6-7E20-8918-52A39E909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de-DE" altLang="en-US" sz="4400" dirty="0">
                <a:latin typeface="Arial Black" panose="020B0A04020102020204" charset="0"/>
                <a:cs typeface="Arial Black" panose="020B0A04020102020204" charset="0"/>
              </a:rPr>
              <a:t>Reliability Analysis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9BF8BF4-A65A-1EB5-EBB0-458265607324}"/>
              </a:ext>
            </a:extLst>
          </p:cNvPr>
          <p:cNvSpPr txBox="1"/>
          <p:nvPr/>
        </p:nvSpPr>
        <p:spPr>
          <a:xfrm>
            <a:off x="993140" y="2252123"/>
            <a:ext cx="6090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bg1">
                    <a:lumMod val="10000"/>
                  </a:schemeClr>
                </a:solidFill>
              </a:rPr>
              <a:t>PSO FULL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41A4F1C-A71F-236B-BFF1-F869C37C0289}"/>
              </a:ext>
            </a:extLst>
          </p:cNvPr>
          <p:cNvSpPr txBox="1"/>
          <p:nvPr/>
        </p:nvSpPr>
        <p:spPr>
          <a:xfrm>
            <a:off x="5786120" y="2252122"/>
            <a:ext cx="6090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bg1">
                    <a:lumMod val="10000"/>
                  </a:schemeClr>
                </a:solidFill>
              </a:rPr>
              <a:t>PSO STO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89BA3EE-A0D0-2043-B46C-07E4B19948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5600" y="2584572"/>
            <a:ext cx="9133840" cy="309318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F24B01E-74FA-854E-0D6E-70082B2497C4}"/>
                  </a:ext>
                </a:extLst>
              </p:cNvPr>
              <p:cNvSpPr txBox="1"/>
              <p:nvPr/>
            </p:nvSpPr>
            <p:spPr>
              <a:xfrm>
                <a:off x="3401060" y="1336223"/>
                <a:ext cx="6090920" cy="7214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de-DE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de-DE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abs</m:t>
                          </m:r>
                          <m:d>
                            <m:dPr>
                              <m:ctrlPr>
                                <a:rPr lang="de-DE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e-DE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de-DE" b="0" i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CGPOPS</m:t>
                                  </m:r>
                                </m:sub>
                              </m:sSub>
                              <m:r>
                                <a:rPr lang="de-DE" b="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de-DE" b="0" i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de-DE" b="0" i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unconverged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de-DE" b="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DE" b="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CGPOPS</m:t>
                              </m:r>
                            </m:sub>
                          </m:sSub>
                        </m:den>
                      </m:f>
                      <m:r>
                        <a:rPr lang="de-DE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×100</m:t>
                      </m:r>
                    </m:oMath>
                  </m:oMathPara>
                </a14:m>
                <a:endParaRPr lang="de-DE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F24B01E-74FA-854E-0D6E-70082B2497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1060" y="1336223"/>
                <a:ext cx="6090920" cy="72141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027449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F2C001-3671-A043-D879-6E0A48115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5D6A90-592D-62BF-8D27-CED0DED34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1">
              <a:rPr lang="en-US" altLang="en-US" smtClean="0"/>
              <a:t>12/1/2025</a:t>
            </a:fld>
            <a:endParaRPr lang="zh-CN" alt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519B0AB-0023-74C1-A729-EC84ACCD9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28</a:t>
            </a:fld>
            <a:endParaRPr lang="zh-CN" alt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011D11DC-7EE2-7842-2818-3E79E1BA7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altLang="zh-CN">
                <a:sym typeface="+mn-ea"/>
              </a:rPr>
              <a:t>Real-Time Time-Optimal Spacecraft Attitude Control</a:t>
            </a:r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9D4958-C813-20A5-776B-DD1200FD9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de-DE" altLang="en-US" sz="4400" dirty="0">
                <a:latin typeface="Arial Black" panose="020B0A04020102020204" charset="0"/>
                <a:cs typeface="Arial Black" panose="020B0A04020102020204" charset="0"/>
              </a:rPr>
              <a:t>Conclusion</a:t>
            </a:r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69C51B12-1FEA-1FF3-B406-8BF0022EF29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93464539"/>
              </p:ext>
            </p:extLst>
          </p:nvPr>
        </p:nvGraphicFramePr>
        <p:xfrm>
          <a:off x="838200" y="1941817"/>
          <a:ext cx="10759440" cy="31743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06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53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434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449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Symmetric Spacecraft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Asymmetric Spacecraft</a:t>
                      </a:r>
                    </a:p>
                  </a:txBody>
                  <a:tcPr anchor="ctr">
                    <a:lnR w="38100" cmpd="sng">
                      <a:solidFill>
                        <a:schemeClr val="tx1"/>
                      </a:solidFill>
                      <a:prstDash val="solid"/>
                    </a:ln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98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Computation Time</a:t>
                      </a:r>
                    </a:p>
                  </a:txBody>
                  <a:tcPr anchor="ctr">
                    <a:lnL w="38100" cmpd="sng">
                      <a:solidFill>
                        <a:schemeClr val="tx1"/>
                      </a:solidFill>
                      <a:prstDash val="solid"/>
                    </a:lnL>
                    <a:lnR w="38100" cmpd="sng">
                      <a:solidFill>
                        <a:schemeClr val="tx1"/>
                      </a:solidFill>
                      <a:prstDash val="soli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cs typeface="+mn-lt"/>
                        </a:rPr>
                        <a:t>PSO STO (110ms)</a:t>
                      </a:r>
                    </a:p>
                  </a:txBody>
                  <a:tcPr anchor="ctr">
                    <a:lnL w="38100" cmpd="sng">
                      <a:solidFill>
                        <a:schemeClr val="tx1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cs typeface="+mn-lt"/>
                        </a:rPr>
                        <a:t>No PSO (295ms)</a:t>
                      </a:r>
                    </a:p>
                  </a:txBody>
                  <a:tcPr anchor="ctr">
                    <a:lnR w="38100" cmpd="sng">
                      <a:solidFill>
                        <a:schemeClr val="tx1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98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Convergence Rate </a:t>
                      </a:r>
                    </a:p>
                  </a:txBody>
                  <a:tcPr anchor="ctr">
                    <a:lnL w="38100" cmpd="sng">
                      <a:solidFill>
                        <a:schemeClr val="tx1"/>
                      </a:solidFill>
                      <a:prstDash val="solid"/>
                    </a:lnL>
                    <a:lnR w="38100" cmpd="sng">
                      <a:solidFill>
                        <a:schemeClr val="tx1"/>
                      </a:solidFill>
                      <a:prstDash val="solid"/>
                    </a:lnR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cs typeface="+mn-lt"/>
                        </a:rPr>
                        <a:t>PSO FULL (92%)</a:t>
                      </a:r>
                    </a:p>
                  </a:txBody>
                  <a:tcPr anchor="ctr">
                    <a:lnL w="38100" cmpd="sng">
                      <a:solidFill>
                        <a:schemeClr val="tx1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cs typeface="+mn-lt"/>
                        </a:rPr>
                        <a:t>No PSO (70%)</a:t>
                      </a:r>
                    </a:p>
                  </a:txBody>
                  <a:tcPr anchor="ctr">
                    <a:lnR w="38100" cmpd="sng">
                      <a:solidFill>
                        <a:schemeClr val="tx1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449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Optimality</a:t>
                      </a:r>
                      <a:br>
                        <a:rPr lang="en-US" sz="1800" b="1" dirty="0">
                          <a:solidFill>
                            <a:schemeClr val="bg1"/>
                          </a:solidFill>
                        </a:rPr>
                      </a:b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Gap</a:t>
                      </a:r>
                    </a:p>
                  </a:txBody>
                  <a:tcPr anchor="ctr">
                    <a:lnL w="38100" cmpd="sng">
                      <a:solidFill>
                        <a:schemeClr val="tx1"/>
                      </a:solidFill>
                      <a:prstDash val="solid"/>
                    </a:lnL>
                    <a:lnR w="38100" cmpd="sng">
                      <a:solidFill>
                        <a:schemeClr val="tx1"/>
                      </a:solidFill>
                      <a:prstDash val="solid"/>
                    </a:lnR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cs typeface="+mn-lt"/>
                        </a:rPr>
                        <a:t> PSO FULL (0.4%)</a:t>
                      </a:r>
                    </a:p>
                  </a:txBody>
                  <a:tcPr anchor="ctr">
                    <a:lnL w="38100" cmpd="sng">
                      <a:solidFill>
                        <a:schemeClr val="tx1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cs typeface="+mn-lt"/>
                        </a:rPr>
                        <a:t>PSO FULL (0.9%)</a:t>
                      </a:r>
                    </a:p>
                  </a:txBody>
                  <a:tcPr anchor="ctr">
                    <a:lnR w="38100" cmpd="sng">
                      <a:solidFill>
                        <a:schemeClr val="tx1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449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Best Configuration</a:t>
                      </a:r>
                    </a:p>
                  </a:txBody>
                  <a:tcPr anchor="ctr">
                    <a:lnL w="38100" cmpd="sng">
                      <a:solidFill>
                        <a:schemeClr val="tx1"/>
                      </a:solidFill>
                      <a:prstDash val="soli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cs typeface="+mn-lt"/>
                          <a:sym typeface="+mn-ea"/>
                        </a:rPr>
                        <a:t> PSO FULL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cs typeface="+mn-lt"/>
                          <a:sym typeface="+mn-ea"/>
                        </a:rPr>
                        <a:t>No PSO</a:t>
                      </a:r>
                    </a:p>
                  </a:txBody>
                  <a:tcPr anchor="ctr">
                    <a:lnR w="38100" cmpd="sng">
                      <a:solidFill>
                        <a:schemeClr val="tx1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5743121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22923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44937-AB33-E9FD-B2AF-5C01168D5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1B74BA-757C-E474-1E76-81F58CA46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1">
              <a:rPr lang="en-US" altLang="en-US" smtClean="0"/>
              <a:t>12/1/2025</a:t>
            </a:fld>
            <a:endParaRPr lang="zh-CN" alt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C8EDCE2-F9A5-CCF8-48FA-8772B9591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29</a:t>
            </a:fld>
            <a:endParaRPr lang="zh-CN" alt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D1ECC66F-B781-CA35-DA01-BD4220BFE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altLang="zh-CN">
                <a:sym typeface="+mn-ea"/>
              </a:rPr>
              <a:t>Real-Time Time-Optimal Spacecraft Attitude Control</a:t>
            </a:r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2B857E-2FE2-6B01-E158-04ED7224E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de-DE" altLang="en-US" sz="4400" dirty="0">
                <a:latin typeface="Arial Black" panose="020B0A04020102020204" charset="0"/>
                <a:cs typeface="Arial Black" panose="020B0A04020102020204" charset="0"/>
              </a:rPr>
              <a:t>Conclusion</a:t>
            </a:r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AFFFCD34-6B13-A681-CF9D-3A4727055EA2}"/>
              </a:ext>
            </a:extLst>
          </p:cNvPr>
          <p:cNvGraphicFramePr/>
          <p:nvPr/>
        </p:nvGraphicFramePr>
        <p:xfrm>
          <a:off x="838200" y="1941817"/>
          <a:ext cx="10759440" cy="31743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06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53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434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449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Symmetric Spacecraft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Asymmetric Spacecraft</a:t>
                      </a:r>
                    </a:p>
                  </a:txBody>
                  <a:tcPr anchor="ctr">
                    <a:lnR w="38100" cmpd="sng">
                      <a:solidFill>
                        <a:schemeClr val="tx1"/>
                      </a:solidFill>
                      <a:prstDash val="solid"/>
                    </a:ln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98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Computation Time</a:t>
                      </a:r>
                    </a:p>
                  </a:txBody>
                  <a:tcPr anchor="ctr">
                    <a:lnL w="38100" cmpd="sng">
                      <a:solidFill>
                        <a:schemeClr val="tx1"/>
                      </a:solidFill>
                      <a:prstDash val="solid"/>
                    </a:lnL>
                    <a:lnR w="38100" cmpd="sng">
                      <a:solidFill>
                        <a:schemeClr val="tx1"/>
                      </a:solidFill>
                      <a:prstDash val="soli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cs typeface="+mn-lt"/>
                        </a:rPr>
                        <a:t>PSO STO (110ms)</a:t>
                      </a:r>
                    </a:p>
                  </a:txBody>
                  <a:tcPr anchor="ctr">
                    <a:lnL w="38100" cmpd="sng">
                      <a:solidFill>
                        <a:schemeClr val="tx1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cs typeface="+mn-lt"/>
                        </a:rPr>
                        <a:t>No PSO (295ms)</a:t>
                      </a:r>
                    </a:p>
                  </a:txBody>
                  <a:tcPr anchor="ctr">
                    <a:lnR w="38100" cmpd="sng">
                      <a:solidFill>
                        <a:schemeClr val="tx1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98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Convergence Rate </a:t>
                      </a:r>
                    </a:p>
                  </a:txBody>
                  <a:tcPr anchor="ctr">
                    <a:lnL w="38100" cmpd="sng">
                      <a:solidFill>
                        <a:schemeClr val="tx1"/>
                      </a:solidFill>
                      <a:prstDash val="solid"/>
                    </a:lnL>
                    <a:lnR w="38100" cmpd="sng">
                      <a:solidFill>
                        <a:schemeClr val="tx1"/>
                      </a:solidFill>
                      <a:prstDash val="solid"/>
                    </a:lnR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cs typeface="+mn-lt"/>
                        </a:rPr>
                        <a:t>PSO FULL (92%)</a:t>
                      </a:r>
                    </a:p>
                  </a:txBody>
                  <a:tcPr anchor="ctr">
                    <a:lnL w="38100" cmpd="sng">
                      <a:solidFill>
                        <a:schemeClr val="tx1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cs typeface="+mn-lt"/>
                        </a:rPr>
                        <a:t>No PSO (70%)</a:t>
                      </a:r>
                    </a:p>
                  </a:txBody>
                  <a:tcPr anchor="ctr">
                    <a:lnR w="38100" cmpd="sng">
                      <a:solidFill>
                        <a:schemeClr val="tx1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449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Optimality</a:t>
                      </a:r>
                      <a:br>
                        <a:rPr lang="en-US" sz="1800" b="1" dirty="0">
                          <a:solidFill>
                            <a:schemeClr val="bg1"/>
                          </a:solidFill>
                        </a:rPr>
                      </a:b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Gap</a:t>
                      </a:r>
                    </a:p>
                  </a:txBody>
                  <a:tcPr anchor="ctr">
                    <a:lnL w="38100" cmpd="sng">
                      <a:solidFill>
                        <a:schemeClr val="tx1"/>
                      </a:solidFill>
                      <a:prstDash val="solid"/>
                    </a:lnL>
                    <a:lnR w="38100" cmpd="sng">
                      <a:solidFill>
                        <a:schemeClr val="tx1"/>
                      </a:solidFill>
                      <a:prstDash val="solid"/>
                    </a:lnR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cs typeface="+mn-lt"/>
                        </a:rPr>
                        <a:t> PSO FULL (0.4%)</a:t>
                      </a:r>
                    </a:p>
                  </a:txBody>
                  <a:tcPr anchor="ctr">
                    <a:lnL w="38100" cmpd="sng">
                      <a:solidFill>
                        <a:schemeClr val="tx1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cs typeface="+mn-lt"/>
                        </a:rPr>
                        <a:t>PSO FULL (0.9%)</a:t>
                      </a:r>
                    </a:p>
                  </a:txBody>
                  <a:tcPr anchor="ctr">
                    <a:lnR w="38100" cmpd="sng">
                      <a:solidFill>
                        <a:schemeClr val="tx1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449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Best Configuration</a:t>
                      </a:r>
                    </a:p>
                  </a:txBody>
                  <a:tcPr anchor="ctr">
                    <a:lnL w="38100" cmpd="sng">
                      <a:solidFill>
                        <a:schemeClr val="tx1"/>
                      </a:solidFill>
                      <a:prstDash val="soli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cs typeface="+mn-lt"/>
                          <a:sym typeface="+mn-ea"/>
                        </a:rPr>
                        <a:t> PSO FULL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cs typeface="+mn-lt"/>
                          <a:sym typeface="+mn-ea"/>
                        </a:rPr>
                        <a:t>No PSO</a:t>
                      </a:r>
                    </a:p>
                  </a:txBody>
                  <a:tcPr anchor="ctr">
                    <a:lnR w="38100" cmpd="sng">
                      <a:solidFill>
                        <a:schemeClr val="tx1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5743121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25574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66D547-5705-409E-519C-5CD4937B9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8EFC90-E5E1-1100-E702-251EB79EB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1">
              <a:rPr lang="en-US" altLang="en-US" smtClean="0"/>
              <a:t>12/1/2025</a:t>
            </a:fld>
            <a:endParaRPr lang="zh-CN" alt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8F5B118-8DAA-A1E1-8C5D-712B59D93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30</a:t>
            </a:fld>
            <a:endParaRPr lang="zh-CN" alt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DF8DEF13-5AE6-F7E5-957C-D582CCFD2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altLang="zh-CN">
                <a:sym typeface="+mn-ea"/>
              </a:rPr>
              <a:t>Real-Time Time-Optimal Spacecraft Attitude Control</a:t>
            </a:r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C50315-30FF-EF80-A87C-B4683EA14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de-DE" altLang="en-US" sz="4400" dirty="0">
                <a:latin typeface="Arial Black" panose="020B0A04020102020204" charset="0"/>
                <a:cs typeface="Arial Black" panose="020B0A04020102020204" charset="0"/>
              </a:rPr>
              <a:t>Further Work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14EFF322-170E-E5AD-4302-85D211A364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043271"/>
            <a:ext cx="12192000" cy="5148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Incorporate flexible-body dynamics;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 control-rate constraints to reflect actuator bandwidth limits;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Accept varying mass properties at runtime;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 configuration-specific and adaptive PSO tuning strategies;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Expand parameter search space beyond current 1000-case study;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 path constraints</a:t>
            </a:r>
            <a:r>
              <a:rPr lang="en-US" altLang="en-US" sz="2400" dirty="0">
                <a:latin typeface="Arial" panose="020B0604020202020204" pitchFamily="34" charset="0"/>
              </a:rPr>
              <a:t> such as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keep-out cones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Hardware-in-the-loop validation</a:t>
            </a:r>
          </a:p>
        </p:txBody>
      </p:sp>
    </p:spTree>
    <p:extLst>
      <p:ext uri="{BB962C8B-B14F-4D97-AF65-F5344CB8AC3E}">
        <p14:creationId xmlns:p14="http://schemas.microsoft.com/office/powerpoint/2010/main" val="7030757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F96F1-1E63-8EFE-3750-0A2C9F595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CE3DFB-FB88-B6F4-518C-3E22E6ACA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1">
              <a:rPr lang="en-US" altLang="en-US" smtClean="0"/>
              <a:t>12/1/2025</a:t>
            </a:fld>
            <a:endParaRPr lang="zh-CN" alt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1BA8FEF-877A-5063-8617-EF4B0ED33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31</a:t>
            </a:fld>
            <a:endParaRPr lang="zh-CN" alt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61C92C0E-C891-782A-0CF5-0A597F22C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altLang="zh-CN">
                <a:sym typeface="+mn-ea"/>
              </a:rPr>
              <a:t>Real-Time Time-Optimal Spacecraft Attitude Control</a:t>
            </a:r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9194C8-C4DB-ACBE-37CA-4D3AD1AB85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1755"/>
            <a:ext cx="10515600" cy="1325563"/>
          </a:xfrm>
        </p:spPr>
        <p:txBody>
          <a:bodyPr/>
          <a:lstStyle/>
          <a:p>
            <a:r>
              <a:rPr lang="de-DE" altLang="en-US" sz="4400" dirty="0">
                <a:latin typeface="Arial Black" panose="020B0A04020102020204" charset="0"/>
                <a:cs typeface="Arial Black" panose="020B0A04020102020204" charset="0"/>
              </a:rPr>
              <a:t>The End!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2CBB6C-65B1-A9F5-0BED-E6EE41F4E268}"/>
              </a:ext>
            </a:extLst>
          </p:cNvPr>
          <p:cNvSpPr txBox="1"/>
          <p:nvPr/>
        </p:nvSpPr>
        <p:spPr>
          <a:xfrm>
            <a:off x="4211320" y="4096245"/>
            <a:ext cx="3769360" cy="456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de-DE" dirty="0"/>
              <a:t>I am open to questions </a:t>
            </a:r>
            <a:r>
              <a:rPr lang="de-DE" dirty="0">
                <a:sym typeface="Wingdings" panose="05000000000000000000" pitchFamily="2" charset="2"/>
              </a:rPr>
              <a:t>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963157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1">
              <a:rPr lang="en-US" altLang="en-US" smtClean="0"/>
              <a:t>12/1/2025</a:t>
            </a:fld>
            <a:endParaRPr lang="zh-CN" alt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32</a:t>
            </a:fld>
            <a:endParaRPr lang="zh-CN" alt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altLang="zh-CN">
                <a:sym typeface="+mn-ea"/>
              </a:rPr>
              <a:t>Real-Time Time-Optimal Spacecraft Attitude Control</a:t>
            </a:r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de-DE" altLang="en-US" sz="4400" dirty="0">
                <a:latin typeface="Arial Black" panose="020B0A04020102020204" charset="0"/>
                <a:cs typeface="Arial Black" panose="020B0A04020102020204" charset="0"/>
              </a:rPr>
              <a:t>Algorithm Optimisation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1012190" y="1131570"/>
            <a:ext cx="10341610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10000"/>
              </a:lnSpc>
              <a:buAutoNum type="arabicPeriod"/>
            </a:pPr>
            <a:r>
              <a:rPr lang="de-DE" altLang="en-US" b="1" dirty="0">
                <a:cs typeface="+mn-lt"/>
              </a:rPr>
              <a:t>G</a:t>
            </a:r>
            <a:r>
              <a:rPr lang="de-DE" altLang="en-US" dirty="0">
                <a:cs typeface="+mn-lt"/>
              </a:rPr>
              <a:t>PU </a:t>
            </a:r>
            <a:r>
              <a:rPr lang="de-DE" altLang="en-US" dirty="0">
                <a:cs typeface="+mn-lt"/>
                <a:sym typeface="+mn-ea"/>
              </a:rPr>
              <a:t>VS </a:t>
            </a:r>
            <a:r>
              <a:rPr lang="de-DE" altLang="en-US" b="1" dirty="0">
                <a:cs typeface="+mn-lt"/>
                <a:sym typeface="+mn-ea"/>
              </a:rPr>
              <a:t>C</a:t>
            </a:r>
            <a:r>
              <a:rPr lang="de-DE" altLang="en-US" dirty="0">
                <a:cs typeface="+mn-lt"/>
                <a:sym typeface="+mn-ea"/>
              </a:rPr>
              <a:t>PU </a:t>
            </a:r>
            <a:r>
              <a:rPr lang="de-DE" altLang="en-US" dirty="0">
                <a:cs typeface="+mn-lt"/>
              </a:rPr>
              <a:t>Dynamics Propagation </a:t>
            </a:r>
          </a:p>
          <a:p>
            <a:pPr marL="742950" lvl="1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de-DE" altLang="en-US" sz="1600" b="1" dirty="0">
                <a:cs typeface="+mn-lt"/>
              </a:rPr>
              <a:t>Result:</a:t>
            </a:r>
            <a:r>
              <a:rPr lang="de-DE" altLang="en-US" sz="1600" dirty="0">
                <a:cs typeface="+mn-lt"/>
              </a:rPr>
              <a:t> CPU propagation was ~4x as fast as GPU</a:t>
            </a:r>
          </a:p>
          <a:p>
            <a:pPr marL="742950" lvl="1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de-DE" altLang="en-US" sz="1600" b="1" dirty="0">
                <a:cs typeface="+mn-lt"/>
                <a:sym typeface="+mn-ea"/>
              </a:rPr>
              <a:t>Reason:</a:t>
            </a:r>
            <a:r>
              <a:rPr lang="de-DE" altLang="en-US" sz="1600" dirty="0">
                <a:cs typeface="+mn-lt"/>
                <a:sym typeface="+mn-ea"/>
              </a:rPr>
              <a:t> Problem size is not significant to justify GPU utilization overhead (N_steps = 50)</a:t>
            </a:r>
            <a:endParaRPr lang="de-DE" altLang="en-US" sz="1600" dirty="0">
              <a:cs typeface="+mn-lt"/>
            </a:endParaRPr>
          </a:p>
          <a:p>
            <a:pPr marL="742950" lvl="1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de-DE" altLang="en-US" sz="1600" b="1" dirty="0">
                <a:cs typeface="+mn-lt"/>
              </a:rPr>
              <a:t>Conclusion:</a:t>
            </a:r>
            <a:r>
              <a:rPr lang="de-DE" altLang="en-US" sz="1600" dirty="0">
                <a:cs typeface="+mn-lt"/>
              </a:rPr>
              <a:t> Propagate dynamics on CPU</a:t>
            </a:r>
          </a:p>
          <a:p>
            <a:pPr marL="742950" lvl="1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de-DE" altLang="en-US" sz="1600" dirty="0">
              <a:cs typeface="+mn-lt"/>
            </a:endParaRPr>
          </a:p>
          <a:p>
            <a:pPr marL="342900" lvl="0" indent="-342900">
              <a:lnSpc>
                <a:spcPct val="110000"/>
              </a:lnSpc>
              <a:buFont typeface="Arial" panose="020B0604020202020204" pitchFamily="34" charset="0"/>
              <a:buAutoNum type="arabicPeriod"/>
            </a:pPr>
            <a:r>
              <a:rPr lang="de-DE" altLang="en-US" b="1" dirty="0">
                <a:cs typeface="+mn-lt"/>
              </a:rPr>
              <a:t>Im</a:t>
            </a:r>
            <a:r>
              <a:rPr lang="de-DE" altLang="en-US" dirty="0">
                <a:cs typeface="+mn-lt"/>
              </a:rPr>
              <a:t>plicit </a:t>
            </a:r>
            <a:r>
              <a:rPr lang="de-DE" altLang="en-US" dirty="0">
                <a:cs typeface="+mn-lt"/>
                <a:sym typeface="+mn-ea"/>
              </a:rPr>
              <a:t>VS </a:t>
            </a:r>
            <a:r>
              <a:rPr lang="de-DE" altLang="en-US" b="1" dirty="0">
                <a:cs typeface="+mn-lt"/>
                <a:sym typeface="+mn-ea"/>
              </a:rPr>
              <a:t>Ex</a:t>
            </a:r>
            <a:r>
              <a:rPr lang="de-DE" altLang="en-US" dirty="0">
                <a:cs typeface="+mn-lt"/>
                <a:sym typeface="+mn-ea"/>
              </a:rPr>
              <a:t>plicit </a:t>
            </a:r>
            <a:r>
              <a:rPr lang="de-DE" altLang="en-US" dirty="0">
                <a:cs typeface="+mn-lt"/>
              </a:rPr>
              <a:t>Numerical Integration (CVODES VS RK4)</a:t>
            </a:r>
          </a:p>
          <a:p>
            <a:pPr marL="800100" lvl="1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de-DE" altLang="en-US" sz="1600" b="1" dirty="0">
                <a:cs typeface="+mn-lt"/>
              </a:rPr>
              <a:t>Result:</a:t>
            </a:r>
            <a:r>
              <a:rPr lang="de-DE" altLang="en-US" sz="1600" dirty="0">
                <a:cs typeface="+mn-lt"/>
              </a:rPr>
              <a:t> Although more robust, overhead from implicit integration is overwhelmingly greater</a:t>
            </a:r>
          </a:p>
          <a:p>
            <a:pPr marL="800100" lvl="1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de-DE" altLang="en-US" sz="1600" b="1" dirty="0">
                <a:cs typeface="+mn-lt"/>
              </a:rPr>
              <a:t>Reason: </a:t>
            </a:r>
            <a:r>
              <a:rPr lang="de-DE" altLang="en-US" sz="1600" dirty="0">
                <a:cs typeface="+mn-lt"/>
              </a:rPr>
              <a:t>CVODES is very heavy, even when used with CUDA</a:t>
            </a:r>
          </a:p>
          <a:p>
            <a:pPr marL="800100" lvl="1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de-DE" altLang="en-US" sz="1600" b="1" dirty="0">
                <a:cs typeface="+mn-lt"/>
              </a:rPr>
              <a:t>Conclusion: </a:t>
            </a:r>
            <a:r>
              <a:rPr lang="de-DE" altLang="en-US" sz="1600" dirty="0">
                <a:cs typeface="+mn-lt"/>
              </a:rPr>
              <a:t>Use RK4 as the numerical dynamics propagator</a:t>
            </a:r>
          </a:p>
          <a:p>
            <a:pPr marL="800100" lvl="1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de-DE" altLang="en-US" sz="1600" dirty="0">
              <a:cs typeface="+mn-lt"/>
            </a:endParaRPr>
          </a:p>
          <a:p>
            <a:pPr marL="342900" lvl="0" indent="-342900">
              <a:lnSpc>
                <a:spcPct val="110000"/>
              </a:lnSpc>
              <a:buFont typeface="Arial" panose="020B0604020202020204" pitchFamily="34" charset="0"/>
              <a:buAutoNum type="arabicPeriod"/>
            </a:pPr>
            <a:r>
              <a:rPr lang="de-DE" altLang="en-US" dirty="0">
                <a:cs typeface="+mn-lt"/>
              </a:rPr>
              <a:t>Fatrop vs IPOpt NLP </a:t>
            </a:r>
            <a:r>
              <a:rPr lang="de-DE" altLang="en-US" dirty="0">
                <a:cs typeface="+mn-lt"/>
                <a:sym typeface="+mn-ea"/>
              </a:rPr>
              <a:t>gradient-based </a:t>
            </a:r>
            <a:r>
              <a:rPr lang="de-DE" altLang="en-US" dirty="0">
                <a:cs typeface="+mn-lt"/>
              </a:rPr>
              <a:t>solvers</a:t>
            </a:r>
          </a:p>
          <a:p>
            <a:pPr marL="800100" lvl="1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de-DE" altLang="en-US" sz="1600" b="1" dirty="0">
                <a:cs typeface="+mn-lt"/>
              </a:rPr>
              <a:t>Result:</a:t>
            </a:r>
            <a:r>
              <a:rPr lang="de-DE" altLang="en-US" sz="1600" dirty="0">
                <a:cs typeface="+mn-lt"/>
              </a:rPr>
              <a:t> Fatrop is </a:t>
            </a:r>
            <a:r>
              <a:rPr lang="de-DE" altLang="en-US" sz="1600" dirty="0">
                <a:cs typeface="+mn-lt"/>
                <a:sym typeface="+mn-ea"/>
              </a:rPr>
              <a:t>~</a:t>
            </a:r>
            <a:r>
              <a:rPr lang="de-DE" altLang="en-US" sz="1600" dirty="0">
                <a:cs typeface="+mn-lt"/>
              </a:rPr>
              <a:t>3x as fast as IPOpt</a:t>
            </a:r>
          </a:p>
          <a:p>
            <a:pPr marL="800100" lvl="1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de-DE" altLang="en-US" sz="1600" b="1" dirty="0">
                <a:cs typeface="+mn-lt"/>
              </a:rPr>
              <a:t>Reason:</a:t>
            </a:r>
            <a:r>
              <a:rPr lang="de-DE" altLang="en-US" sz="1600" dirty="0">
                <a:cs typeface="+mn-lt"/>
              </a:rPr>
              <a:t> Leverages problem sparsity better by being more restrictive with NLP structure</a:t>
            </a:r>
          </a:p>
          <a:p>
            <a:pPr marL="800100" lvl="1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de-DE" altLang="en-US" sz="1600" b="1" dirty="0">
                <a:cs typeface="+mn-lt"/>
              </a:rPr>
              <a:t>Conclusion:</a:t>
            </a:r>
            <a:r>
              <a:rPr lang="de-DE" altLang="en-US" sz="1600" dirty="0">
                <a:cs typeface="+mn-lt"/>
              </a:rPr>
              <a:t> Use Fatrop as the NLP gradient-based solver</a:t>
            </a:r>
          </a:p>
          <a:p>
            <a:pPr marL="800100" lvl="1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de-DE" altLang="en-US" sz="1600" dirty="0">
              <a:cs typeface="+mn-lt"/>
            </a:endParaRPr>
          </a:p>
          <a:p>
            <a:pPr marL="342900" lvl="0" indent="-342900">
              <a:lnSpc>
                <a:spcPct val="110000"/>
              </a:lnSpc>
              <a:buFont typeface="Arial" panose="020B0604020202020204" pitchFamily="34" charset="0"/>
              <a:buAutoNum type="arabicPeriod"/>
            </a:pPr>
            <a:r>
              <a:rPr lang="de-DE" altLang="en-US" dirty="0">
                <a:cs typeface="+mn-lt"/>
              </a:rPr>
              <a:t>CasADi automatic C-code generation VS C++</a:t>
            </a:r>
          </a:p>
          <a:p>
            <a:pPr marL="800100" lvl="1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de-DE" altLang="en-US" sz="1600" b="1" dirty="0">
                <a:cs typeface="+mn-lt"/>
              </a:rPr>
              <a:t>Result:</a:t>
            </a:r>
            <a:r>
              <a:rPr lang="de-DE" altLang="en-US" sz="1600" dirty="0">
                <a:cs typeface="+mn-lt"/>
              </a:rPr>
              <a:t> C++ was ~5x slower</a:t>
            </a:r>
          </a:p>
          <a:p>
            <a:pPr marL="800100" lvl="1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de-DE" altLang="en-US" sz="1600" b="1" dirty="0">
                <a:cs typeface="+mn-lt"/>
              </a:rPr>
              <a:t>Reason:</a:t>
            </a:r>
            <a:r>
              <a:rPr lang="de-DE" altLang="en-US" sz="1600" dirty="0">
                <a:cs typeface="+mn-lt"/>
              </a:rPr>
              <a:t> Compiled C-code is self-contained which reduces function calling overhead</a:t>
            </a:r>
          </a:p>
          <a:p>
            <a:pPr marL="800100" lvl="1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de-DE" altLang="en-US" sz="1600" b="1" dirty="0">
                <a:cs typeface="+mn-lt"/>
              </a:rPr>
              <a:t>Conclusion:</a:t>
            </a:r>
            <a:r>
              <a:rPr lang="de-DE" altLang="en-US" sz="1600" dirty="0">
                <a:cs typeface="+mn-lt"/>
              </a:rPr>
              <a:t> Generate C-code</a:t>
            </a:r>
          </a:p>
          <a:p>
            <a:pPr marL="800100" lvl="1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de-DE" altLang="en-US" sz="1600" dirty="0">
              <a:cs typeface="+mn-lt"/>
            </a:endParaRPr>
          </a:p>
          <a:p>
            <a:pPr marL="800100" lvl="1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de-DE" altLang="en-US" sz="1600" dirty="0">
              <a:cs typeface="+mn-lt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FF02A26-E0FE-3780-0D2C-0AFA4BD87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80D8AE-2EDD-80D6-AEA6-857AB6164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1">
              <a:rPr lang="en-US" altLang="en-US" smtClean="0"/>
              <a:t>12/1/2025</a:t>
            </a:fld>
            <a:endParaRPr lang="zh-CN" alt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F121AA6-4AD2-12BA-DB14-E8D114B32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33</a:t>
            </a:fld>
            <a:endParaRPr lang="zh-CN" alt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8C98088C-1189-AF47-024C-E37F0ADB5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altLang="zh-CN">
                <a:sym typeface="+mn-ea"/>
              </a:rPr>
              <a:t>Real-Time Time-Optimal Spacecraft Attitude Control</a:t>
            </a:r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DBE5E0-22B9-CDAE-D1D9-57ADA97C1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de-DE" altLang="en-US" sz="4400" dirty="0">
                <a:latin typeface="Arial Black" panose="020B0A04020102020204" charset="0"/>
                <a:cs typeface="Arial Black" panose="020B0A04020102020204" charset="0"/>
              </a:rPr>
              <a:t>Algorithm Optimisation</a:t>
            </a: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E8ED1C77-1960-E1A8-1681-FD109F331B1B}"/>
              </a:ext>
            </a:extLst>
          </p:cNvPr>
          <p:cNvSpPr txBox="1"/>
          <p:nvPr/>
        </p:nvSpPr>
        <p:spPr>
          <a:xfrm>
            <a:off x="1012190" y="1131570"/>
            <a:ext cx="10341610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10000"/>
              </a:lnSpc>
              <a:buAutoNum type="arabicPeriod"/>
            </a:pPr>
            <a:r>
              <a:rPr lang="de-DE" altLang="en-US" b="1" dirty="0">
                <a:cs typeface="+mn-lt"/>
              </a:rPr>
              <a:t>G</a:t>
            </a:r>
            <a:r>
              <a:rPr lang="de-DE" altLang="en-US" dirty="0">
                <a:cs typeface="+mn-lt"/>
              </a:rPr>
              <a:t>PU </a:t>
            </a:r>
            <a:r>
              <a:rPr lang="de-DE" altLang="en-US" dirty="0">
                <a:cs typeface="+mn-lt"/>
                <a:sym typeface="+mn-ea"/>
              </a:rPr>
              <a:t>VS </a:t>
            </a:r>
            <a:r>
              <a:rPr lang="de-DE" altLang="en-US" b="1" dirty="0">
                <a:cs typeface="+mn-lt"/>
                <a:sym typeface="+mn-ea"/>
              </a:rPr>
              <a:t>C</a:t>
            </a:r>
            <a:r>
              <a:rPr lang="de-DE" altLang="en-US" dirty="0">
                <a:cs typeface="+mn-lt"/>
                <a:sym typeface="+mn-ea"/>
              </a:rPr>
              <a:t>PU </a:t>
            </a:r>
            <a:r>
              <a:rPr lang="de-DE" altLang="en-US" dirty="0">
                <a:cs typeface="+mn-lt"/>
              </a:rPr>
              <a:t>Dynamics Propagation </a:t>
            </a:r>
          </a:p>
          <a:p>
            <a:pPr marL="742950" lvl="1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de-DE" altLang="en-US" sz="1600" b="1" dirty="0">
                <a:cs typeface="+mn-lt"/>
              </a:rPr>
              <a:t>Result:</a:t>
            </a:r>
            <a:r>
              <a:rPr lang="de-DE" altLang="en-US" sz="1600" dirty="0">
                <a:cs typeface="+mn-lt"/>
              </a:rPr>
              <a:t> CPU propagation was ~4x as fast as GPU</a:t>
            </a:r>
          </a:p>
          <a:p>
            <a:pPr marL="742950" lvl="1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de-DE" altLang="en-US" sz="1600" b="1" dirty="0">
                <a:cs typeface="+mn-lt"/>
                <a:sym typeface="+mn-ea"/>
              </a:rPr>
              <a:t>Reason:</a:t>
            </a:r>
            <a:r>
              <a:rPr lang="de-DE" altLang="en-US" sz="1600" dirty="0">
                <a:cs typeface="+mn-lt"/>
                <a:sym typeface="+mn-ea"/>
              </a:rPr>
              <a:t> Problem size is not significant to justify GPU utilization overhead (N_steps = 50)</a:t>
            </a:r>
            <a:endParaRPr lang="de-DE" altLang="en-US" sz="1600" dirty="0">
              <a:cs typeface="+mn-lt"/>
            </a:endParaRPr>
          </a:p>
          <a:p>
            <a:pPr marL="742950" lvl="1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de-DE" altLang="en-US" sz="1600" b="1" dirty="0">
                <a:cs typeface="+mn-lt"/>
              </a:rPr>
              <a:t>Conclusion:</a:t>
            </a:r>
            <a:r>
              <a:rPr lang="de-DE" altLang="en-US" sz="1600" dirty="0">
                <a:cs typeface="+mn-lt"/>
              </a:rPr>
              <a:t> Propagate dynamics on CPU</a:t>
            </a:r>
          </a:p>
          <a:p>
            <a:pPr marL="742950" lvl="1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de-DE" altLang="en-US" sz="1600" dirty="0">
              <a:cs typeface="+mn-lt"/>
            </a:endParaRPr>
          </a:p>
          <a:p>
            <a:pPr marL="342900" lvl="0" indent="-342900">
              <a:lnSpc>
                <a:spcPct val="110000"/>
              </a:lnSpc>
              <a:buFont typeface="Arial" panose="020B0604020202020204" pitchFamily="34" charset="0"/>
              <a:buAutoNum type="arabicPeriod"/>
            </a:pPr>
            <a:r>
              <a:rPr lang="de-DE" altLang="en-US" b="1" dirty="0">
                <a:cs typeface="+mn-lt"/>
              </a:rPr>
              <a:t>Im</a:t>
            </a:r>
            <a:r>
              <a:rPr lang="de-DE" altLang="en-US" dirty="0">
                <a:cs typeface="+mn-lt"/>
              </a:rPr>
              <a:t>plicit </a:t>
            </a:r>
            <a:r>
              <a:rPr lang="de-DE" altLang="en-US" dirty="0">
                <a:cs typeface="+mn-lt"/>
                <a:sym typeface="+mn-ea"/>
              </a:rPr>
              <a:t>VS </a:t>
            </a:r>
            <a:r>
              <a:rPr lang="de-DE" altLang="en-US" b="1" dirty="0">
                <a:cs typeface="+mn-lt"/>
                <a:sym typeface="+mn-ea"/>
              </a:rPr>
              <a:t>Ex</a:t>
            </a:r>
            <a:r>
              <a:rPr lang="de-DE" altLang="en-US" dirty="0">
                <a:cs typeface="+mn-lt"/>
                <a:sym typeface="+mn-ea"/>
              </a:rPr>
              <a:t>plicit </a:t>
            </a:r>
            <a:r>
              <a:rPr lang="de-DE" altLang="en-US" dirty="0">
                <a:cs typeface="+mn-lt"/>
              </a:rPr>
              <a:t>Numerical Integration (CVODES VS RK4)</a:t>
            </a:r>
          </a:p>
          <a:p>
            <a:pPr marL="800100" lvl="1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de-DE" altLang="en-US" sz="1600" b="1" dirty="0">
                <a:cs typeface="+mn-lt"/>
              </a:rPr>
              <a:t>Result:</a:t>
            </a:r>
            <a:r>
              <a:rPr lang="de-DE" altLang="en-US" sz="1600" dirty="0">
                <a:cs typeface="+mn-lt"/>
              </a:rPr>
              <a:t> Although more robust, overhead from implicit integration is overwhelmingly greater</a:t>
            </a:r>
          </a:p>
          <a:p>
            <a:pPr marL="800100" lvl="1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de-DE" altLang="en-US" sz="1600" b="1" dirty="0">
                <a:cs typeface="+mn-lt"/>
              </a:rPr>
              <a:t>Reason: </a:t>
            </a:r>
            <a:r>
              <a:rPr lang="de-DE" altLang="en-US" sz="1600" dirty="0">
                <a:cs typeface="+mn-lt"/>
              </a:rPr>
              <a:t>CVODES is very heavy, even when used with CUDA</a:t>
            </a:r>
          </a:p>
          <a:p>
            <a:pPr marL="800100" lvl="1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de-DE" altLang="en-US" sz="1600" b="1" dirty="0">
                <a:cs typeface="+mn-lt"/>
              </a:rPr>
              <a:t>Conclusion: </a:t>
            </a:r>
            <a:r>
              <a:rPr lang="de-DE" altLang="en-US" sz="1600" dirty="0">
                <a:cs typeface="+mn-lt"/>
              </a:rPr>
              <a:t>Use RK4 as the numerical dynamics propagator</a:t>
            </a:r>
          </a:p>
          <a:p>
            <a:pPr marL="800100" lvl="1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de-DE" altLang="en-US" sz="1600" dirty="0">
              <a:cs typeface="+mn-lt"/>
            </a:endParaRPr>
          </a:p>
          <a:p>
            <a:pPr marL="342900" lvl="0" indent="-342900">
              <a:lnSpc>
                <a:spcPct val="110000"/>
              </a:lnSpc>
              <a:buFont typeface="Arial" panose="020B0604020202020204" pitchFamily="34" charset="0"/>
              <a:buAutoNum type="arabicPeriod"/>
            </a:pPr>
            <a:r>
              <a:rPr lang="de-DE" altLang="en-US" dirty="0">
                <a:cs typeface="+mn-lt"/>
              </a:rPr>
              <a:t>Fatrop vs IPOpt NLP </a:t>
            </a:r>
            <a:r>
              <a:rPr lang="de-DE" altLang="en-US" dirty="0">
                <a:cs typeface="+mn-lt"/>
                <a:sym typeface="+mn-ea"/>
              </a:rPr>
              <a:t>gradient-based </a:t>
            </a:r>
            <a:r>
              <a:rPr lang="de-DE" altLang="en-US" dirty="0">
                <a:cs typeface="+mn-lt"/>
              </a:rPr>
              <a:t>solvers</a:t>
            </a:r>
          </a:p>
          <a:p>
            <a:pPr marL="800100" lvl="1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de-DE" altLang="en-US" sz="1600" b="1" dirty="0">
                <a:cs typeface="+mn-lt"/>
              </a:rPr>
              <a:t>Result:</a:t>
            </a:r>
            <a:r>
              <a:rPr lang="de-DE" altLang="en-US" sz="1600" dirty="0">
                <a:cs typeface="+mn-lt"/>
              </a:rPr>
              <a:t> Fatrop is </a:t>
            </a:r>
            <a:r>
              <a:rPr lang="de-DE" altLang="en-US" sz="1600" dirty="0">
                <a:cs typeface="+mn-lt"/>
                <a:sym typeface="+mn-ea"/>
              </a:rPr>
              <a:t>~</a:t>
            </a:r>
            <a:r>
              <a:rPr lang="de-DE" altLang="en-US" sz="1600" dirty="0">
                <a:cs typeface="+mn-lt"/>
              </a:rPr>
              <a:t>3x as fast as IPOpt</a:t>
            </a:r>
          </a:p>
          <a:p>
            <a:pPr marL="800100" lvl="1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de-DE" altLang="en-US" sz="1600" b="1" dirty="0">
                <a:cs typeface="+mn-lt"/>
              </a:rPr>
              <a:t>Reason:</a:t>
            </a:r>
            <a:r>
              <a:rPr lang="de-DE" altLang="en-US" sz="1600" dirty="0">
                <a:cs typeface="+mn-lt"/>
              </a:rPr>
              <a:t> Leverages problem sparsity better by being more restrictive with NLP structure</a:t>
            </a:r>
          </a:p>
          <a:p>
            <a:pPr marL="800100" lvl="1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de-DE" altLang="en-US" sz="1600" b="1" dirty="0">
                <a:cs typeface="+mn-lt"/>
              </a:rPr>
              <a:t>Conclusion:</a:t>
            </a:r>
            <a:r>
              <a:rPr lang="de-DE" altLang="en-US" sz="1600" dirty="0">
                <a:cs typeface="+mn-lt"/>
              </a:rPr>
              <a:t> Use Fatrop as the NLP gradient-based solver</a:t>
            </a:r>
          </a:p>
          <a:p>
            <a:pPr marL="800100" lvl="1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de-DE" altLang="en-US" sz="1600" dirty="0">
              <a:cs typeface="+mn-lt"/>
            </a:endParaRPr>
          </a:p>
          <a:p>
            <a:pPr marL="342900" lvl="0" indent="-342900">
              <a:lnSpc>
                <a:spcPct val="110000"/>
              </a:lnSpc>
              <a:buFont typeface="Arial" panose="020B0604020202020204" pitchFamily="34" charset="0"/>
              <a:buAutoNum type="arabicPeriod"/>
            </a:pPr>
            <a:r>
              <a:rPr lang="de-DE" altLang="en-US" dirty="0">
                <a:cs typeface="+mn-lt"/>
              </a:rPr>
              <a:t>CasADi automatic C-code generation VS C++</a:t>
            </a:r>
          </a:p>
          <a:p>
            <a:pPr marL="800100" lvl="1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de-DE" altLang="en-US" sz="1600" b="1" dirty="0">
                <a:cs typeface="+mn-lt"/>
              </a:rPr>
              <a:t>Result:</a:t>
            </a:r>
            <a:r>
              <a:rPr lang="de-DE" altLang="en-US" sz="1600" dirty="0">
                <a:cs typeface="+mn-lt"/>
              </a:rPr>
              <a:t> C++ was ~5x slower</a:t>
            </a:r>
          </a:p>
          <a:p>
            <a:pPr marL="800100" lvl="1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de-DE" altLang="en-US" sz="1600" b="1" dirty="0">
                <a:cs typeface="+mn-lt"/>
              </a:rPr>
              <a:t>Reason:</a:t>
            </a:r>
            <a:r>
              <a:rPr lang="de-DE" altLang="en-US" sz="1600" dirty="0">
                <a:cs typeface="+mn-lt"/>
              </a:rPr>
              <a:t> Compiled C-code is self-contained which reduces function calling overhead</a:t>
            </a:r>
          </a:p>
          <a:p>
            <a:pPr marL="800100" lvl="1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de-DE" altLang="en-US" sz="1600" b="1" dirty="0">
                <a:cs typeface="+mn-lt"/>
              </a:rPr>
              <a:t>Conclusion:</a:t>
            </a:r>
            <a:r>
              <a:rPr lang="de-DE" altLang="en-US" sz="1600" dirty="0">
                <a:cs typeface="+mn-lt"/>
              </a:rPr>
              <a:t> Generate C-code</a:t>
            </a:r>
          </a:p>
          <a:p>
            <a:pPr marL="800100" lvl="1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de-DE" altLang="en-US" sz="1600" dirty="0">
              <a:cs typeface="+mn-lt"/>
            </a:endParaRPr>
          </a:p>
          <a:p>
            <a:pPr marL="800100" lvl="1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de-DE" altLang="en-US" sz="1600" dirty="0"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2623117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1">
              <a:rPr lang="en-US" altLang="en-US" smtClean="0"/>
              <a:t>12/1/2025</a:t>
            </a:fld>
            <a:endParaRPr lang="zh-CN" alt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34</a:t>
            </a:fld>
            <a:endParaRPr lang="zh-CN" alt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altLang="zh-CN">
                <a:sym typeface="+mn-ea"/>
              </a:rPr>
              <a:t>Real-Time Time-Optimal Spacecraft Attitude Control</a:t>
            </a:r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en-US" sz="4400" dirty="0">
                <a:latin typeface="Arial Black" panose="020B0A04020102020204" charset="0"/>
                <a:cs typeface="Arial Black" panose="020B0A04020102020204" charset="0"/>
              </a:rPr>
              <a:t>Results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1012190" y="1171575"/>
            <a:ext cx="10341610" cy="614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 startAt="5"/>
            </a:pPr>
            <a:r>
              <a:rPr lang="de-DE" altLang="en-US">
                <a:cs typeface="+mn-lt"/>
              </a:rPr>
              <a:t>PSO VS Fatrop</a:t>
            </a:r>
            <a:r>
              <a:rPr lang="de-DE" altLang="en-US">
                <a:cs typeface="+mn-lt"/>
                <a:sym typeface="+mn-ea"/>
              </a:rPr>
              <a:t> NLP solvers</a:t>
            </a:r>
            <a:endParaRPr lang="de-DE" altLang="en-US">
              <a:cs typeface="+mn-lt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altLang="en-US" sz="1600" b="1">
                <a:cs typeface="+mn-lt"/>
              </a:rPr>
              <a:t>PSO Results: </a:t>
            </a:r>
            <a:r>
              <a:rPr lang="de-DE" altLang="en-US" sz="1600">
                <a:cs typeface="+mn-lt"/>
              </a:rPr>
              <a:t>(180 degree turn)	Computation Time: 0.14s 	Maneuver Duration: 5s (3.24s)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133" y="1828165"/>
            <a:ext cx="11595735" cy="223647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749" y="4064635"/>
            <a:ext cx="11614501" cy="224028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1">
              <a:rPr lang="en-US" altLang="en-US" smtClean="0"/>
              <a:t>12/1/2025</a:t>
            </a:fld>
            <a:endParaRPr lang="zh-CN" alt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35</a:t>
            </a:fld>
            <a:endParaRPr lang="zh-CN" alt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altLang="zh-CN">
                <a:sym typeface="+mn-ea"/>
              </a:rPr>
              <a:t>Real-Time Time-Optimal Spacecraft Attitude Control</a:t>
            </a:r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en-US" sz="4400" dirty="0">
                <a:latin typeface="Arial Black" panose="020B0A04020102020204" charset="0"/>
                <a:cs typeface="Arial Black" panose="020B0A04020102020204" charset="0"/>
              </a:rPr>
              <a:t>Results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1012190" y="1171575"/>
            <a:ext cx="10341610" cy="614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 startAt="5"/>
            </a:pPr>
            <a:r>
              <a:rPr lang="de-DE" altLang="en-US">
                <a:cs typeface="+mn-lt"/>
              </a:rPr>
              <a:t>PSO VS Fatrop</a:t>
            </a:r>
            <a:r>
              <a:rPr lang="de-DE" altLang="en-US">
                <a:cs typeface="+mn-lt"/>
                <a:sym typeface="+mn-ea"/>
              </a:rPr>
              <a:t> NLP solvers</a:t>
            </a:r>
            <a:endParaRPr lang="de-DE" altLang="en-US">
              <a:cs typeface="+mn-lt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altLang="en-US" sz="1600" b="1">
                <a:cs typeface="+mn-lt"/>
              </a:rPr>
              <a:t>Fatrop Results: </a:t>
            </a:r>
            <a:r>
              <a:rPr lang="de-DE" altLang="en-US" sz="1600">
                <a:cs typeface="+mn-lt"/>
              </a:rPr>
              <a:t>(180 degree turn)	Computation Time: 0.18s 	Maneuver Duration: 3.24s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480" y="2571115"/>
            <a:ext cx="11609705" cy="223901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1">
              <a:rPr lang="en-US" altLang="en-US" smtClean="0"/>
              <a:t>12/1/2025</a:t>
            </a:fld>
            <a:endParaRPr lang="zh-CN" alt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36</a:t>
            </a:fld>
            <a:endParaRPr lang="zh-CN" alt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altLang="zh-CN">
                <a:sym typeface="+mn-ea"/>
              </a:rPr>
              <a:t>Real-Time Time-Optimal Spacecraft Attitude Control</a:t>
            </a:r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en-US" sz="4400" dirty="0">
                <a:latin typeface="Arial Black" panose="020B0A04020102020204" charset="0"/>
                <a:cs typeface="Arial Black" panose="020B0A04020102020204" charset="0"/>
              </a:rPr>
              <a:t>Results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1012190" y="1171575"/>
            <a:ext cx="10341610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 startAt="5"/>
            </a:pPr>
            <a:r>
              <a:rPr lang="de-DE" altLang="en-US">
                <a:cs typeface="+mn-lt"/>
              </a:rPr>
              <a:t>PSO + Fatrop VS only Fatrop</a:t>
            </a:r>
            <a:r>
              <a:rPr lang="de-DE" altLang="en-US">
                <a:cs typeface="+mn-lt"/>
                <a:sym typeface="+mn-ea"/>
              </a:rPr>
              <a:t> NLP solvers</a:t>
            </a:r>
            <a:endParaRPr lang="de-DE" altLang="en-US">
              <a:cs typeface="+mn-lt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altLang="en-US" sz="1600" b="1">
                <a:cs typeface="+mn-lt"/>
              </a:rPr>
              <a:t>Result: </a:t>
            </a:r>
            <a:r>
              <a:rPr lang="de-DE" altLang="en-US" sz="1600">
                <a:cs typeface="+mn-lt"/>
              </a:rPr>
              <a:t>PSO + Fatrop finds a solution almost always faster as only fatrop.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altLang="en-US" sz="1600" b="1">
                <a:cs typeface="+mn-lt"/>
                <a:sym typeface="+mn-ea"/>
              </a:rPr>
              <a:t>Reason:</a:t>
            </a:r>
            <a:r>
              <a:rPr lang="de-DE" altLang="en-US" sz="1600">
                <a:cs typeface="+mn-lt"/>
                <a:sym typeface="+mn-ea"/>
              </a:rPr>
              <a:t> </a:t>
            </a:r>
            <a:r>
              <a:rPr lang="de-DE" altLang="en-US" sz="1600">
                <a:cs typeface="+mn-lt"/>
              </a:rPr>
              <a:t>Fatrop finds a solution much faster with a good initial guess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altLang="en-US" sz="1600" b="1">
                <a:cs typeface="+mn-lt"/>
              </a:rPr>
              <a:t>Conclusion:</a:t>
            </a:r>
            <a:r>
              <a:rPr lang="de-DE" altLang="en-US" sz="1600">
                <a:cs typeface="+mn-lt"/>
              </a:rPr>
              <a:t> PSO + Fatrop seems to be the most optimal solver configuration</a:t>
            </a:r>
          </a:p>
        </p:txBody>
      </p:sp>
      <p:graphicFrame>
        <p:nvGraphicFramePr>
          <p:cNvPr id="7" name="Table 6"/>
          <p:cNvGraphicFramePr/>
          <p:nvPr/>
        </p:nvGraphicFramePr>
        <p:xfrm>
          <a:off x="647700" y="2671445"/>
          <a:ext cx="105156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37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16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62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313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313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313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48640">
                <a:tc rowSpan="2" gridSpan="2">
                  <a:txBody>
                    <a:bodyPr/>
                    <a:lstStyle/>
                    <a:p>
                      <a:pPr>
                        <a:buNone/>
                      </a:pPr>
                      <a:endParaRPr lang="en-US" sz="1600" dirty="0">
                        <a:solidFill>
                          <a:schemeClr val="bg1">
                            <a:lumMod val="10000"/>
                          </a:schemeClr>
                        </a:solidFill>
                        <a:cs typeface="+mn-lt"/>
                      </a:endParaRPr>
                    </a:p>
                  </a:txBody>
                  <a:tcPr anchor="ctr">
                    <a:lnL>
                      <a:noFill/>
                    </a:lnL>
                    <a:lnR w="38100" cmpd="sng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 w="38100" cmpd="sng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altLang="en-US" sz="1600" dirty="0">
                          <a:cs typeface="+mn-lt"/>
                        </a:rPr>
                        <a:t>Computation Time (s)</a:t>
                      </a:r>
                    </a:p>
                  </a:txBody>
                  <a:tcPr anchor="ctr">
                    <a:lnL w="38100" cmpd="sng">
                      <a:solidFill>
                        <a:schemeClr val="tx1"/>
                      </a:solidFill>
                      <a:prstDash val="solid"/>
                    </a:lnL>
                    <a:lnR w="38100" cmpd="sng">
                      <a:solidFill>
                        <a:schemeClr val="tx1"/>
                      </a:solidFill>
                      <a:prstDash val="solid"/>
                    </a:lnR>
                    <a:lnT w="38100" cmpd="sng">
                      <a:solidFill>
                        <a:schemeClr val="tx1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mpd="sng">
                      <a:solidFill>
                        <a:schemeClr val="tx1"/>
                      </a:solidFill>
                      <a:prstDash val="solid"/>
                    </a:lnR>
                    <a:lnT w="38100" cmpd="sng">
                      <a:solidFill>
                        <a:schemeClr val="tx1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R w="38100" cmpd="sng">
                      <a:solidFill>
                        <a:schemeClr val="tx1"/>
                      </a:solidFill>
                      <a:prstDash val="solid"/>
                    </a:lnR>
                    <a:lnT w="38100" cmpd="sng">
                      <a:solidFill>
                        <a:schemeClr val="tx1"/>
                      </a:solidFill>
                      <a:prstDash val="solid"/>
                    </a:lnT>
                    <a:lnB w="381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altLang="en-US" sz="1600" dirty="0">
                          <a:cs typeface="+mn-lt"/>
                        </a:rPr>
                        <a:t>Maneuver Duration (s)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mpd="sng">
                      <a:solidFill>
                        <a:schemeClr val="tx1"/>
                      </a:solidFill>
                      <a:prstDash val="solid"/>
                    </a:lnR>
                    <a:lnT w="38100" cmpd="sng">
                      <a:solidFill>
                        <a:schemeClr val="tx1"/>
                      </a:solidFill>
                      <a:prstDash val="solid"/>
                    </a:lnT>
                    <a:lnB w="381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 w="38100" cmpd="sng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 w="38100" cmpd="sng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altLang="en-US" sz="1600" dirty="0">
                          <a:cs typeface="+mn-lt"/>
                        </a:rPr>
                        <a:t>Total </a:t>
                      </a:r>
                    </a:p>
                  </a:txBody>
                  <a:tcPr anchor="ctr">
                    <a:lnL w="38100" cmpd="sng">
                      <a:solidFill>
                        <a:schemeClr val="tx1"/>
                      </a:solidFill>
                      <a:prstDash val="solid"/>
                    </a:lnL>
                    <a:lnR w="38100" cmpd="sng">
                      <a:solidFill>
                        <a:schemeClr val="tx1"/>
                      </a:solidFill>
                      <a:prstDash val="solid"/>
                    </a:lnR>
                    <a:lnB w="381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altLang="en-US" sz="1600">
                          <a:cs typeface="+mn-lt"/>
                        </a:rPr>
                        <a:t>Fatrop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mpd="sng">
                      <a:solidFill>
                        <a:schemeClr val="tx1"/>
                      </a:solidFill>
                      <a:prstDash val="solid"/>
                    </a:lnR>
                    <a:lnT w="38100" cmpd="sng">
                      <a:solidFill>
                        <a:schemeClr val="tx1"/>
                      </a:solidFill>
                      <a:prstDash val="solid"/>
                    </a:lnT>
                    <a:lnB w="381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altLang="en-US" sz="1600">
                          <a:cs typeface="+mn-lt"/>
                        </a:rPr>
                        <a:t>PSO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mpd="sng">
                      <a:solidFill>
                        <a:schemeClr val="tx1"/>
                      </a:solidFill>
                      <a:prstDash val="solid"/>
                    </a:lnR>
                    <a:lnT w="38100" cmpd="sng">
                      <a:solidFill>
                        <a:schemeClr val="tx1"/>
                      </a:solidFill>
                      <a:prstDash val="solid"/>
                    </a:lnT>
                    <a:lnB w="381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R w="38100" cmpd="sng">
                      <a:solidFill>
                        <a:schemeClr val="tx1"/>
                      </a:solidFill>
                      <a:prstDash val="solid"/>
                    </a:lnR>
                    <a:lnT w="38100" cmpd="sng">
                      <a:solidFill>
                        <a:schemeClr val="tx1"/>
                      </a:solidFill>
                      <a:prstDash val="solid"/>
                    </a:lnT>
                    <a:lnB w="381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altLang="en-US" sz="1600" b="1" dirty="0">
                          <a:solidFill>
                            <a:schemeClr val="bg1"/>
                          </a:solidFill>
                          <a:cs typeface="+mn-lt"/>
                        </a:rPr>
                        <a:t>Close to fixed initial guess</a:t>
                      </a:r>
                    </a:p>
                  </a:txBody>
                  <a:tcPr anchor="ctr">
                    <a:lnL w="38100" cmpd="sng">
                      <a:solidFill>
                        <a:schemeClr val="tx1"/>
                      </a:solidFill>
                      <a:prstDash val="solid"/>
                    </a:lnL>
                    <a:lnR w="38100" cmpd="sng">
                      <a:solidFill>
                        <a:schemeClr val="tx1"/>
                      </a:solidFill>
                      <a:prstDash val="solid"/>
                    </a:ln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 sz="1600" b="0" dirty="0">
                          <a:solidFill>
                            <a:schemeClr val="bg1"/>
                          </a:solidFill>
                          <a:cs typeface="+mn-lt"/>
                        </a:rPr>
                        <a:t>PSO + Fatrop</a:t>
                      </a:r>
                    </a:p>
                  </a:txBody>
                  <a:tcPr anchor="ctr">
                    <a:lnL w="38100" cmpd="sng">
                      <a:solidFill>
                        <a:schemeClr val="tx1"/>
                      </a:solidFill>
                      <a:prstDash val="solid"/>
                    </a:lnL>
                    <a:lnR w="38100" cmpd="sng">
                      <a:solidFill>
                        <a:schemeClr val="tx1"/>
                      </a:solidFill>
                      <a:prstDash val="solid"/>
                    </a:ln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 sz="1600" dirty="0">
                          <a:solidFill>
                            <a:schemeClr val="bg1">
                              <a:lumMod val="10000"/>
                            </a:schemeClr>
                          </a:solidFill>
                          <a:cs typeface="+mn-lt"/>
                        </a:rPr>
                        <a:t>0.16</a:t>
                      </a:r>
                    </a:p>
                  </a:txBody>
                  <a:tcPr anchor="ctr">
                    <a:lnL w="38100" cmpd="sng">
                      <a:solidFill>
                        <a:schemeClr val="tx1"/>
                      </a:solidFill>
                      <a:prstDash val="solid"/>
                    </a:lnL>
                    <a:lnT w="38100" cmpd="sng">
                      <a:solidFill>
                        <a:schemeClr val="tx1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 sz="1600" dirty="0">
                          <a:solidFill>
                            <a:schemeClr val="bg1">
                              <a:lumMod val="10000"/>
                            </a:schemeClr>
                          </a:solidFill>
                          <a:cs typeface="+mn-lt"/>
                        </a:rPr>
                        <a:t>0.016</a:t>
                      </a:r>
                    </a:p>
                  </a:txBody>
                  <a:tcPr anchor="ctr">
                    <a:lnR w="12700">
                      <a:solidFill>
                        <a:schemeClr val="tx1"/>
                      </a:solidFill>
                      <a:prstDash val="solid"/>
                    </a:lnR>
                    <a:lnT w="38100" cmpd="sng">
                      <a:solidFill>
                        <a:schemeClr val="tx1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 sz="1600" dirty="0">
                          <a:solidFill>
                            <a:schemeClr val="bg1">
                              <a:lumMod val="10000"/>
                            </a:schemeClr>
                          </a:solidFill>
                          <a:cs typeface="+mn-lt"/>
                        </a:rPr>
                        <a:t>0.15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38100" cmpd="sng">
                      <a:solidFill>
                        <a:schemeClr val="tx1"/>
                      </a:solidFill>
                      <a:prstDash val="soli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 sz="1600" dirty="0">
                          <a:solidFill>
                            <a:schemeClr val="bg1">
                              <a:lumMod val="10000"/>
                            </a:schemeClr>
                          </a:solidFill>
                          <a:cs typeface="+mn-lt"/>
                        </a:rPr>
                        <a:t>3.24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mpd="sng">
                      <a:solidFill>
                        <a:schemeClr val="tx1"/>
                      </a:solidFill>
                      <a:prstDash val="soli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38100" cmpd="sng">
                      <a:solidFill>
                        <a:schemeClr val="tx1"/>
                      </a:solidFill>
                      <a:prstDash val="solid"/>
                    </a:lnL>
                    <a:lnR w="38100" cmpd="sng">
                      <a:solidFill>
                        <a:schemeClr val="tx1"/>
                      </a:solidFill>
                      <a:prstDash val="solid"/>
                    </a:ln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 sz="1600" b="0" dirty="0">
                          <a:solidFill>
                            <a:schemeClr val="bg1"/>
                          </a:solidFill>
                          <a:cs typeface="+mn-lt"/>
                        </a:rPr>
                        <a:t>Only Fatrop</a:t>
                      </a:r>
                    </a:p>
                  </a:txBody>
                  <a:tcPr anchor="ctr">
                    <a:lnL w="38100" cmpd="sng">
                      <a:solidFill>
                        <a:schemeClr val="tx1"/>
                      </a:solidFill>
                      <a:prstDash val="solid"/>
                    </a:lnL>
                    <a:lnR w="38100" cmpd="sng">
                      <a:solidFill>
                        <a:schemeClr val="tx1"/>
                      </a:solidFill>
                      <a:prstDash val="solid"/>
                    </a:ln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 sz="1600" dirty="0">
                          <a:solidFill>
                            <a:schemeClr val="bg1">
                              <a:lumMod val="10000"/>
                            </a:schemeClr>
                          </a:solidFill>
                          <a:cs typeface="+mn-lt"/>
                        </a:rPr>
                        <a:t>0.12s</a:t>
                      </a:r>
                    </a:p>
                  </a:txBody>
                  <a:tcPr anchor="ctr">
                    <a:lnL w="38100" cmpd="sng">
                      <a:solidFill>
                        <a:schemeClr val="tx1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 sz="1600" dirty="0">
                          <a:solidFill>
                            <a:schemeClr val="bg1">
                              <a:lumMod val="10000"/>
                            </a:schemeClr>
                          </a:solidFill>
                          <a:cs typeface="+mn-lt"/>
                        </a:rPr>
                        <a:t>0.12</a:t>
                      </a:r>
                    </a:p>
                  </a:txBody>
                  <a:tcPr anchor="ctr">
                    <a:lnR w="12700">
                      <a:solidFill>
                        <a:schemeClr val="tx1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 sz="1600">
                          <a:solidFill>
                            <a:schemeClr val="bg1">
                              <a:lumMod val="10000"/>
                            </a:schemeClr>
                          </a:solidFill>
                          <a:cs typeface="+mn-lt"/>
                        </a:rPr>
                        <a:t>-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38100" cmpd="sng">
                      <a:solidFill>
                        <a:schemeClr val="tx1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 sz="1600">
                          <a:solidFill>
                            <a:schemeClr val="bg1">
                              <a:lumMod val="10000"/>
                            </a:schemeClr>
                          </a:solidFill>
                          <a:cs typeface="+mn-lt"/>
                        </a:rPr>
                        <a:t>3.24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mpd="sng">
                      <a:solidFill>
                        <a:schemeClr val="tx1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altLang="en-US" sz="1600" b="1" dirty="0">
                          <a:solidFill>
                            <a:schemeClr val="bg1"/>
                          </a:solidFill>
                          <a:cs typeface="+mn-lt"/>
                        </a:rPr>
                        <a:t>Very different from fixed initial guess</a:t>
                      </a:r>
                    </a:p>
                  </a:txBody>
                  <a:tcPr anchor="ctr">
                    <a:lnL w="38100" cmpd="sng">
                      <a:solidFill>
                        <a:schemeClr val="tx1"/>
                      </a:solidFill>
                      <a:prstDash val="solid"/>
                    </a:lnL>
                    <a:lnR w="38100" cmpd="sng">
                      <a:solidFill>
                        <a:schemeClr val="tx1"/>
                      </a:solidFill>
                      <a:prstDash val="solid"/>
                    </a:lnR>
                    <a:lnB w="381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 sz="1600" b="0" dirty="0">
                          <a:solidFill>
                            <a:schemeClr val="bg1"/>
                          </a:solidFill>
                          <a:cs typeface="+mn-lt"/>
                        </a:rPr>
                        <a:t>PSO + Fatrop</a:t>
                      </a:r>
                    </a:p>
                  </a:txBody>
                  <a:tcPr anchor="ctr">
                    <a:lnL w="38100" cmpd="sng">
                      <a:solidFill>
                        <a:schemeClr val="tx1"/>
                      </a:solidFill>
                      <a:prstDash val="solid"/>
                    </a:lnL>
                    <a:lnR w="38100" cmpd="sng">
                      <a:solidFill>
                        <a:schemeClr val="tx1"/>
                      </a:solidFill>
                      <a:prstDash val="solid"/>
                    </a:ln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 sz="1600">
                          <a:solidFill>
                            <a:schemeClr val="bg1">
                              <a:lumMod val="10000"/>
                            </a:schemeClr>
                          </a:solidFill>
                          <a:cs typeface="+mn-lt"/>
                        </a:rPr>
                        <a:t>0.2</a:t>
                      </a:r>
                    </a:p>
                  </a:txBody>
                  <a:tcPr anchor="ctr">
                    <a:lnL w="38100" cmpd="sng">
                      <a:solidFill>
                        <a:schemeClr val="tx1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 sz="1600" dirty="0">
                          <a:solidFill>
                            <a:schemeClr val="bg1">
                              <a:lumMod val="10000"/>
                            </a:schemeClr>
                          </a:solidFill>
                          <a:cs typeface="+mn-lt"/>
                        </a:rPr>
                        <a:t>0.03</a:t>
                      </a:r>
                    </a:p>
                  </a:txBody>
                  <a:tcPr anchor="ctr">
                    <a:lnR w="12700">
                      <a:solidFill>
                        <a:schemeClr val="tx1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 sz="1600">
                          <a:solidFill>
                            <a:schemeClr val="bg1">
                              <a:lumMod val="10000"/>
                            </a:schemeClr>
                          </a:solidFill>
                          <a:cs typeface="+mn-lt"/>
                        </a:rPr>
                        <a:t>0.17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38100" cmpd="sng">
                      <a:solidFill>
                        <a:schemeClr val="tx1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 sz="1600">
                          <a:solidFill>
                            <a:schemeClr val="bg1">
                              <a:lumMod val="10000"/>
                            </a:schemeClr>
                          </a:solidFill>
                          <a:cs typeface="+mn-lt"/>
                        </a:rPr>
                        <a:t>3.44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mpd="sng">
                      <a:solidFill>
                        <a:schemeClr val="tx1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38100" cmpd="sng">
                      <a:solidFill>
                        <a:schemeClr val="tx1"/>
                      </a:solidFill>
                      <a:prstDash val="solid"/>
                    </a:lnL>
                    <a:lnR w="38100" cmpd="sng">
                      <a:solidFill>
                        <a:schemeClr val="tx1"/>
                      </a:solidFill>
                      <a:prstDash val="solid"/>
                    </a:lnR>
                    <a:lnB w="381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 sz="1600" b="0" dirty="0">
                          <a:solidFill>
                            <a:schemeClr val="bg1"/>
                          </a:solidFill>
                          <a:cs typeface="+mn-lt"/>
                        </a:rPr>
                        <a:t>Only Fatrop</a:t>
                      </a:r>
                    </a:p>
                  </a:txBody>
                  <a:tcPr anchor="ctr">
                    <a:lnL w="38100" cmpd="sng">
                      <a:solidFill>
                        <a:schemeClr val="tx1"/>
                      </a:solidFill>
                      <a:prstDash val="solid"/>
                    </a:lnL>
                    <a:lnR w="38100" cmpd="sng">
                      <a:solidFill>
                        <a:schemeClr val="tx1"/>
                      </a:solidFill>
                      <a:prstDash val="solid"/>
                    </a:lnR>
                    <a:lnB w="381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 sz="1600">
                          <a:solidFill>
                            <a:schemeClr val="bg1">
                              <a:lumMod val="10000"/>
                            </a:schemeClr>
                          </a:solidFill>
                          <a:cs typeface="+mn-lt"/>
                        </a:rPr>
                        <a:t>0.58</a:t>
                      </a:r>
                    </a:p>
                  </a:txBody>
                  <a:tcPr anchor="ctr">
                    <a:lnL w="38100" cmpd="sng">
                      <a:solidFill>
                        <a:schemeClr val="tx1"/>
                      </a:solidFill>
                      <a:prstDash val="solid"/>
                    </a:lnL>
                    <a:lnB w="381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 sz="1600" dirty="0">
                          <a:solidFill>
                            <a:schemeClr val="bg1">
                              <a:lumMod val="10000"/>
                            </a:schemeClr>
                          </a:solidFill>
                          <a:cs typeface="+mn-lt"/>
                        </a:rPr>
                        <a:t>0.58</a:t>
                      </a:r>
                    </a:p>
                  </a:txBody>
                  <a:tcPr anchor="ctr">
                    <a:lnR w="12700">
                      <a:solidFill>
                        <a:schemeClr val="tx1"/>
                      </a:solidFill>
                      <a:prstDash val="solid"/>
                    </a:lnR>
                    <a:lnB w="381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 sz="1600">
                          <a:solidFill>
                            <a:schemeClr val="bg1">
                              <a:lumMod val="10000"/>
                            </a:schemeClr>
                          </a:solidFill>
                          <a:cs typeface="+mn-lt"/>
                        </a:rPr>
                        <a:t>-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38100" cmpd="sng">
                      <a:solidFill>
                        <a:schemeClr val="tx1"/>
                      </a:solidFill>
                      <a:prstDash val="solid"/>
                    </a:lnR>
                    <a:lnB w="381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 sz="1600">
                          <a:solidFill>
                            <a:schemeClr val="bg1">
                              <a:lumMod val="10000"/>
                            </a:schemeClr>
                          </a:solidFill>
                          <a:cs typeface="+mn-lt"/>
                        </a:rPr>
                        <a:t>3.50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mpd="sng">
                      <a:solidFill>
                        <a:schemeClr val="tx1"/>
                      </a:solidFill>
                      <a:prstDash val="solid"/>
                    </a:lnR>
                    <a:lnB w="381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en-US" sz="4400">
                <a:latin typeface="Arial Black" panose="020B0A04020102020204" charset="0"/>
                <a:cs typeface="Arial Black" panose="020B0A04020102020204" charset="0"/>
              </a:rPr>
              <a:t>Methodology</a:t>
            </a:r>
          </a:p>
        </p:txBody>
      </p:sp>
      <p:sp>
        <p:nvSpPr>
          <p:cNvPr id="6" name="Oval 5"/>
          <p:cNvSpPr/>
          <p:nvPr/>
        </p:nvSpPr>
        <p:spPr>
          <a:xfrm>
            <a:off x="9732010" y="1922780"/>
            <a:ext cx="743585" cy="74358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altLang="en-US" sz="2000" b="1">
                <a:solidFill>
                  <a:srgbClr val="000000"/>
                </a:solidFill>
                <a:cs typeface="+mn-lt"/>
              </a:rPr>
              <a:t>1</a:t>
            </a:r>
            <a:r>
              <a:rPr lang="de-DE" altLang="en-US" sz="2000" b="1" baseline="50000">
                <a:solidFill>
                  <a:srgbClr val="000000"/>
                </a:solidFill>
                <a:uFillTx/>
                <a:cs typeface="+mn-lt"/>
              </a:rPr>
              <a:t>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711565" y="2530475"/>
            <a:ext cx="2784475" cy="1570990"/>
          </a:xfrm>
          <a:prstGeom prst="roundRect">
            <a:avLst/>
          </a:prstGeom>
          <a:solidFill>
            <a:srgbClr val="002060"/>
          </a:solidFill>
          <a:ln w="476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altLang="en-US">
                <a:cs typeface="+mn-lt"/>
              </a:rPr>
              <a:t>Compute the time-optimal trajectory for any attitude maneuver</a:t>
            </a:r>
          </a:p>
        </p:txBody>
      </p:sp>
      <p:sp>
        <p:nvSpPr>
          <p:cNvPr id="8" name="!!Down Arrow 7"/>
          <p:cNvSpPr/>
          <p:nvPr/>
        </p:nvSpPr>
        <p:spPr>
          <a:xfrm>
            <a:off x="9954895" y="4101465"/>
            <a:ext cx="297815" cy="1045210"/>
          </a:xfrm>
          <a:prstGeom prst="downArrow">
            <a:avLst>
              <a:gd name="adj1" fmla="val 50000"/>
              <a:gd name="adj2" fmla="val 8507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Box 8"/>
          <p:cNvSpPr txBox="1"/>
          <p:nvPr/>
        </p:nvSpPr>
        <p:spPr>
          <a:xfrm>
            <a:off x="8524558" y="5146675"/>
            <a:ext cx="315785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altLang="en-US" sz="2000" b="1" i="1">
                <a:latin typeface="Calibri" charset="0"/>
              </a:rPr>
              <a:t>min(maneuver_duration)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1">
              <a:rPr lang="en-US" altLang="en-US" smtClean="0"/>
              <a:t>12/1/2025</a:t>
            </a:fld>
            <a:endParaRPr lang="zh-CN" alt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37</a:t>
            </a:fld>
            <a:endParaRPr lang="zh-CN" alt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altLang="zh-CN">
                <a:sym typeface="+mn-ea"/>
              </a:rPr>
              <a:t>Real-Time Time-Optimal Spacecraft Attitude Control</a:t>
            </a:r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 Box 16"/>
              <p:cNvSpPr txBox="1"/>
              <p:nvPr/>
            </p:nvSpPr>
            <p:spPr>
              <a:xfrm>
                <a:off x="647700" y="1762125"/>
                <a:ext cx="6860540" cy="2678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90000"/>
                  </a:lnSpc>
                  <a:buAutoNum type="arabicPeriod"/>
                </a:pPr>
                <a:r>
                  <a:rPr lang="de-DE" altLang="en-US" b="1" dirty="0">
                    <a:latin typeface="+mn-ea"/>
                    <a:cs typeface="+mn-ea"/>
                  </a:rPr>
                  <a:t>Define system dynamics</a:t>
                </a:r>
                <a:r>
                  <a:rPr lang="de-DE" altLang="en-US" dirty="0">
                    <a:latin typeface="+mn-ea"/>
                    <a:cs typeface="+mn-ea"/>
                  </a:rPr>
                  <a:t> </a:t>
                </a:r>
                <a:r>
                  <a:rPr lang="de-DE" altLang="en-US" sz="3200" dirty="0">
                    <a:latin typeface="Andale Mono" panose="020B0509000000000004" charset="0"/>
                    <a:cs typeface="Andale Mono" panose="020B0509000000000004" charset="0"/>
                  </a:rPr>
                  <a:t>→</a:t>
                </a:r>
                <a:r>
                  <a:rPr lang="de-DE" altLang="en-US" sz="3200" dirty="0">
                    <a:latin typeface="+mn-ea"/>
                    <a:cs typeface="+mn-ea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de-DE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dPr>
                      <m:e>
                        <m:acc>
                          <m:accPr>
                            <m:chr m:val="̇"/>
                            <m:ctrlPr>
                              <a:rPr lang="en-US" altLang="de-DE" i="1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</m:ctrlPr>
                          </m:accPr>
                          <m:e>
                            <m:eqArr>
                              <m:eqArrPr>
                                <m:ctrlPr>
                                  <a:rPr lang="en-US" altLang="de-DE" i="1">
                                    <a:latin typeface="Cambria Math" panose="02040503050406030204" pitchFamily="18" charset="0"/>
                                    <a:cs typeface="DejaVu Math TeX Gyre" panose="02000503000000000000" charset="0"/>
                                  </a:rPr>
                                </m:ctrlPr>
                              </m:eqArrPr>
                              <m:e>
                                <m:r>
                                  <a:rPr lang="en-US" altLang="de-DE" i="1">
                                    <a:latin typeface="Cambria Math" panose="02040503050406030204" pitchFamily="18" charset="0"/>
                                    <a:cs typeface="DejaVu Math TeX Gyre" panose="02000503000000000000" charset="0"/>
                                  </a:rPr>
                                  <m:t>𝑞</m:t>
                                </m:r>
                              </m:e>
                              <m:e>
                                <m:r>
                                  <a:rPr lang="en-US" altLang="de-DE" i="1">
                                    <a:latin typeface="Cambria Math" panose="02040503050406030204" pitchFamily="18" charset="0"/>
                                    <a:cs typeface="DejaVu Math TeX Gyre" panose="02000503000000000000" charset="0"/>
                                  </a:rPr>
                                  <m:t>𝐼</m:t>
                                </m:r>
                                <m:acc>
                                  <m:accPr>
                                    <m:chr m:val="̇"/>
                                    <m:ctrlPr>
                                      <a:rPr lang="en-US" altLang="de-DE" i="1">
                                        <a:latin typeface="Cambria Math" panose="02040503050406030204" pitchFamily="18" charset="0"/>
                                        <a:cs typeface="DejaVu Math TeX Gyre" panose="02000503000000000000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de-DE" i="1">
                                        <a:latin typeface="Cambria Math" panose="02040503050406030204" pitchFamily="18" charset="0"/>
                                        <a:ea typeface="MS Mincho" charset="0"/>
                                        <a:cs typeface="DejaVu Math TeX Gyre" panose="02000503000000000000" charset="0"/>
                                      </a:rPr>
                                      <m:t>𝜔</m:t>
                                    </m:r>
                                  </m:e>
                                </m:acc>
                              </m:e>
                            </m:eqArr>
                          </m:e>
                        </m:acc>
                      </m:e>
                    </m:d>
                    <m:r>
                      <a:rPr lang="en-US" altLang="de-DE" i="1">
                        <a:latin typeface="Cambria Math" panose="02040503050406030204" pitchFamily="18" charset="0"/>
                        <a:cs typeface="DejaVu Math TeX Gyre" panose="02000503000000000000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de-DE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de-DE" i="1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</m:ctrlPr>
                          </m:eqArrPr>
                          <m:e>
                            <m:box>
                              <m:boxPr>
                                <m:noBreak m:val="on"/>
                                <m:ctrlPr>
                                  <a:rPr lang="en-US" altLang="de-DE" i="1">
                                    <a:latin typeface="Cambria Math" panose="02040503050406030204" pitchFamily="18" charset="0"/>
                                    <a:cs typeface="DejaVu Math TeX Gyre" panose="02000503000000000000" charset="0"/>
                                  </a:rPr>
                                </m:ctrlPr>
                              </m:boxPr>
                              <m:e>
                                <m:argPr>
                                  <m:argSz m:val="-1"/>
                                </m:argPr>
                                <m:f>
                                  <m:fPr>
                                    <m:ctrlPr>
                                      <a:rPr lang="en-US" altLang="de-DE" i="1">
                                        <a:latin typeface="Cambria Math" panose="02040503050406030204" pitchFamily="18" charset="0"/>
                                        <a:cs typeface="DejaVu Math TeX Gyre" panose="02000503000000000000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de-DE" i="1">
                                        <a:latin typeface="Cambria Math" panose="02040503050406030204" pitchFamily="18" charset="0"/>
                                        <a:ea typeface="MS Mincho" charset="0"/>
                                        <a:cs typeface="DejaVu Math TeX Gyre" panose="02000503000000000000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de-DE" i="1">
                                        <a:latin typeface="Cambria Math" panose="02040503050406030204" pitchFamily="18" charset="0"/>
                                        <a:ea typeface="MS Mincho" charset="0"/>
                                        <a:cs typeface="DejaVu Math TeX Gyre" panose="02000503000000000000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n-US" altLang="de-DE" i="1">
                                    <a:latin typeface="Cambria Math" panose="02040503050406030204" pitchFamily="18" charset="0"/>
                                    <a:ea typeface="MS Mincho" charset="0"/>
                                    <a:cs typeface="DejaVu Math TeX Gyre" panose="02000503000000000000" charset="0"/>
                                  </a:rPr>
                                  <m:t> </m:t>
                                </m:r>
                                <m:r>
                                  <a:rPr lang="en-US" altLang="de-DE" i="1">
                                    <a:latin typeface="Cambria Math" panose="02040503050406030204" pitchFamily="18" charset="0"/>
                                    <a:cs typeface="DejaVu Math TeX Gyre" panose="02000503000000000000" charset="0"/>
                                  </a:rPr>
                                  <m:t>𝑞</m:t>
                                </m:r>
                                <m:r>
                                  <a:rPr lang="en-US" altLang="de-DE" i="1">
                                    <a:latin typeface="Cambria Math" panose="02040503050406030204" pitchFamily="18" charset="0"/>
                                    <a:ea typeface="MS Mincho" charset="0"/>
                                    <a:cs typeface="DejaVu Math TeX Gyre" panose="02000503000000000000" charset="0"/>
                                  </a:rPr>
                                  <m:t> ⊗ 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de-DE" i="1">
                                        <a:latin typeface="Cambria Math" panose="02040503050406030204" pitchFamily="18" charset="0"/>
                                        <a:ea typeface="MS Mincho" charset="0"/>
                                        <a:cs typeface="DejaVu Math TeX Gyre" panose="02000503000000000000" charset="0"/>
                                      </a:rPr>
                                    </m:ctrlPr>
                                  </m:dPr>
                                  <m:e>
                                    <m:eqArr>
                                      <m:eqArrPr>
                                        <m:ctrlPr>
                                          <a:rPr lang="en-US" altLang="de-DE" i="1">
                                            <a:latin typeface="Cambria Math" panose="02040503050406030204" pitchFamily="18" charset="0"/>
                                            <a:ea typeface="MS Mincho" charset="0"/>
                                            <a:cs typeface="DejaVu Math TeX Gyre" panose="02000503000000000000" charset="0"/>
                                          </a:rPr>
                                        </m:ctrlPr>
                                      </m:eqArrPr>
                                      <m:e>
                                        <m:r>
                                          <a:rPr lang="en-US" altLang="de-DE" i="1">
                                            <a:latin typeface="Cambria Math" panose="02040503050406030204" pitchFamily="18" charset="0"/>
                                            <a:ea typeface="MS Mincho" charset="0"/>
                                            <a:cs typeface="DejaVu Math TeX Gyre" panose="02000503000000000000" charset="0"/>
                                          </a:rPr>
                                          <m:t>0</m:t>
                                        </m:r>
                                      </m:e>
                                      <m:e>
                                        <m:r>
                                          <a:rPr lang="en-US" altLang="de-DE" i="1">
                                            <a:latin typeface="Cambria Math" panose="02040503050406030204" pitchFamily="18" charset="0"/>
                                            <a:ea typeface="MS Mincho" charset="0"/>
                                            <a:cs typeface="DejaVu Math TeX Gyre" panose="02000503000000000000" charset="0"/>
                                          </a:rPr>
                                          <m:t>𝜔</m:t>
                                        </m:r>
                                      </m:e>
                                    </m:eqArr>
                                  </m:e>
                                </m:d>
                              </m:e>
                            </m:box>
                          </m:e>
                          <m:e>
                            <m:r>
                              <a:rPr lang="en-US" altLang="de-DE" i="1">
                                <a:latin typeface="Cambria Math" panose="02040503050406030204" pitchFamily="18" charset="0"/>
                                <a:ea typeface="MS Mincho" charset="0"/>
                                <a:cs typeface="DejaVu Math TeX Gyre" panose="02000503000000000000" charset="0"/>
                              </a:rPr>
                              <m:t>𝜏</m:t>
                            </m:r>
                            <m:r>
                              <a:rPr lang="en-US" altLang="de-DE" i="1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  <m:t>−</m:t>
                            </m:r>
                            <m:r>
                              <a:rPr lang="en-US" altLang="de-DE" i="1">
                                <a:latin typeface="Cambria Math" panose="02040503050406030204" pitchFamily="18" charset="0"/>
                                <a:ea typeface="MS Mincho" charset="0"/>
                                <a:cs typeface="DejaVu Math TeX Gyre" panose="02000503000000000000" charset="0"/>
                              </a:rPr>
                              <m:t>𝜔</m:t>
                            </m:r>
                            <m:r>
                              <a:rPr lang="en-US" altLang="de-DE" i="1">
                                <a:latin typeface="Cambria Math" panose="02040503050406030204" pitchFamily="18" charset="0"/>
                                <a:ea typeface="MS Mincho" charset="0"/>
                                <a:cs typeface="DejaVu Math TeX Gyre" panose="02000503000000000000" charset="0"/>
                              </a:rPr>
                              <m:t>×(</m:t>
                            </m:r>
                            <m:r>
                              <a:rPr lang="en-US" altLang="de-DE" i="1">
                                <a:latin typeface="Cambria Math" panose="02040503050406030204" pitchFamily="18" charset="0"/>
                                <a:ea typeface="MS Mincho" charset="0"/>
                                <a:cs typeface="DejaVu Math TeX Gyre" panose="02000503000000000000" charset="0"/>
                              </a:rPr>
                              <m:t>𝐼</m:t>
                            </m:r>
                            <m:r>
                              <a:rPr lang="en-US" altLang="de-DE" i="1">
                                <a:latin typeface="Cambria Math" panose="02040503050406030204" pitchFamily="18" charset="0"/>
                                <a:ea typeface="MS Mincho" charset="0"/>
                                <a:cs typeface="DejaVu Math TeX Gyre" panose="02000503000000000000" charset="0"/>
                              </a:rPr>
                              <m:t>𝜔</m:t>
                            </m:r>
                            <m:r>
                              <a:rPr lang="en-US" altLang="de-DE" i="1">
                                <a:latin typeface="Cambria Math" panose="02040503050406030204" pitchFamily="18" charset="0"/>
                                <a:ea typeface="MS Mincho" charset="0"/>
                                <a:cs typeface="DejaVu Math TeX Gyre" panose="02000503000000000000" charset="0"/>
                              </a:rPr>
                              <m:t>) </m:t>
                            </m:r>
                          </m:e>
                        </m:eqArr>
                      </m:e>
                    </m:d>
                    <m:r>
                      <a:rPr lang="en-US" altLang="de-DE" i="1">
                        <a:latin typeface="Cambria Math" panose="02040503050406030204" pitchFamily="18" charset="0"/>
                        <a:ea typeface="MS Mincho" charset="0"/>
                        <a:cs typeface="DejaVu Math TeX Gyre" panose="02000503000000000000" charset="0"/>
                      </a:rPr>
                      <m:t> </m:t>
                    </m:r>
                  </m:oMath>
                </a14:m>
                <a:endParaRPr lang="de-DE" altLang="en-US" dirty="0">
                  <a:latin typeface="+mn-ea"/>
                  <a:cs typeface="+mn-ea"/>
                </a:endParaRPr>
              </a:p>
              <a:p>
                <a:pPr marL="342900" indent="-342900">
                  <a:lnSpc>
                    <a:spcPct val="200000"/>
                  </a:lnSpc>
                  <a:buAutoNum type="arabicPeriod"/>
                </a:pPr>
                <a:r>
                  <a:rPr lang="de-DE" altLang="en-US" b="1" dirty="0">
                    <a:latin typeface="+mn-ea"/>
                    <a:cs typeface="+mn-ea"/>
                  </a:rPr>
                  <a:t>Construct Optimal Control Problem (OCP):</a:t>
                </a: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de-DE" altLang="en-US" dirty="0">
                    <a:latin typeface="+mn-ea"/>
                    <a:cs typeface="+mn-ea"/>
                    <a:sym typeface="+mn-ea"/>
                  </a:rPr>
                  <a:t>Define objective/cost function →</a:t>
                </a:r>
                <a14:m>
                  <m:oMath xmlns:m="http://schemas.openxmlformats.org/officeDocument/2006/math">
                    <m:r>
                      <a:rPr lang="en-US" altLang="de-DE" i="1">
                        <a:latin typeface="Cambria Math" panose="02040503050406030204" pitchFamily="18" charset="0"/>
                        <a:cs typeface="DejaVu Math TeX Gyre" panose="02000503000000000000" charset="0"/>
                        <a:sym typeface="+mn-ea"/>
                      </a:rPr>
                      <m:t> </m:t>
                    </m:r>
                    <m:r>
                      <a:rPr lang="en-US" altLang="de-DE" i="1">
                        <a:latin typeface="Cambria Math" panose="02040503050406030204" pitchFamily="18" charset="0"/>
                        <a:cs typeface="DejaVu Math TeX Gyre" panose="02000503000000000000" charset="0"/>
                        <a:sym typeface="+mn-ea"/>
                      </a:rPr>
                      <m:t>𝐽</m:t>
                    </m:r>
                    <m:r>
                      <a:rPr lang="en-US" altLang="de-DE" i="1">
                        <a:latin typeface="Cambria Math" panose="02040503050406030204" pitchFamily="18" charset="0"/>
                        <a:cs typeface="DejaVu Math TeX Gyre" panose="02000503000000000000" charset="0"/>
                        <a:sym typeface="+mn-ea"/>
                      </a:rPr>
                      <m:t>=</m:t>
                    </m:r>
                    <m:r>
                      <a:rPr lang="en-US" altLang="de-DE" i="1" smtClean="0">
                        <a:latin typeface="Cambria Math" panose="02040503050406030204" pitchFamily="18" charset="0"/>
                        <a:cs typeface="DejaVu Math TeX Gyre" panose="02000503000000000000" charset="0"/>
                        <a:sym typeface="+mn-ea"/>
                      </a:rPr>
                      <m:t>𝑇</m:t>
                    </m:r>
                  </m:oMath>
                </a14:m>
                <a:r>
                  <a:rPr lang="de-DE" altLang="en-US" dirty="0">
                    <a:latin typeface="+mn-ea"/>
                    <a:cs typeface="+mn-ea"/>
                    <a:sym typeface="+mn-ea"/>
                  </a:rPr>
                  <a:t> </a:t>
                </a: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de-DE" altLang="en-US" dirty="0">
                    <a:latin typeface="+mn-ea"/>
                    <a:cs typeface="+mn-ea"/>
                    <a:sym typeface="+mn-ea"/>
                  </a:rPr>
                  <a:t>Define constraints → </a:t>
                </a:r>
                <a14:m>
                  <m:oMath xmlns:m="http://schemas.openxmlformats.org/officeDocument/2006/math">
                    <m:r>
                      <a:rPr lang="en-US" altLang="de-DE" i="1">
                        <a:latin typeface="Cambria Math" panose="02040503050406030204" pitchFamily="18" charset="0"/>
                        <a:cs typeface="DejaVu Math TeX Gyre" panose="02000503000000000000" charset="0"/>
                        <a:sym typeface="+mn-ea"/>
                      </a:rPr>
                      <m:t>||</m:t>
                    </m:r>
                    <m:r>
                      <a:rPr lang="en-US" altLang="de-DE" i="1">
                        <a:latin typeface="Cambria Math" panose="02040503050406030204" pitchFamily="18" charset="0"/>
                        <a:cs typeface="DejaVu Math TeX Gyre" panose="02000503000000000000" charset="0"/>
                        <a:sym typeface="+mn-ea"/>
                      </a:rPr>
                      <m:t>𝑞</m:t>
                    </m:r>
                    <m:r>
                      <a:rPr lang="en-US" altLang="de-DE" i="1">
                        <a:latin typeface="Cambria Math" panose="02040503050406030204" pitchFamily="18" charset="0"/>
                        <a:cs typeface="DejaVu Math TeX Gyre" panose="02000503000000000000" charset="0"/>
                        <a:sym typeface="+mn-ea"/>
                      </a:rPr>
                      <m:t>||=1</m:t>
                    </m:r>
                  </m:oMath>
                </a14:m>
                <a:r>
                  <a:rPr lang="de-DE" altLang="en-US" dirty="0">
                    <a:latin typeface="+mn-ea"/>
                    <a:cs typeface="+mn-ea"/>
                    <a:sym typeface="+mn-ea"/>
                  </a:rPr>
                  <a:t> </a:t>
                </a:r>
                <a:endParaRPr lang="de-DE" altLang="en-US" dirty="0">
                  <a:latin typeface="+mn-ea"/>
                  <a:cs typeface="+mn-ea"/>
                </a:endParaRPr>
              </a:p>
              <a:p>
                <a:pPr marL="342900" indent="-342900">
                  <a:lnSpc>
                    <a:spcPct val="200000"/>
                  </a:lnSpc>
                  <a:buAutoNum type="arabicPeriod"/>
                </a:pPr>
                <a:r>
                  <a:rPr lang="de-DE" altLang="en-US" b="1" dirty="0">
                    <a:latin typeface="+mn-ea"/>
                    <a:cs typeface="+mn-ea"/>
                  </a:rPr>
                  <a:t>Choose OCP solver architecture</a:t>
                </a:r>
              </a:p>
            </p:txBody>
          </p:sp>
        </mc:Choice>
        <mc:Fallback xmlns="">
          <p:sp>
            <p:nvSpPr>
              <p:cNvPr id="17" name="Text 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700" y="1762125"/>
                <a:ext cx="6860540" cy="2678430"/>
              </a:xfrm>
              <a:prstGeom prst="rect">
                <a:avLst/>
              </a:prstGeom>
              <a:blipFill>
                <a:blip r:embed="rId2"/>
                <a:stretch>
                  <a:fillRect l="-533" t="-43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 Box 17"/>
              <p:cNvSpPr txBox="1"/>
              <p:nvPr/>
            </p:nvSpPr>
            <p:spPr>
              <a:xfrm>
                <a:off x="5420995" y="3648710"/>
                <a:ext cx="2252980" cy="25539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de-DE" altLang="en-US" sz="1200" dirty="0">
                    <a:latin typeface="+mn-ea"/>
                    <a:cs typeface="+mn-ea"/>
                  </a:rPr>
                  <a:t>Legend:</a:t>
                </a:r>
              </a:p>
              <a:p>
                <a:pPr algn="l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altLang="de-DE" sz="1200" i="1">
                        <a:latin typeface="Cambria Math" panose="02040503050406030204" pitchFamily="18" charset="0"/>
                        <a:cs typeface="DejaVu Math TeX Gyre" panose="02000503000000000000" charset="0"/>
                      </a:rPr>
                      <m:t>𝑞</m:t>
                    </m:r>
                  </m:oMath>
                </a14:m>
                <a:r>
                  <a:rPr lang="de-DE" altLang="en-US" sz="1200" dirty="0">
                    <a:latin typeface="+mn-ea"/>
                    <a:cs typeface="+mn-ea"/>
                  </a:rPr>
                  <a:t> </a:t>
                </a:r>
                <a:r>
                  <a:rPr lang="de-DE" altLang="en-US" sz="1200" dirty="0">
                    <a:latin typeface="+mn-ea"/>
                    <a:cs typeface="+mn-ea"/>
                    <a:sym typeface="+mn-ea"/>
                  </a:rPr>
                  <a:t>→</a:t>
                </a:r>
                <a14:m>
                  <m:oMath xmlns:m="http://schemas.openxmlformats.org/officeDocument/2006/math">
                    <m:r>
                      <a:rPr lang="en-US" altLang="de-DE" sz="1200" i="1">
                        <a:latin typeface="Cambria Math" panose="02040503050406030204" pitchFamily="18" charset="0"/>
                        <a:cs typeface="DejaVu Math TeX Gyre" panose="02000503000000000000" charset="0"/>
                        <a:sym typeface="+mn-ea"/>
                      </a:rPr>
                      <m:t> </m:t>
                    </m:r>
                  </m:oMath>
                </a14:m>
                <a:r>
                  <a:rPr lang="de-DE" altLang="en-US" sz="1200" dirty="0">
                    <a:latin typeface="+mn-ea"/>
                    <a:cs typeface="+mn-ea"/>
                  </a:rPr>
                  <a:t>Quaternion vector</a:t>
                </a:r>
              </a:p>
              <a:p>
                <a:pPr algn="l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altLang="de-DE" sz="1200" i="1">
                        <a:latin typeface="Cambria Math" panose="02040503050406030204" pitchFamily="18" charset="0"/>
                        <a:ea typeface="MS Mincho" charset="0"/>
                        <a:cs typeface="DejaVu Math TeX Gyre" panose="02000503000000000000" charset="0"/>
                      </a:rPr>
                      <m:t>𝜔</m:t>
                    </m:r>
                  </m:oMath>
                </a14:m>
                <a:r>
                  <a:rPr lang="de-DE" altLang="en-US" sz="1200" dirty="0">
                    <a:latin typeface="+mn-ea"/>
                    <a:cs typeface="+mn-ea"/>
                  </a:rPr>
                  <a:t> </a:t>
                </a:r>
                <a:r>
                  <a:rPr lang="de-DE" altLang="en-US" sz="1200" dirty="0">
                    <a:latin typeface="+mn-ea"/>
                    <a:cs typeface="+mn-ea"/>
                    <a:sym typeface="+mn-ea"/>
                  </a:rPr>
                  <a:t>→</a:t>
                </a:r>
                <a14:m>
                  <m:oMath xmlns:m="http://schemas.openxmlformats.org/officeDocument/2006/math">
                    <m:r>
                      <a:rPr lang="en-US" altLang="de-DE" sz="1200" i="1">
                        <a:latin typeface="Cambria Math" panose="02040503050406030204" pitchFamily="18" charset="0"/>
                        <a:cs typeface="DejaVu Math TeX Gyre" panose="02000503000000000000" charset="0"/>
                        <a:sym typeface="+mn-ea"/>
                      </a:rPr>
                      <m:t> </m:t>
                    </m:r>
                  </m:oMath>
                </a14:m>
                <a:r>
                  <a:rPr lang="de-DE" altLang="en-US" sz="1200" dirty="0">
                    <a:latin typeface="+mn-ea"/>
                    <a:cs typeface="+mn-ea"/>
                  </a:rPr>
                  <a:t>Angular velocity vector</a:t>
                </a:r>
              </a:p>
              <a:p>
                <a:pPr algn="l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altLang="de-DE" sz="1200" i="1">
                        <a:latin typeface="Cambria Math" panose="02040503050406030204" pitchFamily="18" charset="0"/>
                        <a:cs typeface="DejaVu Math TeX Gyre" panose="02000503000000000000" charset="0"/>
                      </a:rPr>
                      <m:t>𝐼</m:t>
                    </m:r>
                  </m:oMath>
                </a14:m>
                <a:r>
                  <a:rPr lang="de-DE" altLang="en-US" sz="1200" dirty="0">
                    <a:latin typeface="+mn-ea"/>
                    <a:cs typeface="+mn-ea"/>
                  </a:rPr>
                  <a:t> </a:t>
                </a:r>
                <a:r>
                  <a:rPr lang="de-DE" altLang="en-US" sz="1200" dirty="0">
                    <a:latin typeface="+mn-ea"/>
                    <a:cs typeface="+mn-ea"/>
                    <a:sym typeface="+mn-ea"/>
                  </a:rPr>
                  <a:t>→</a:t>
                </a:r>
                <a14:m>
                  <m:oMath xmlns:m="http://schemas.openxmlformats.org/officeDocument/2006/math">
                    <m:r>
                      <a:rPr lang="en-US" altLang="de-DE" sz="1200" i="1">
                        <a:latin typeface="Cambria Math" panose="02040503050406030204" pitchFamily="18" charset="0"/>
                        <a:cs typeface="DejaVu Math TeX Gyre" panose="02000503000000000000" charset="0"/>
                        <a:sym typeface="+mn-ea"/>
                      </a:rPr>
                      <m:t> </m:t>
                    </m:r>
                  </m:oMath>
                </a14:m>
                <a:r>
                  <a:rPr lang="de-DE" altLang="en-US" sz="1200" dirty="0">
                    <a:latin typeface="+mn-ea"/>
                    <a:cs typeface="+mn-ea"/>
                  </a:rPr>
                  <a:t>Inertia matrix</a:t>
                </a:r>
              </a:p>
              <a:p>
                <a:pPr algn="l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altLang="de-DE" sz="1200" i="1">
                        <a:latin typeface="Cambria Math" panose="02040503050406030204" pitchFamily="18" charset="0"/>
                        <a:ea typeface="MS Mincho" charset="0"/>
                        <a:cs typeface="DejaVu Math TeX Gyre" panose="02000503000000000000" charset="0"/>
                      </a:rPr>
                      <m:t>𝜏</m:t>
                    </m:r>
                  </m:oMath>
                </a14:m>
                <a:r>
                  <a:rPr lang="de-DE" altLang="en-US" sz="1200" i="1" dirty="0">
                    <a:latin typeface="+mn-ea"/>
                    <a:cs typeface="+mn-ea"/>
                  </a:rPr>
                  <a:t> </a:t>
                </a:r>
                <a:r>
                  <a:rPr lang="de-DE" altLang="en-US" sz="1200" dirty="0">
                    <a:latin typeface="+mn-ea"/>
                    <a:cs typeface="+mn-ea"/>
                    <a:sym typeface="+mn-ea"/>
                  </a:rPr>
                  <a:t>→</a:t>
                </a:r>
                <a14:m>
                  <m:oMath xmlns:m="http://schemas.openxmlformats.org/officeDocument/2006/math">
                    <m:r>
                      <a:rPr lang="en-US" altLang="de-DE" sz="1200" i="1">
                        <a:latin typeface="Cambria Math" panose="02040503050406030204" pitchFamily="18" charset="0"/>
                        <a:cs typeface="DejaVu Math TeX Gyre" panose="02000503000000000000" charset="0"/>
                        <a:sym typeface="+mn-ea"/>
                      </a:rPr>
                      <m:t> </m:t>
                    </m:r>
                  </m:oMath>
                </a14:m>
                <a:r>
                  <a:rPr lang="de-DE" altLang="en-US" sz="1200" dirty="0">
                    <a:latin typeface="+mn-ea"/>
                    <a:cs typeface="+mn-ea"/>
                  </a:rPr>
                  <a:t>External torque vector</a:t>
                </a:r>
              </a:p>
              <a:p>
                <a:pPr algn="l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altLang="de-DE" sz="1200" i="1">
                        <a:latin typeface="Cambria Math" panose="02040503050406030204" pitchFamily="18" charset="0"/>
                        <a:cs typeface="DejaVu Math TeX Gyre" panose="02000503000000000000" charset="0"/>
                        <a:sym typeface="+mn-ea"/>
                      </a:rPr>
                      <m:t>𝐽</m:t>
                    </m:r>
                  </m:oMath>
                </a14:m>
                <a:r>
                  <a:rPr lang="de-DE" altLang="en-US" sz="1200" dirty="0">
                    <a:latin typeface="+mn-ea"/>
                    <a:cs typeface="+mn-ea"/>
                  </a:rPr>
                  <a:t> </a:t>
                </a:r>
                <a:r>
                  <a:rPr lang="de-DE" altLang="en-US" sz="1200" dirty="0">
                    <a:latin typeface="+mn-ea"/>
                    <a:cs typeface="+mn-ea"/>
                    <a:sym typeface="+mn-ea"/>
                  </a:rPr>
                  <a:t>→</a:t>
                </a:r>
                <a14:m>
                  <m:oMath xmlns:m="http://schemas.openxmlformats.org/officeDocument/2006/math">
                    <m:r>
                      <a:rPr lang="en-US" altLang="de-DE" sz="1200" i="1">
                        <a:latin typeface="Cambria Math" panose="02040503050406030204" pitchFamily="18" charset="0"/>
                        <a:cs typeface="DejaVu Math TeX Gyre" panose="02000503000000000000" charset="0"/>
                        <a:sym typeface="+mn-ea"/>
                      </a:rPr>
                      <m:t> </m:t>
                    </m:r>
                  </m:oMath>
                </a14:m>
                <a:r>
                  <a:rPr lang="de-DE" altLang="en-US" sz="1200" dirty="0">
                    <a:latin typeface="+mn-ea"/>
                    <a:cs typeface="+mn-ea"/>
                  </a:rPr>
                  <a:t>Cost function</a:t>
                </a:r>
              </a:p>
              <a:p>
                <a:pPr algn="l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altLang="de-DE" sz="1200" i="1" smtClean="0">
                        <a:latin typeface="Cambria Math" panose="02040503050406030204" pitchFamily="18" charset="0"/>
                        <a:cs typeface="DejaVu Math TeX Gyre" panose="02000503000000000000" charset="0"/>
                        <a:sym typeface="+mn-ea"/>
                      </a:rPr>
                      <m:t>𝑇</m:t>
                    </m:r>
                  </m:oMath>
                </a14:m>
                <a:r>
                  <a:rPr lang="de-DE" altLang="en-US" sz="1200" dirty="0">
                    <a:latin typeface="+mn-ea"/>
                    <a:cs typeface="+mn-ea"/>
                  </a:rPr>
                  <a:t> </a:t>
                </a:r>
                <a:r>
                  <a:rPr lang="de-DE" altLang="en-US" sz="1200" dirty="0">
                    <a:latin typeface="+mn-ea"/>
                    <a:cs typeface="+mn-ea"/>
                    <a:sym typeface="+mn-ea"/>
                  </a:rPr>
                  <a:t>→</a:t>
                </a:r>
                <a14:m>
                  <m:oMath xmlns:m="http://schemas.openxmlformats.org/officeDocument/2006/math">
                    <m:r>
                      <a:rPr lang="en-US" altLang="de-DE" sz="1200" i="1">
                        <a:latin typeface="Cambria Math" panose="02040503050406030204" pitchFamily="18" charset="0"/>
                        <a:cs typeface="DejaVu Math TeX Gyre" panose="02000503000000000000" charset="0"/>
                        <a:sym typeface="+mn-ea"/>
                      </a:rPr>
                      <m:t> </m:t>
                    </m:r>
                  </m:oMath>
                </a14:m>
                <a:r>
                  <a:rPr lang="de-DE" altLang="en-US" sz="1200" dirty="0">
                    <a:latin typeface="+mn-ea"/>
                    <a:cs typeface="+mn-ea"/>
                  </a:rPr>
                  <a:t>Total maneuver duration</a:t>
                </a:r>
              </a:p>
              <a:p>
                <a:pPr algn="l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altLang="de-DE" sz="1200" i="1">
                        <a:latin typeface="Cambria Math" panose="02040503050406030204" pitchFamily="18" charset="0"/>
                        <a:ea typeface="MS Mincho" charset="0"/>
                        <a:cs typeface="DejaVu Math TeX Gyre" panose="02000503000000000000" charset="0"/>
                      </a:rPr>
                      <m:t>⊗</m:t>
                    </m:r>
                  </m:oMath>
                </a14:m>
                <a:r>
                  <a:rPr lang="de-DE" altLang="en-US" sz="1200" i="1" dirty="0">
                    <a:latin typeface="+mn-ea"/>
                    <a:cs typeface="+mn-ea"/>
                  </a:rPr>
                  <a:t> </a:t>
                </a:r>
                <a:r>
                  <a:rPr lang="de-DE" altLang="en-US" sz="1200" dirty="0">
                    <a:latin typeface="+mn-ea"/>
                    <a:cs typeface="+mn-ea"/>
                    <a:sym typeface="+mn-ea"/>
                  </a:rPr>
                  <a:t>→</a:t>
                </a:r>
                <a14:m>
                  <m:oMath xmlns:m="http://schemas.openxmlformats.org/officeDocument/2006/math">
                    <m:r>
                      <a:rPr lang="en-US" altLang="de-DE" sz="1200" i="1">
                        <a:latin typeface="Cambria Math" panose="02040503050406030204" pitchFamily="18" charset="0"/>
                        <a:cs typeface="DejaVu Math TeX Gyre" panose="02000503000000000000" charset="0"/>
                        <a:sym typeface="+mn-ea"/>
                      </a:rPr>
                      <m:t> </m:t>
                    </m:r>
                  </m:oMath>
                </a14:m>
                <a:r>
                  <a:rPr lang="de-DE" altLang="en-US" sz="1200" dirty="0">
                    <a:latin typeface="+mn-ea"/>
                    <a:cs typeface="+mn-ea"/>
                  </a:rPr>
                  <a:t>Quaternion multiplication</a:t>
                </a:r>
              </a:p>
              <a:p>
                <a:pPr algn="l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altLang="de-DE" sz="1200" i="1">
                        <a:latin typeface="Cambria Math" panose="02040503050406030204" pitchFamily="18" charset="0"/>
                        <a:cs typeface="DejaVu Math TeX Gyre" panose="02000503000000000000" charset="0"/>
                      </a:rPr>
                      <m:t>×</m:t>
                    </m:r>
                  </m:oMath>
                </a14:m>
                <a:r>
                  <a:rPr lang="de-DE" altLang="en-US" sz="1200" i="1" dirty="0">
                    <a:latin typeface="+mn-ea"/>
                    <a:cs typeface="+mn-ea"/>
                  </a:rPr>
                  <a:t> </a:t>
                </a:r>
                <a:r>
                  <a:rPr lang="de-DE" altLang="en-US" sz="1200" dirty="0">
                    <a:latin typeface="+mn-ea"/>
                    <a:cs typeface="+mn-ea"/>
                    <a:sym typeface="+mn-ea"/>
                  </a:rPr>
                  <a:t>→</a:t>
                </a:r>
                <a14:m>
                  <m:oMath xmlns:m="http://schemas.openxmlformats.org/officeDocument/2006/math">
                    <m:r>
                      <a:rPr lang="en-US" altLang="de-DE" sz="1200" i="1">
                        <a:latin typeface="Cambria Math" panose="02040503050406030204" pitchFamily="18" charset="0"/>
                        <a:cs typeface="DejaVu Math TeX Gyre" panose="02000503000000000000" charset="0"/>
                        <a:sym typeface="+mn-ea"/>
                      </a:rPr>
                      <m:t> </m:t>
                    </m:r>
                  </m:oMath>
                </a14:m>
                <a:r>
                  <a:rPr lang="de-DE" altLang="en-US" sz="1200" dirty="0">
                    <a:latin typeface="+mn-ea"/>
                    <a:cs typeface="+mn-ea"/>
                  </a:rPr>
                  <a:t>Cross product</a:t>
                </a:r>
              </a:p>
              <a:p>
                <a:pPr algn="l">
                  <a:lnSpc>
                    <a:spcPct val="120000"/>
                  </a:lnSpc>
                </a:pP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altLang="de-DE" sz="1200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accPr>
                      <m:e>
                        <m:r>
                          <a:rPr lang="en-US" altLang="de-DE" sz="1200">
                            <a:latin typeface="Cambria Math" panose="02040503050406030204" pitchFamily="18" charset="0"/>
                            <a:ea typeface="MS Mincho" charset="0"/>
                            <a:cs typeface="DejaVu Math TeX Gyre" panose="02000503000000000000" charset="0"/>
                          </a:rPr>
                          <m:t>∎</m:t>
                        </m:r>
                      </m:e>
                    </m:acc>
                  </m:oMath>
                </a14:m>
                <a:r>
                  <a:rPr lang="de-DE" altLang="en-US" sz="1200" dirty="0">
                    <a:latin typeface="+mn-ea"/>
                    <a:cs typeface="+mn-ea"/>
                  </a:rPr>
                  <a:t> </a:t>
                </a:r>
                <a:r>
                  <a:rPr lang="de-DE" altLang="en-US" sz="1200" dirty="0">
                    <a:latin typeface="+mn-ea"/>
                    <a:cs typeface="+mn-ea"/>
                    <a:sym typeface="+mn-ea"/>
                  </a:rPr>
                  <a:t>→</a:t>
                </a:r>
                <a14:m>
                  <m:oMath xmlns:m="http://schemas.openxmlformats.org/officeDocument/2006/math">
                    <m:r>
                      <a:rPr lang="en-US" altLang="de-DE" sz="1200" i="1">
                        <a:latin typeface="Cambria Math" panose="02040503050406030204" pitchFamily="18" charset="0"/>
                        <a:cs typeface="DejaVu Math TeX Gyre" panose="02000503000000000000" charset="0"/>
                        <a:sym typeface="+mn-ea"/>
                      </a:rPr>
                      <m:t> </m:t>
                    </m:r>
                  </m:oMath>
                </a14:m>
                <a:r>
                  <a:rPr lang="de-DE" altLang="en-US" sz="1200" dirty="0">
                    <a:latin typeface="+mn-ea"/>
                    <a:cs typeface="+mn-ea"/>
                  </a:rPr>
                  <a:t>Time derivative</a:t>
                </a:r>
              </a:p>
              <a:p>
                <a:pPr algn="l">
                  <a:lnSpc>
                    <a:spcPct val="120000"/>
                  </a:lnSpc>
                </a:pPr>
                <a:r>
                  <a:rPr lang="de-DE" altLang="en-US" sz="1200" dirty="0">
                    <a:latin typeface="+mn-ea"/>
                    <a:cs typeface="+mn-ea"/>
                  </a:rPr>
                  <a:t>||</a:t>
                </a:r>
                <a14:m>
                  <m:oMath xmlns:m="http://schemas.openxmlformats.org/officeDocument/2006/math">
                    <m:r>
                      <a:rPr lang="en-US" altLang="de-DE" sz="1200">
                        <a:latin typeface="Cambria Math" panose="02040503050406030204" pitchFamily="18" charset="0"/>
                        <a:ea typeface="MS Mincho" charset="0"/>
                        <a:cs typeface="DejaVu Math TeX Gyre" panose="02000503000000000000" charset="0"/>
                      </a:rPr>
                      <m:t>∎</m:t>
                    </m:r>
                  </m:oMath>
                </a14:m>
                <a:r>
                  <a:rPr lang="de-DE" altLang="en-US" sz="1200" dirty="0">
                    <a:latin typeface="+mn-ea"/>
                    <a:cs typeface="+mn-ea"/>
                  </a:rPr>
                  <a:t>|| </a:t>
                </a:r>
                <a:r>
                  <a:rPr lang="de-DE" altLang="en-US" sz="1200" dirty="0">
                    <a:latin typeface="+mn-ea"/>
                    <a:cs typeface="+mn-ea"/>
                    <a:sym typeface="+mn-ea"/>
                  </a:rPr>
                  <a:t>→</a:t>
                </a:r>
                <a14:m>
                  <m:oMath xmlns:m="http://schemas.openxmlformats.org/officeDocument/2006/math">
                    <m:r>
                      <a:rPr lang="en-US" altLang="de-DE" sz="1200" i="1">
                        <a:latin typeface="Cambria Math" panose="02040503050406030204" pitchFamily="18" charset="0"/>
                        <a:cs typeface="DejaVu Math TeX Gyre" panose="02000503000000000000" charset="0"/>
                        <a:sym typeface="+mn-ea"/>
                      </a:rPr>
                      <m:t> </m:t>
                    </m:r>
                  </m:oMath>
                </a14:m>
                <a:r>
                  <a:rPr lang="de-DE" altLang="en-US" sz="1200" dirty="0">
                    <a:latin typeface="+mn-ea"/>
                    <a:cs typeface="+mn-ea"/>
                  </a:rPr>
                  <a:t>Euclidean norm</a:t>
                </a:r>
              </a:p>
            </p:txBody>
          </p:sp>
        </mc:Choice>
        <mc:Fallback xmlns="">
          <p:sp>
            <p:nvSpPr>
              <p:cNvPr id="18" name="Text 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0995" y="3648710"/>
                <a:ext cx="2252980" cy="255397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7" grpId="1"/>
      <p:bldP spid="18" grpId="0"/>
      <p:bldP spid="18" grpId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D82FDA3-0C83-966F-ED62-3FC30F7EE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A817865D-796C-C21E-EE45-5B258D6DA253}"/>
              </a:ext>
            </a:extLst>
          </p:cNvPr>
          <p:cNvSpPr/>
          <p:nvPr/>
        </p:nvSpPr>
        <p:spPr>
          <a:xfrm>
            <a:off x="9732010" y="1922780"/>
            <a:ext cx="743585" cy="74358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altLang="en-US" sz="2000" b="1" dirty="0">
                <a:solidFill>
                  <a:srgbClr val="000000"/>
                </a:solidFill>
                <a:cs typeface="+mn-lt"/>
              </a:rPr>
              <a:t>2</a:t>
            </a:r>
            <a:r>
              <a:rPr lang="de-DE" altLang="en-US" sz="2000" b="1" baseline="50000" dirty="0">
                <a:solidFill>
                  <a:srgbClr val="000000"/>
                </a:solidFill>
                <a:uFillTx/>
                <a:cs typeface="+mn-lt"/>
              </a:rPr>
              <a:t>nd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D7150761-7675-B59B-F957-966502EAC478}"/>
              </a:ext>
            </a:extLst>
          </p:cNvPr>
          <p:cNvSpPr/>
          <p:nvPr/>
        </p:nvSpPr>
        <p:spPr>
          <a:xfrm>
            <a:off x="8711565" y="2530475"/>
            <a:ext cx="2784475" cy="1570990"/>
          </a:xfrm>
          <a:prstGeom prst="roundRect">
            <a:avLst/>
          </a:prstGeom>
          <a:solidFill>
            <a:srgbClr val="002060"/>
          </a:solidFill>
          <a:ln w="476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altLang="en-US">
                <a:latin typeface="Calibri" charset="0"/>
                <a:sym typeface="+mn-ea"/>
              </a:rPr>
              <a:t>Robustly obtain solutions in less than 1 second</a:t>
            </a:r>
            <a:endParaRPr lang="de-DE" altLang="en-US">
              <a:cs typeface="+mn-lt"/>
            </a:endParaRPr>
          </a:p>
        </p:txBody>
      </p:sp>
      <p:sp>
        <p:nvSpPr>
          <p:cNvPr id="8" name="!!Down Arrow 7">
            <a:extLst>
              <a:ext uri="{FF2B5EF4-FFF2-40B4-BE49-F238E27FC236}">
                <a16:creationId xmlns:a16="http://schemas.microsoft.com/office/drawing/2014/main" id="{09B41CF0-CBBE-777A-3F77-94BDC6F56420}"/>
              </a:ext>
            </a:extLst>
          </p:cNvPr>
          <p:cNvSpPr/>
          <p:nvPr/>
        </p:nvSpPr>
        <p:spPr>
          <a:xfrm>
            <a:off x="9954895" y="4101465"/>
            <a:ext cx="297815" cy="1045210"/>
          </a:xfrm>
          <a:prstGeom prst="downArrow">
            <a:avLst>
              <a:gd name="adj1" fmla="val 50000"/>
              <a:gd name="adj2" fmla="val 8507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Box 8">
            <a:extLst>
              <a:ext uri="{FF2B5EF4-FFF2-40B4-BE49-F238E27FC236}">
                <a16:creationId xmlns:a16="http://schemas.microsoft.com/office/drawing/2014/main" id="{22E0036E-02DB-00EB-7178-69E8F60C2A8F}"/>
              </a:ext>
            </a:extLst>
          </p:cNvPr>
          <p:cNvSpPr txBox="1"/>
          <p:nvPr/>
        </p:nvSpPr>
        <p:spPr>
          <a:xfrm>
            <a:off x="8587741" y="5146675"/>
            <a:ext cx="303149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altLang="en-US" sz="2000" b="1" i="1">
                <a:latin typeface="Calibri" charset="0"/>
                <a:sym typeface="+mn-ea"/>
              </a:rPr>
              <a:t>computation_time &lt; 1 </a:t>
            </a:r>
            <a:r>
              <a:rPr lang="de-DE" altLang="en-US" sz="2000" b="1">
                <a:latin typeface="Calibri" charset="0"/>
                <a:sym typeface="+mn-ea"/>
              </a:rPr>
              <a:t>s</a:t>
            </a:r>
            <a:endParaRPr lang="de-DE" altLang="en-US" sz="2000" b="1" i="1">
              <a:latin typeface="Calibri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F45ACA-2C7D-7C49-089B-3D0308F8A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1">
              <a:rPr lang="en-US" altLang="en-US" smtClean="0"/>
              <a:t>12/1/2025</a:t>
            </a:fld>
            <a:endParaRPr lang="zh-CN" alt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EAA4248-45F4-5BE8-13E5-BF0E04233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38</a:t>
            </a:fld>
            <a:endParaRPr lang="zh-CN" alt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6CA21E17-9F31-501E-4D8E-80E63A62B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altLang="zh-CN">
                <a:sym typeface="+mn-ea"/>
              </a:rPr>
              <a:t>Real-Time Time-Optimal Spacecraft Attitude Control</a:t>
            </a:r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1A14EF-20C2-22C5-231C-9A81E2E45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en-US" sz="4400" dirty="0">
                <a:latin typeface="Arial Black" panose="020B0A04020102020204" charset="0"/>
                <a:cs typeface="Arial Black" panose="020B0A04020102020204" charset="0"/>
              </a:rPr>
              <a:t>Foundational Choices</a:t>
            </a: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8205D136-4680-448A-B880-3CB174657BC9}"/>
              </a:ext>
            </a:extLst>
          </p:cNvPr>
          <p:cNvSpPr txBox="1"/>
          <p:nvPr/>
        </p:nvSpPr>
        <p:spPr>
          <a:xfrm>
            <a:off x="647700" y="1724801"/>
            <a:ext cx="686054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+mj-lt"/>
              <a:buAutoNum type="arabicPeriod" startAt="3"/>
            </a:pPr>
            <a:r>
              <a:rPr lang="de-DE" altLang="en-US" b="1" dirty="0">
                <a:latin typeface="+mn-ea"/>
                <a:cs typeface="+mn-ea"/>
              </a:rPr>
              <a:t>Choose OCP solver architecture</a:t>
            </a:r>
          </a:p>
          <a:p>
            <a:pPr marL="800100" lvl="1" indent="-342900">
              <a:lnSpc>
                <a:spcPct val="200000"/>
              </a:lnSpc>
              <a:buFont typeface="+mj-lt"/>
              <a:buAutoNum type="arabicPeriod"/>
            </a:pPr>
            <a:r>
              <a:rPr lang="en-US" altLang="de-DE" dirty="0">
                <a:latin typeface="+mn-ea"/>
                <a:cs typeface="+mn-ea"/>
              </a:rPr>
              <a:t>Solving methods: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9D3B45C-158D-DDD6-1A0C-4BBFC293C89A}"/>
              </a:ext>
            </a:extLst>
          </p:cNvPr>
          <p:cNvGraphicFramePr/>
          <p:nvPr/>
        </p:nvGraphicFramePr>
        <p:xfrm>
          <a:off x="647700" y="3333256"/>
          <a:ext cx="7383145" cy="2270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9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476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857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84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 w="38100" cmpd="sng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Direct</a:t>
                      </a:r>
                    </a:p>
                  </a:txBody>
                  <a:tcPr anchor="ctr">
                    <a:lnL w="38100" cmpd="sng">
                      <a:solidFill>
                        <a:schemeClr val="tx1"/>
                      </a:solidFill>
                      <a:prstDash val="solid"/>
                    </a:lnL>
                    <a:lnT w="38100" cmpd="sng">
                      <a:solidFill>
                        <a:schemeClr val="tx1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Indirect</a:t>
                      </a:r>
                    </a:p>
                  </a:txBody>
                  <a:tcPr anchor="ctr">
                    <a:lnR w="38100" cmpd="sng">
                      <a:solidFill>
                        <a:schemeClr val="tx1"/>
                      </a:solidFill>
                      <a:prstDash val="solid"/>
                    </a:lnR>
                    <a:lnT w="38100" cmpd="sng">
                      <a:solidFill>
                        <a:schemeClr val="tx1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84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Approach</a:t>
                      </a:r>
                    </a:p>
                  </a:txBody>
                  <a:tcPr anchor="ctr">
                    <a:lnL w="38100" cmpd="sng">
                      <a:solidFill>
                        <a:schemeClr val="tx1"/>
                      </a:solidFill>
                      <a:prstDash val="solid"/>
                    </a:lnL>
                    <a:lnR w="38100" cmpd="sng">
                      <a:solidFill>
                        <a:schemeClr val="tx1"/>
                      </a:solidFill>
                      <a:prstDash val="solid"/>
                    </a:ln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cs typeface="+mn-lt"/>
                          <a:sym typeface="+mn-ea"/>
                        </a:rPr>
                        <a:t>Discretize → Optimize</a:t>
                      </a:r>
                    </a:p>
                  </a:txBody>
                  <a:tcPr anchor="ctr">
                    <a:lnL w="38100" cmpd="sng">
                      <a:solidFill>
                        <a:schemeClr val="tx1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cs typeface="+mn-lt"/>
                          <a:sym typeface="+mn-ea"/>
                        </a:rPr>
                        <a:t>Derive optimality conditions → Discretize</a:t>
                      </a:r>
                    </a:p>
                  </a:txBody>
                  <a:tcPr anchor="ctr">
                    <a:lnR w="38100" cmpd="sng">
                      <a:solidFill>
                        <a:schemeClr val="tx1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4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Robustness</a:t>
                      </a:r>
                    </a:p>
                  </a:txBody>
                  <a:tcPr anchor="ctr">
                    <a:lnL w="38100" cmpd="sng">
                      <a:solidFill>
                        <a:schemeClr val="tx1"/>
                      </a:solidFill>
                      <a:prstDash val="solid"/>
                    </a:lnL>
                    <a:lnR w="38100" cmpd="sng">
                      <a:solidFill>
                        <a:schemeClr val="tx1"/>
                      </a:solidFill>
                      <a:prstDash val="solid"/>
                    </a:ln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cs typeface="+mn-lt"/>
                        </a:rPr>
                        <a:t>Can converge even with bad initial guess</a:t>
                      </a:r>
                    </a:p>
                  </a:txBody>
                  <a:tcPr anchor="ctr">
                    <a:lnL w="38100" cmpd="sng">
                      <a:solidFill>
                        <a:schemeClr val="tx1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cs typeface="+mn-lt"/>
                        </a:rPr>
                        <a:t>Sensitive to initial guess</a:t>
                      </a:r>
                    </a:p>
                  </a:txBody>
                  <a:tcPr anchor="ctr">
                    <a:lnR w="38100" cmpd="sng">
                      <a:solidFill>
                        <a:schemeClr val="tx1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84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Implementation</a:t>
                      </a:r>
                    </a:p>
                  </a:txBody>
                  <a:tcPr anchor="ctr">
                    <a:lnL w="38100" cmpd="sng">
                      <a:solidFill>
                        <a:schemeClr val="tx1"/>
                      </a:solidFill>
                      <a:prstDash val="solid"/>
                    </a:lnL>
                    <a:lnR w="38100" cmpd="sng">
                      <a:solidFill>
                        <a:schemeClr val="tx1"/>
                      </a:solidFill>
                      <a:prstDash val="solid"/>
                    </a:ln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cs typeface="+mn-lt"/>
                        </a:rPr>
                        <a:t>Easier</a:t>
                      </a:r>
                    </a:p>
                  </a:txBody>
                  <a:tcPr anchor="ctr">
                    <a:lnL w="38100" cmpd="sng">
                      <a:solidFill>
                        <a:schemeClr val="tx1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cs typeface="+mn-lt"/>
                        </a:rPr>
                        <a:t>More complex</a:t>
                      </a:r>
                    </a:p>
                  </a:txBody>
                  <a:tcPr anchor="ctr">
                    <a:lnR w="38100" cmpd="sng">
                      <a:solidFill>
                        <a:schemeClr val="tx1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84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Optimality</a:t>
                      </a:r>
                    </a:p>
                  </a:txBody>
                  <a:tcPr anchor="ctr">
                    <a:lnL w="38100" cmpd="sng">
                      <a:solidFill>
                        <a:schemeClr val="tx1"/>
                      </a:solidFill>
                      <a:prstDash val="solid"/>
                    </a:lnL>
                    <a:lnR w="38100" cmpd="sng">
                      <a:solidFill>
                        <a:schemeClr val="tx1"/>
                      </a:solidFill>
                      <a:prstDash val="solid"/>
                    </a:ln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cs typeface="+mn-lt"/>
                        </a:rPr>
                        <a:t>Approximate solution</a:t>
                      </a:r>
                    </a:p>
                  </a:txBody>
                  <a:tcPr anchor="ctr">
                    <a:lnL w="38100" cmpd="sng">
                      <a:solidFill>
                        <a:schemeClr val="tx1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cs typeface="+mn-lt"/>
                        </a:rPr>
                        <a:t>Potentially exact</a:t>
                      </a:r>
                    </a:p>
                  </a:txBody>
                  <a:tcPr anchor="ctr">
                    <a:lnR w="38100" cmpd="sng">
                      <a:solidFill>
                        <a:schemeClr val="tx1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84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Solve speed</a:t>
                      </a:r>
                    </a:p>
                  </a:txBody>
                  <a:tcPr anchor="ctr">
                    <a:lnL w="38100" cmpd="sng">
                      <a:solidFill>
                        <a:schemeClr val="tx1"/>
                      </a:solidFill>
                      <a:prstDash val="solid"/>
                    </a:lnL>
                    <a:lnR w="38100" cmpd="sng">
                      <a:solidFill>
                        <a:schemeClr val="tx1"/>
                      </a:solidFill>
                      <a:prstDash val="solid"/>
                    </a:lnR>
                    <a:lnB w="381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cs typeface="+mn-lt"/>
                        </a:rPr>
                        <a:t>Real-time capable</a:t>
                      </a:r>
                    </a:p>
                  </a:txBody>
                  <a:tcPr anchor="ctr">
                    <a:lnL w="38100" cmpd="sng">
                      <a:solidFill>
                        <a:schemeClr val="tx1"/>
                      </a:solidFill>
                      <a:prstDash val="solid"/>
                    </a:lnL>
                    <a:lnB w="381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cs typeface="+mn-lt"/>
                        </a:rPr>
                        <a:t>Slow</a:t>
                      </a:r>
                    </a:p>
                  </a:txBody>
                  <a:tcPr anchor="ctr">
                    <a:lnR w="38100" cmpd="sng">
                      <a:solidFill>
                        <a:schemeClr val="tx1"/>
                      </a:solidFill>
                      <a:prstDash val="solid"/>
                    </a:lnR>
                    <a:lnB w="381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645586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/>
          <p:cNvSpPr/>
          <p:nvPr/>
        </p:nvSpPr>
        <p:spPr>
          <a:xfrm>
            <a:off x="9732010" y="1922780"/>
            <a:ext cx="743585" cy="74358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altLang="en-US" sz="2000" b="1" dirty="0">
                <a:solidFill>
                  <a:srgbClr val="000000"/>
                </a:solidFill>
                <a:cs typeface="+mn-lt"/>
              </a:rPr>
              <a:t>2</a:t>
            </a:r>
            <a:r>
              <a:rPr lang="de-DE" altLang="en-US" sz="2000" b="1" baseline="50000" dirty="0">
                <a:solidFill>
                  <a:srgbClr val="000000"/>
                </a:solidFill>
                <a:uFillTx/>
                <a:cs typeface="+mn-lt"/>
              </a:rPr>
              <a:t>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711565" y="2530475"/>
            <a:ext cx="2784475" cy="1570990"/>
          </a:xfrm>
          <a:prstGeom prst="roundRect">
            <a:avLst/>
          </a:prstGeom>
          <a:solidFill>
            <a:srgbClr val="002060"/>
          </a:solidFill>
          <a:ln w="476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altLang="en-US">
                <a:latin typeface="Calibri" charset="0"/>
                <a:sym typeface="+mn-ea"/>
              </a:rPr>
              <a:t>Robustly obtain solutions in less than 1 second</a:t>
            </a:r>
            <a:endParaRPr lang="de-DE" altLang="en-US">
              <a:cs typeface="+mn-lt"/>
            </a:endParaRPr>
          </a:p>
        </p:txBody>
      </p:sp>
      <p:sp>
        <p:nvSpPr>
          <p:cNvPr id="8" name="!!Down Arrow 7"/>
          <p:cNvSpPr/>
          <p:nvPr/>
        </p:nvSpPr>
        <p:spPr>
          <a:xfrm>
            <a:off x="9954895" y="4101465"/>
            <a:ext cx="297815" cy="1045210"/>
          </a:xfrm>
          <a:prstGeom prst="downArrow">
            <a:avLst>
              <a:gd name="adj1" fmla="val 50000"/>
              <a:gd name="adj2" fmla="val 8507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Box 8"/>
          <p:cNvSpPr txBox="1"/>
          <p:nvPr/>
        </p:nvSpPr>
        <p:spPr>
          <a:xfrm>
            <a:off x="8587741" y="5146675"/>
            <a:ext cx="303149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altLang="en-US" sz="2000" b="1" i="1">
                <a:latin typeface="Calibri" charset="0"/>
                <a:sym typeface="+mn-ea"/>
              </a:rPr>
              <a:t>computation_time &lt; 1 </a:t>
            </a:r>
            <a:r>
              <a:rPr lang="de-DE" altLang="en-US" sz="2000" b="1">
                <a:latin typeface="Calibri" charset="0"/>
                <a:sym typeface="+mn-ea"/>
              </a:rPr>
              <a:t>s</a:t>
            </a:r>
            <a:endParaRPr lang="de-DE" altLang="en-US" sz="2000" b="1" i="1">
              <a:latin typeface="Calibri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1">
              <a:rPr lang="en-US" altLang="en-US" smtClean="0"/>
              <a:t>12/1/2025</a:t>
            </a:fld>
            <a:endParaRPr lang="zh-CN" alt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39</a:t>
            </a:fld>
            <a:endParaRPr lang="zh-CN" alt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altLang="zh-CN">
                <a:sym typeface="+mn-ea"/>
              </a:rPr>
              <a:t>Real-Time Time-Optimal Spacecraft Attitude Control</a:t>
            </a:r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en-US" sz="4400">
                <a:latin typeface="Arial Black" panose="020B0A04020102020204" charset="0"/>
                <a:cs typeface="Arial Black" panose="020B0A04020102020204" charset="0"/>
              </a:rPr>
              <a:t>Methodology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647700" y="1724801"/>
            <a:ext cx="686054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+mj-lt"/>
              <a:buAutoNum type="arabicPeriod" startAt="3"/>
            </a:pPr>
            <a:r>
              <a:rPr lang="de-DE" altLang="en-US" b="1" dirty="0">
                <a:latin typeface="+mn-ea"/>
                <a:cs typeface="+mn-ea"/>
              </a:rPr>
              <a:t>Choose OCP solver architecture</a:t>
            </a:r>
          </a:p>
          <a:p>
            <a:pPr marL="800100" lvl="1" indent="-342900">
              <a:lnSpc>
                <a:spcPct val="200000"/>
              </a:lnSpc>
              <a:buFont typeface="+mj-lt"/>
              <a:buAutoNum type="arabicPeriod"/>
            </a:pPr>
            <a:r>
              <a:rPr lang="en-US" altLang="de-DE" dirty="0">
                <a:latin typeface="+mn-ea"/>
                <a:cs typeface="+mn-ea"/>
              </a:rPr>
              <a:t>Solving methods:</a:t>
            </a:r>
          </a:p>
        </p:txBody>
      </p:sp>
      <p:graphicFrame>
        <p:nvGraphicFramePr>
          <p:cNvPr id="7" name="Table 6"/>
          <p:cNvGraphicFramePr/>
          <p:nvPr/>
        </p:nvGraphicFramePr>
        <p:xfrm>
          <a:off x="647700" y="3333256"/>
          <a:ext cx="7383145" cy="2270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9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476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857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84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 w="38100" cmpd="sng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Direct</a:t>
                      </a:r>
                    </a:p>
                  </a:txBody>
                  <a:tcPr anchor="ctr">
                    <a:lnL w="38100" cmpd="sng">
                      <a:solidFill>
                        <a:schemeClr val="tx1"/>
                      </a:solidFill>
                      <a:prstDash val="solid"/>
                    </a:lnL>
                    <a:lnT w="38100" cmpd="sng">
                      <a:solidFill>
                        <a:schemeClr val="tx1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Indirect</a:t>
                      </a:r>
                    </a:p>
                  </a:txBody>
                  <a:tcPr anchor="ctr">
                    <a:lnR w="38100" cmpd="sng">
                      <a:solidFill>
                        <a:schemeClr val="tx1"/>
                      </a:solidFill>
                      <a:prstDash val="solid"/>
                    </a:lnR>
                    <a:lnT w="38100" cmpd="sng">
                      <a:solidFill>
                        <a:schemeClr val="tx1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84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Approach</a:t>
                      </a:r>
                    </a:p>
                  </a:txBody>
                  <a:tcPr anchor="ctr">
                    <a:lnL w="38100" cmpd="sng">
                      <a:solidFill>
                        <a:schemeClr val="tx1"/>
                      </a:solidFill>
                      <a:prstDash val="solid"/>
                    </a:lnL>
                    <a:lnR w="38100" cmpd="sng">
                      <a:solidFill>
                        <a:schemeClr val="tx1"/>
                      </a:solidFill>
                      <a:prstDash val="solid"/>
                    </a:ln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cs typeface="+mn-lt"/>
                          <a:sym typeface="+mn-ea"/>
                        </a:rPr>
                        <a:t>Discretize → Optimize</a:t>
                      </a:r>
                    </a:p>
                  </a:txBody>
                  <a:tcPr anchor="ctr">
                    <a:lnL w="38100" cmpd="sng">
                      <a:solidFill>
                        <a:schemeClr val="tx1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cs typeface="+mn-lt"/>
                          <a:sym typeface="+mn-ea"/>
                        </a:rPr>
                        <a:t>Derive optimality conditions → Discretize</a:t>
                      </a:r>
                    </a:p>
                  </a:txBody>
                  <a:tcPr anchor="ctr">
                    <a:lnR w="38100" cmpd="sng">
                      <a:solidFill>
                        <a:schemeClr val="tx1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4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Robustness</a:t>
                      </a:r>
                    </a:p>
                  </a:txBody>
                  <a:tcPr anchor="ctr">
                    <a:lnL w="38100" cmpd="sng">
                      <a:solidFill>
                        <a:schemeClr val="tx1"/>
                      </a:solidFill>
                      <a:prstDash val="solid"/>
                    </a:lnL>
                    <a:lnR w="38100" cmpd="sng">
                      <a:solidFill>
                        <a:schemeClr val="tx1"/>
                      </a:solidFill>
                      <a:prstDash val="solid"/>
                    </a:ln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cs typeface="+mn-lt"/>
                        </a:rPr>
                        <a:t>Can converge even with bad initial guess</a:t>
                      </a:r>
                    </a:p>
                  </a:txBody>
                  <a:tcPr anchor="ctr">
                    <a:lnL w="38100" cmpd="sng">
                      <a:solidFill>
                        <a:schemeClr val="tx1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cs typeface="+mn-lt"/>
                        </a:rPr>
                        <a:t>Sensitive to initial guess</a:t>
                      </a:r>
                    </a:p>
                  </a:txBody>
                  <a:tcPr anchor="ctr">
                    <a:lnR w="38100" cmpd="sng">
                      <a:solidFill>
                        <a:schemeClr val="tx1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84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Implementation</a:t>
                      </a:r>
                    </a:p>
                  </a:txBody>
                  <a:tcPr anchor="ctr">
                    <a:lnL w="38100" cmpd="sng">
                      <a:solidFill>
                        <a:schemeClr val="tx1"/>
                      </a:solidFill>
                      <a:prstDash val="solid"/>
                    </a:lnL>
                    <a:lnR w="38100" cmpd="sng">
                      <a:solidFill>
                        <a:schemeClr val="tx1"/>
                      </a:solidFill>
                      <a:prstDash val="solid"/>
                    </a:ln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cs typeface="+mn-lt"/>
                        </a:rPr>
                        <a:t>Easier</a:t>
                      </a:r>
                    </a:p>
                  </a:txBody>
                  <a:tcPr anchor="ctr">
                    <a:lnL w="38100" cmpd="sng">
                      <a:solidFill>
                        <a:schemeClr val="tx1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cs typeface="+mn-lt"/>
                        </a:rPr>
                        <a:t>More complex</a:t>
                      </a:r>
                    </a:p>
                  </a:txBody>
                  <a:tcPr anchor="ctr">
                    <a:lnR w="38100" cmpd="sng">
                      <a:solidFill>
                        <a:schemeClr val="tx1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84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Optimality</a:t>
                      </a:r>
                    </a:p>
                  </a:txBody>
                  <a:tcPr anchor="ctr">
                    <a:lnL w="38100" cmpd="sng">
                      <a:solidFill>
                        <a:schemeClr val="tx1"/>
                      </a:solidFill>
                      <a:prstDash val="solid"/>
                    </a:lnL>
                    <a:lnR w="38100" cmpd="sng">
                      <a:solidFill>
                        <a:schemeClr val="tx1"/>
                      </a:solidFill>
                      <a:prstDash val="solid"/>
                    </a:ln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cs typeface="+mn-lt"/>
                        </a:rPr>
                        <a:t>Approximate solution</a:t>
                      </a:r>
                    </a:p>
                  </a:txBody>
                  <a:tcPr anchor="ctr">
                    <a:lnL w="38100" cmpd="sng">
                      <a:solidFill>
                        <a:schemeClr val="tx1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cs typeface="+mn-lt"/>
                        </a:rPr>
                        <a:t>Potentially exact</a:t>
                      </a:r>
                    </a:p>
                  </a:txBody>
                  <a:tcPr anchor="ctr">
                    <a:lnR w="38100" cmpd="sng">
                      <a:solidFill>
                        <a:schemeClr val="tx1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84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Solve speed</a:t>
                      </a:r>
                    </a:p>
                  </a:txBody>
                  <a:tcPr anchor="ctr">
                    <a:lnL w="38100" cmpd="sng">
                      <a:solidFill>
                        <a:schemeClr val="tx1"/>
                      </a:solidFill>
                      <a:prstDash val="solid"/>
                    </a:lnL>
                    <a:lnR w="38100" cmpd="sng">
                      <a:solidFill>
                        <a:schemeClr val="tx1"/>
                      </a:solidFill>
                      <a:prstDash val="solid"/>
                    </a:lnR>
                    <a:lnB w="381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cs typeface="+mn-lt"/>
                        </a:rPr>
                        <a:t>Real-time capable</a:t>
                      </a:r>
                    </a:p>
                  </a:txBody>
                  <a:tcPr anchor="ctr">
                    <a:lnL w="38100" cmpd="sng">
                      <a:solidFill>
                        <a:schemeClr val="tx1"/>
                      </a:solidFill>
                      <a:prstDash val="solid"/>
                    </a:lnL>
                    <a:lnB w="381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cs typeface="+mn-lt"/>
                        </a:rPr>
                        <a:t>Slow</a:t>
                      </a:r>
                    </a:p>
                  </a:txBody>
                  <a:tcPr anchor="ctr">
                    <a:lnR w="38100" cmpd="sng">
                      <a:solidFill>
                        <a:schemeClr val="tx1"/>
                      </a:solidFill>
                      <a:prstDash val="solid"/>
                    </a:lnR>
                    <a:lnB w="381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/>
          <p:cNvSpPr/>
          <p:nvPr/>
        </p:nvSpPr>
        <p:spPr>
          <a:xfrm>
            <a:off x="9732010" y="1922780"/>
            <a:ext cx="743585" cy="74358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altLang="en-US" sz="2000" b="1" dirty="0">
                <a:solidFill>
                  <a:srgbClr val="000000"/>
                </a:solidFill>
                <a:cs typeface="+mn-lt"/>
              </a:rPr>
              <a:t>2</a:t>
            </a:r>
            <a:r>
              <a:rPr lang="de-DE" altLang="en-US" sz="2000" b="1" baseline="50000" dirty="0">
                <a:solidFill>
                  <a:srgbClr val="000000"/>
                </a:solidFill>
                <a:uFillTx/>
                <a:cs typeface="+mn-lt"/>
              </a:rPr>
              <a:t>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711565" y="2530475"/>
            <a:ext cx="2784475" cy="1570990"/>
          </a:xfrm>
          <a:prstGeom prst="roundRect">
            <a:avLst/>
          </a:prstGeom>
          <a:solidFill>
            <a:srgbClr val="002060"/>
          </a:solidFill>
          <a:ln w="476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altLang="en-US">
                <a:latin typeface="Calibri" charset="0"/>
                <a:sym typeface="+mn-ea"/>
              </a:rPr>
              <a:t>Robustly obtain solutions in less than 1 second</a:t>
            </a:r>
            <a:endParaRPr lang="de-DE" altLang="en-US">
              <a:cs typeface="+mn-lt"/>
            </a:endParaRPr>
          </a:p>
        </p:txBody>
      </p:sp>
      <p:sp>
        <p:nvSpPr>
          <p:cNvPr id="8" name="!!Down Arrow 7"/>
          <p:cNvSpPr/>
          <p:nvPr/>
        </p:nvSpPr>
        <p:spPr>
          <a:xfrm>
            <a:off x="9954895" y="4101465"/>
            <a:ext cx="297815" cy="1045210"/>
          </a:xfrm>
          <a:prstGeom prst="downArrow">
            <a:avLst>
              <a:gd name="adj1" fmla="val 50000"/>
              <a:gd name="adj2" fmla="val 8507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Box 8"/>
          <p:cNvSpPr txBox="1"/>
          <p:nvPr/>
        </p:nvSpPr>
        <p:spPr>
          <a:xfrm>
            <a:off x="8587741" y="5146675"/>
            <a:ext cx="303149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altLang="en-US" sz="2000" b="1" i="1">
                <a:latin typeface="Calibri" charset="0"/>
                <a:sym typeface="+mn-ea"/>
              </a:rPr>
              <a:t>computation_time &lt; 1 </a:t>
            </a:r>
            <a:r>
              <a:rPr lang="de-DE" altLang="en-US" sz="2000" b="1">
                <a:latin typeface="Calibri" charset="0"/>
                <a:sym typeface="+mn-ea"/>
              </a:rPr>
              <a:t>s</a:t>
            </a:r>
            <a:endParaRPr lang="de-DE" altLang="en-US" sz="2000" b="1" i="1">
              <a:latin typeface="Calibri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1">
              <a:rPr lang="en-US" altLang="en-US" smtClean="0"/>
              <a:t>12/1/2025</a:t>
            </a:fld>
            <a:endParaRPr lang="zh-CN" alt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40</a:t>
            </a:fld>
            <a:endParaRPr lang="zh-CN" alt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altLang="zh-CN">
                <a:sym typeface="+mn-ea"/>
              </a:rPr>
              <a:t>Real-Time Time-Optimal Spacecraft Attitude Control</a:t>
            </a:r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en-US" sz="4400">
                <a:latin typeface="Arial Black" panose="020B0A04020102020204" charset="0"/>
                <a:cs typeface="Arial Black" panose="020B0A04020102020204" charset="0"/>
              </a:rPr>
              <a:t>Methodology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647700" y="1762125"/>
            <a:ext cx="686054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+mj-lt"/>
              <a:buAutoNum type="arabicPeriod" startAt="3"/>
            </a:pPr>
            <a:r>
              <a:rPr lang="de-DE" altLang="en-US" b="1" dirty="0">
                <a:latin typeface="+mn-ea"/>
                <a:cs typeface="+mn-ea"/>
              </a:rPr>
              <a:t>Choose OCP solver architecture</a:t>
            </a:r>
            <a:endParaRPr lang="de-DE" altLang="en-US" dirty="0">
              <a:latin typeface="+mn-ea"/>
              <a:cs typeface="+mn-ea"/>
            </a:endParaRPr>
          </a:p>
          <a:p>
            <a:pPr marL="800100" lvl="1" indent="-342900">
              <a:lnSpc>
                <a:spcPct val="200000"/>
              </a:lnSpc>
              <a:buFont typeface="+mj-lt"/>
              <a:buAutoNum type="arabicPeriod" startAt="2"/>
            </a:pPr>
            <a:r>
              <a:rPr lang="en-US" altLang="de-DE" dirty="0">
                <a:latin typeface="+mn-ea"/>
                <a:cs typeface="+mn-ea"/>
              </a:rPr>
              <a:t>Direct transcription methods:</a:t>
            </a:r>
          </a:p>
        </p:txBody>
      </p:sp>
      <p:graphicFrame>
        <p:nvGraphicFramePr>
          <p:cNvPr id="7" name="Table 6"/>
          <p:cNvGraphicFramePr/>
          <p:nvPr/>
        </p:nvGraphicFramePr>
        <p:xfrm>
          <a:off x="1111693" y="2961005"/>
          <a:ext cx="7041708" cy="31911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36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36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36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36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6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1599">
                <a:tc rowSpan="2">
                  <a:txBody>
                    <a:bodyPr/>
                    <a:lstStyle/>
                    <a:p>
                      <a:pPr>
                        <a:buNone/>
                      </a:pPr>
                      <a:endParaRPr lang="en-US" dirty="0">
                        <a:solidFill>
                          <a:schemeClr val="bg1">
                            <a:lumMod val="1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 w="38100" cmpd="sng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Shooting</a:t>
                      </a:r>
                    </a:p>
                  </a:txBody>
                  <a:tcPr anchor="ctr">
                    <a:lnL w="38100" cmpd="sng">
                      <a:solidFill>
                        <a:schemeClr val="tx1"/>
                      </a:solidFill>
                      <a:prstDash val="solid"/>
                    </a:lnL>
                    <a:lnR w="38100" cmpd="sng">
                      <a:solidFill>
                        <a:schemeClr val="tx1"/>
                      </a:solidFill>
                      <a:prstDash val="solid"/>
                    </a:lnR>
                    <a:lnT w="38100" cmpd="sng">
                      <a:solidFill>
                        <a:schemeClr val="tx1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R w="38100" cmpd="sng">
                      <a:solidFill>
                        <a:schemeClr val="tx1"/>
                      </a:solidFill>
                      <a:prstDash val="solid"/>
                    </a:lnR>
                    <a:lnT w="38100" cmpd="sng">
                      <a:solidFill>
                        <a:schemeClr val="tx1"/>
                      </a:solidFill>
                      <a:prstDash val="solid"/>
                    </a:lnT>
                  </a:tcPr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Collocation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mpd="sng">
                      <a:solidFill>
                        <a:schemeClr val="tx1"/>
                      </a:solidFill>
                      <a:prstDash val="solid"/>
                    </a:lnR>
                    <a:lnT w="38100" cmpd="sng">
                      <a:solidFill>
                        <a:schemeClr val="tx1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R w="38100" cmpd="sng">
                      <a:solidFill>
                        <a:schemeClr val="tx1"/>
                      </a:solidFill>
                      <a:prstDash val="solid"/>
                    </a:lnR>
                    <a:lnT w="38100" cmpd="sng">
                      <a:solidFill>
                        <a:schemeClr val="tx1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96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 w="38100" cmpd="sng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Single</a:t>
                      </a:r>
                    </a:p>
                  </a:txBody>
                  <a:tcPr anchor="ctr">
                    <a:lnL w="38100" cmpd="sng">
                      <a:solidFill>
                        <a:schemeClr val="tx1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600" dirty="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Multiple</a:t>
                      </a:r>
                      <a:endParaRPr lang="en-US" sz="1600" dirty="0">
                        <a:solidFill>
                          <a:schemeClr val="bg1">
                            <a:lumMod val="10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R w="38100" cmpd="sng">
                      <a:solidFill>
                        <a:schemeClr val="tx1"/>
                      </a:solidFill>
                      <a:prstDash val="solid"/>
                    </a:lnR>
                    <a:lnT w="38100" cmpd="sng">
                      <a:solidFill>
                        <a:schemeClr val="tx1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Direct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 err="1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Pseudospectral</a:t>
                      </a:r>
                      <a:endParaRPr lang="en-US" sz="1600" dirty="0">
                        <a:solidFill>
                          <a:schemeClr val="bg1">
                            <a:lumMod val="10000"/>
                          </a:schemeClr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38100" cmpd="sng">
                      <a:solidFill>
                        <a:schemeClr val="tx1"/>
                      </a:solidFill>
                      <a:prstDash val="solid"/>
                    </a:lnR>
                    <a:lnT w="38100" cmpd="sng">
                      <a:solidFill>
                        <a:schemeClr val="tx1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94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dirty="0">
                          <a:solidFill>
                            <a:schemeClr val="bg1"/>
                          </a:solidFill>
                        </a:rPr>
                        <a:t>Dynamics Handling</a:t>
                      </a:r>
                    </a:p>
                  </a:txBody>
                  <a:tcPr anchor="ctr">
                    <a:lnL w="38100" cmpd="sng">
                      <a:solidFill>
                        <a:schemeClr val="tx1"/>
                      </a:solidFill>
                      <a:prstDash val="solid"/>
                    </a:lnL>
                    <a:lnR w="38100" cmpd="sng">
                      <a:solidFill>
                        <a:schemeClr val="tx1"/>
                      </a:solidFill>
                      <a:prstDash val="solid"/>
                    </a:ln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Forward integration</a:t>
                      </a:r>
                    </a:p>
                  </a:txBody>
                  <a:tcPr anchor="ctr">
                    <a:lnL w="38100" cmpd="sng">
                      <a:solidFill>
                        <a:schemeClr val="tx1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Segmented integration</a:t>
                      </a:r>
                    </a:p>
                  </a:txBody>
                  <a:tcPr anchor="ctr">
                    <a:lnR w="38100" cmpd="sng">
                      <a:solidFill>
                        <a:schemeClr val="tx1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Algebraic constraints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Dense global polynomial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38100" cmpd="sng">
                      <a:solidFill>
                        <a:schemeClr val="tx1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94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dirty="0">
                          <a:solidFill>
                            <a:schemeClr val="bg1"/>
                          </a:solidFill>
                        </a:rPr>
                        <a:t>Accuracy</a:t>
                      </a:r>
                    </a:p>
                  </a:txBody>
                  <a:tcPr anchor="ctr">
                    <a:lnL w="38100" cmpd="sng">
                      <a:solidFill>
                        <a:schemeClr val="tx1"/>
                      </a:solidFill>
                      <a:prstDash val="solid"/>
                    </a:lnL>
                    <a:lnR w="38100" cmpd="sng">
                      <a:solidFill>
                        <a:schemeClr val="tx1"/>
                      </a:solidFill>
                      <a:prstDash val="solid"/>
                    </a:ln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Integrator-limited</a:t>
                      </a:r>
                    </a:p>
                  </a:txBody>
                  <a:tcPr anchor="ctr">
                    <a:lnL w="38100" cmpd="sng">
                      <a:solidFill>
                        <a:schemeClr val="tx1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Integrator-limited</a:t>
                      </a:r>
                    </a:p>
                  </a:txBody>
                  <a:tcPr anchor="ctr">
                    <a:lnR w="38100" cmpd="sng">
                      <a:solidFill>
                        <a:schemeClr val="tx1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Grid density dependent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Exponential (smooth problems)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38100" cmpd="sng">
                      <a:solidFill>
                        <a:schemeClr val="tx1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40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dirty="0">
                          <a:solidFill>
                            <a:schemeClr val="bg1"/>
                          </a:solidFill>
                        </a:rPr>
                        <a:t>Problem Size</a:t>
                      </a:r>
                    </a:p>
                  </a:txBody>
                  <a:tcPr anchor="ctr">
                    <a:lnL w="38100" cmpd="sng">
                      <a:solidFill>
                        <a:schemeClr val="tx1"/>
                      </a:solidFill>
                      <a:prstDash val="solid"/>
                    </a:lnL>
                    <a:lnR w="38100" cmpd="sng">
                      <a:solidFill>
                        <a:schemeClr val="tx1"/>
                      </a:solidFill>
                      <a:prstDash val="solid"/>
                    </a:ln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Smallest</a:t>
                      </a:r>
                    </a:p>
                  </a:txBody>
                  <a:tcPr anchor="ctr">
                    <a:lnL w="38100" cmpd="sng">
                      <a:solidFill>
                        <a:schemeClr val="tx1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Medium</a:t>
                      </a:r>
                    </a:p>
                  </a:txBody>
                  <a:tcPr anchor="ctr">
                    <a:lnR w="38100" cmpd="sng">
                      <a:solidFill>
                        <a:schemeClr val="tx1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Large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Large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38100" cmpd="sng">
                      <a:solidFill>
                        <a:schemeClr val="tx1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40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dirty="0">
                          <a:solidFill>
                            <a:schemeClr val="bg1"/>
                          </a:solidFill>
                        </a:rPr>
                        <a:t>Complexity</a:t>
                      </a:r>
                    </a:p>
                  </a:txBody>
                  <a:tcPr anchor="ctr">
                    <a:lnL w="38100" cmpd="sng">
                      <a:solidFill>
                        <a:schemeClr val="tx1"/>
                      </a:solidFill>
                      <a:prstDash val="solid"/>
                    </a:lnL>
                    <a:lnR w="38100" cmpd="sng">
                      <a:solidFill>
                        <a:schemeClr val="tx1"/>
                      </a:solidFill>
                      <a:prstDash val="solid"/>
                    </a:ln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Simplest</a:t>
                      </a:r>
                    </a:p>
                  </a:txBody>
                  <a:tcPr anchor="ctr">
                    <a:lnL w="38100" cmpd="sng">
                      <a:solidFill>
                        <a:schemeClr val="tx1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Moderate</a:t>
                      </a:r>
                    </a:p>
                  </a:txBody>
                  <a:tcPr anchor="ctr">
                    <a:lnR w="38100" cmpd="sng">
                      <a:solidFill>
                        <a:schemeClr val="tx1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Moderate-High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Highest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38100" cmpd="sng">
                      <a:solidFill>
                        <a:schemeClr val="tx1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40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dirty="0">
                          <a:solidFill>
                            <a:schemeClr val="bg1"/>
                          </a:solidFill>
                        </a:rPr>
                        <a:t>Robustness</a:t>
                      </a:r>
                    </a:p>
                  </a:txBody>
                  <a:tcPr anchor="ctr">
                    <a:lnL w="38100" cmpd="sng">
                      <a:solidFill>
                        <a:schemeClr val="tx1"/>
                      </a:solidFill>
                      <a:prstDash val="solid"/>
                    </a:lnL>
                    <a:lnR w="38100" cmpd="sng">
                      <a:solidFill>
                        <a:schemeClr val="tx1"/>
                      </a:solidFill>
                      <a:prstDash val="solid"/>
                    </a:ln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Poor</a:t>
                      </a:r>
                    </a:p>
                  </a:txBody>
                  <a:tcPr anchor="ctr">
                    <a:lnL w="38100" cmpd="sng">
                      <a:solidFill>
                        <a:schemeClr val="tx1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Moderate</a:t>
                      </a:r>
                    </a:p>
                  </a:txBody>
                  <a:tcPr anchor="ctr">
                    <a:lnR w="38100" cmpd="sng">
                      <a:solidFill>
                        <a:schemeClr val="tx1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Good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Poor (non-smooth)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38100" cmpd="sng">
                      <a:solidFill>
                        <a:schemeClr val="tx1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94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dirty="0">
                          <a:solidFill>
                            <a:schemeClr val="bg1"/>
                          </a:solidFill>
                        </a:rPr>
                        <a:t>Real-time Suitability</a:t>
                      </a:r>
                    </a:p>
                  </a:txBody>
                  <a:tcPr anchor="ctr">
                    <a:lnL w="38100" cmpd="sng">
                      <a:solidFill>
                        <a:schemeClr val="tx1"/>
                      </a:solidFill>
                      <a:prstDash val="soli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Fast but unreliable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Good balance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Solver dependent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Generally slow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mpd="sng">
                      <a:solidFill>
                        <a:schemeClr val="tx1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1">
              <a:rPr lang="en-US" altLang="en-US" smtClean="0"/>
              <a:t>12/1/2025</a:t>
            </a:fld>
            <a:endParaRPr lang="zh-CN" alt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41</a:t>
            </a:fld>
            <a:endParaRPr lang="zh-CN" alt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altLang="zh-CN">
                <a:sym typeface="+mn-ea"/>
              </a:rPr>
              <a:t>Real-Time Time-Optimal Spacecraft Attitude Control</a:t>
            </a:r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en-US" sz="4400" dirty="0">
                <a:latin typeface="Arial Black" panose="020B0A04020102020204" charset="0"/>
                <a:cs typeface="Arial Black" panose="020B0A04020102020204" charset="0"/>
              </a:rPr>
              <a:t>Implementation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647700" y="1762125"/>
            <a:ext cx="6860540" cy="3634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lnSpc>
                <a:spcPct val="200000"/>
              </a:lnSpc>
              <a:buFont typeface="+mj-lt"/>
              <a:buAutoNum type="arabicPeriod"/>
            </a:pPr>
            <a:r>
              <a:rPr lang="en-US" altLang="de-DE" b="1" dirty="0">
                <a:latin typeface="+mn-ea"/>
                <a:cs typeface="+mn-ea"/>
              </a:rPr>
              <a:t>Framework: CasADi</a:t>
            </a:r>
          </a:p>
          <a:p>
            <a:pPr marL="1257300" lvl="2" indent="-342900">
              <a:lnSpc>
                <a:spcPct val="180000"/>
              </a:lnSpc>
              <a:buFont typeface="Arial" panose="020B0604020202020204" pitchFamily="34" charset="0"/>
              <a:buChar char="•"/>
            </a:pPr>
            <a:r>
              <a:rPr lang="en-US" altLang="de-DE" dirty="0">
                <a:latin typeface="+mn-ea"/>
                <a:cs typeface="+mn-ea"/>
              </a:rPr>
              <a:t>Open-source</a:t>
            </a:r>
          </a:p>
          <a:p>
            <a:pPr marL="1257300" lvl="2" indent="-342900">
              <a:lnSpc>
                <a:spcPct val="180000"/>
              </a:lnSpc>
              <a:buFont typeface="Arial" panose="020B0604020202020204" pitchFamily="34" charset="0"/>
              <a:buChar char="•"/>
            </a:pPr>
            <a:r>
              <a:rPr lang="en-US" altLang="de-DE" dirty="0">
                <a:latin typeface="+mn-ea"/>
                <a:cs typeface="+mn-ea"/>
              </a:rPr>
              <a:t>Automatic differentiation</a:t>
            </a:r>
          </a:p>
          <a:p>
            <a:pPr marL="1257300" lvl="2" indent="-342900">
              <a:lnSpc>
                <a:spcPct val="180000"/>
              </a:lnSpc>
              <a:buFont typeface="Arial" panose="020B0604020202020204" pitchFamily="34" charset="0"/>
              <a:buChar char="•"/>
            </a:pPr>
            <a:r>
              <a:rPr lang="en-US" altLang="de-DE" dirty="0">
                <a:latin typeface="+mn-ea"/>
                <a:cs typeface="+mn-ea"/>
              </a:rPr>
              <a:t>Simple NLP interface</a:t>
            </a:r>
          </a:p>
          <a:p>
            <a:pPr marL="1257300" lvl="2" indent="-342900">
              <a:lnSpc>
                <a:spcPct val="180000"/>
              </a:lnSpc>
              <a:buFont typeface="Arial" panose="020B0604020202020204" pitchFamily="34" charset="0"/>
              <a:buChar char="•"/>
            </a:pPr>
            <a:r>
              <a:rPr lang="en-US" altLang="de-DE" dirty="0">
                <a:latin typeface="+mn-ea"/>
                <a:cs typeface="+mn-ea"/>
              </a:rPr>
              <a:t>Automatic c-code generation</a:t>
            </a:r>
          </a:p>
          <a:p>
            <a:pPr marL="1257300" lvl="2" indent="-342900">
              <a:lnSpc>
                <a:spcPct val="180000"/>
              </a:lnSpc>
              <a:buFont typeface="Arial" panose="020B0604020202020204" pitchFamily="34" charset="0"/>
              <a:buChar char="•"/>
            </a:pPr>
            <a:r>
              <a:rPr lang="en-US" altLang="de-DE" dirty="0">
                <a:latin typeface="+mn-ea"/>
                <a:cs typeface="+mn-ea"/>
              </a:rPr>
              <a:t>Source-code in </a:t>
            </a:r>
            <a:r>
              <a:rPr lang="en-US" altLang="de-DE" dirty="0" err="1">
                <a:latin typeface="+mn-ea"/>
                <a:cs typeface="+mn-ea"/>
              </a:rPr>
              <a:t>c++</a:t>
            </a:r>
            <a:endParaRPr lang="en-US" altLang="de-DE" dirty="0">
              <a:latin typeface="+mn-ea"/>
              <a:cs typeface="+mn-ea"/>
            </a:endParaRPr>
          </a:p>
          <a:p>
            <a:pPr marL="1257300" lvl="2" indent="-342900">
              <a:lnSpc>
                <a:spcPct val="180000"/>
              </a:lnSpc>
              <a:buFont typeface="Arial" panose="020B0604020202020204" pitchFamily="34" charset="0"/>
              <a:buChar char="•"/>
            </a:pPr>
            <a:r>
              <a:rPr lang="en-US" altLang="de-DE" dirty="0">
                <a:latin typeface="+mn-ea"/>
                <a:cs typeface="+mn-ea"/>
              </a:rPr>
              <a:t>Extensive NLP solver compatibility</a:t>
            </a:r>
          </a:p>
        </p:txBody>
      </p:sp>
      <p:pic>
        <p:nvPicPr>
          <p:cNvPr id="1026" name="Picture 2" descr="CasADi: casadi::Function Class Referenc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8848" y="3121706"/>
            <a:ext cx="5414952" cy="1233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1">
              <a:rPr lang="en-US" altLang="en-US" smtClean="0"/>
              <a:t>12/1/2025</a:t>
            </a:fld>
            <a:endParaRPr lang="zh-CN" alt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42</a:t>
            </a:fld>
            <a:endParaRPr lang="zh-CN" alt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altLang="zh-CN">
                <a:sym typeface="+mn-ea"/>
              </a:rPr>
              <a:t>Real-Time Time-Optimal Spacecraft Attitude Control</a:t>
            </a:r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en-US" sz="4400" dirty="0">
                <a:latin typeface="Arial Black" panose="020B0A04020102020204" charset="0"/>
                <a:cs typeface="Arial Black" panose="020B0A04020102020204" charset="0"/>
              </a:rPr>
              <a:t>Implementation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647700" y="1762125"/>
            <a:ext cx="6860540" cy="560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lnSpc>
                <a:spcPct val="200000"/>
              </a:lnSpc>
              <a:buFont typeface="+mj-lt"/>
              <a:buAutoNum type="arabicPeriod" startAt="2"/>
            </a:pPr>
            <a:r>
              <a:rPr lang="en-US" altLang="de-DE" dirty="0">
                <a:latin typeface="+mn-ea"/>
                <a:cs typeface="+mn-ea"/>
              </a:rPr>
              <a:t>NLP Solvers:</a:t>
            </a:r>
          </a:p>
        </p:txBody>
      </p:sp>
      <p:graphicFrame>
        <p:nvGraphicFramePr>
          <p:cNvPr id="10" name="Table 9"/>
          <p:cNvGraphicFramePr/>
          <p:nvPr/>
        </p:nvGraphicFramePr>
        <p:xfrm>
          <a:off x="1529715" y="1950447"/>
          <a:ext cx="9633585" cy="42065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61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893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740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740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4841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 w="38100" cmpd="sng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Interior Point</a:t>
                      </a:r>
                    </a:p>
                  </a:txBody>
                  <a:tcPr anchor="ctr">
                    <a:lnL w="38100" cmpd="sng">
                      <a:solidFill>
                        <a:schemeClr val="tx1"/>
                      </a:solidFill>
                      <a:prstDash val="solid"/>
                    </a:lnL>
                    <a:lnT w="38100" cmpd="sng">
                      <a:solidFill>
                        <a:schemeClr val="tx1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SQP Methods</a:t>
                      </a:r>
                    </a:p>
                  </a:txBody>
                  <a:tcPr anchor="ctr">
                    <a:lnT w="38100" cmpd="sng">
                      <a:solidFill>
                        <a:schemeClr val="tx1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SCP Methods</a:t>
                      </a:r>
                    </a:p>
                  </a:txBody>
                  <a:tcPr anchor="ctr">
                    <a:lnR w="38100" cmpd="sng">
                      <a:solidFill>
                        <a:schemeClr val="tx1"/>
                      </a:solidFill>
                      <a:prstDash val="solid"/>
                    </a:lnR>
                    <a:lnT w="38100" cmpd="sng">
                      <a:solidFill>
                        <a:schemeClr val="tx1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94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Warm-starting</a:t>
                      </a:r>
                      <a:endParaRPr lang="en-US" sz="1400" dirty="0"/>
                    </a:p>
                  </a:txBody>
                  <a:tcPr anchor="ctr">
                    <a:lnL w="38100" cmpd="sng">
                      <a:solidFill>
                        <a:schemeClr val="tx1"/>
                      </a:solidFill>
                      <a:prstDash val="solid"/>
                    </a:lnL>
                    <a:lnR w="38100" cmpd="sng">
                      <a:solidFill>
                        <a:schemeClr val="tx1"/>
                      </a:solidFill>
                      <a:prstDash val="solid"/>
                    </a:ln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Poor</a:t>
                      </a:r>
                    </a:p>
                  </a:txBody>
                  <a:tcPr anchor="ctr">
                    <a:lnL w="38100" cmpd="sng">
                      <a:solidFill>
                        <a:schemeClr val="tx1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Excellent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Good</a:t>
                      </a:r>
                    </a:p>
                  </a:txBody>
                  <a:tcPr anchor="ctr">
                    <a:lnR w="38100" cmpd="sng">
                      <a:solidFill>
                        <a:schemeClr val="tx1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94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Convergence Rate</a:t>
                      </a:r>
                      <a:endParaRPr lang="en-US" sz="1400"/>
                    </a:p>
                  </a:txBody>
                  <a:tcPr anchor="ctr">
                    <a:lnL w="38100" cmpd="sng">
                      <a:solidFill>
                        <a:schemeClr val="tx1"/>
                      </a:solidFill>
                      <a:prstDash val="solid"/>
                    </a:lnL>
                    <a:lnR w="38100" cmpd="sng">
                      <a:solidFill>
                        <a:schemeClr val="tx1"/>
                      </a:solidFill>
                      <a:prstDash val="solid"/>
                    </a:ln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 err="1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Superlinear</a:t>
                      </a:r>
                      <a:endParaRPr lang="en-US" sz="1400" dirty="0">
                        <a:solidFill>
                          <a:schemeClr val="bg1">
                            <a:lumMod val="10000"/>
                          </a:schemeClr>
                        </a:solidFill>
                      </a:endParaRPr>
                    </a:p>
                  </a:txBody>
                  <a:tcPr anchor="ctr">
                    <a:lnL w="38100" cmpd="sng">
                      <a:solidFill>
                        <a:schemeClr val="tx1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Superlinear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Linear to superlinear</a:t>
                      </a:r>
                    </a:p>
                  </a:txBody>
                  <a:tcPr anchor="ctr">
                    <a:lnR w="38100" cmpd="sng">
                      <a:solidFill>
                        <a:schemeClr val="tx1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94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Problem Scale</a:t>
                      </a:r>
                      <a:endParaRPr lang="en-US" sz="1400"/>
                    </a:p>
                  </a:txBody>
                  <a:tcPr anchor="ctr">
                    <a:lnL w="38100" cmpd="sng">
                      <a:solidFill>
                        <a:schemeClr val="tx1"/>
                      </a:solidFill>
                      <a:prstDash val="solid"/>
                    </a:lnL>
                    <a:lnR w="38100" cmpd="sng">
                      <a:solidFill>
                        <a:schemeClr val="tx1"/>
                      </a:solidFill>
                      <a:prstDash val="solid"/>
                    </a:ln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Large-scale optimal</a:t>
                      </a:r>
                    </a:p>
                  </a:txBody>
                  <a:tcPr anchor="ctr">
                    <a:lnL w="38100" cmpd="sng">
                      <a:solidFill>
                        <a:schemeClr val="tx1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Medium-scale optimal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Medium-scale</a:t>
                      </a:r>
                    </a:p>
                  </a:txBody>
                  <a:tcPr anchor="ctr">
                    <a:lnR w="38100" cmpd="sng">
                      <a:solidFill>
                        <a:schemeClr val="tx1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48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Robustness</a:t>
                      </a:r>
                      <a:endParaRPr lang="en-US" sz="1400"/>
                    </a:p>
                  </a:txBody>
                  <a:tcPr anchor="ctr">
                    <a:lnL w="38100" cmpd="sng">
                      <a:solidFill>
                        <a:schemeClr val="tx1"/>
                      </a:solidFill>
                      <a:prstDash val="solid"/>
                    </a:lnL>
                    <a:lnR w="38100" cmpd="sng">
                      <a:solidFill>
                        <a:schemeClr val="tx1"/>
                      </a:solidFill>
                      <a:prstDash val="solid"/>
                    </a:ln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Very good</a:t>
                      </a:r>
                    </a:p>
                  </a:txBody>
                  <a:tcPr anchor="ctr">
                    <a:lnL w="38100" cmpd="sng">
                      <a:solidFill>
                        <a:schemeClr val="tx1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Good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Moderate</a:t>
                      </a:r>
                    </a:p>
                  </a:txBody>
                  <a:tcPr anchor="ctr">
                    <a:lnR w="38100" cmpd="sng">
                      <a:solidFill>
                        <a:schemeClr val="tx1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94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Real-time Suitability</a:t>
                      </a:r>
                      <a:endParaRPr lang="en-US" sz="1400"/>
                    </a:p>
                  </a:txBody>
                  <a:tcPr anchor="ctr">
                    <a:lnL w="38100" cmpd="sng">
                      <a:solidFill>
                        <a:schemeClr val="tx1"/>
                      </a:solidFill>
                      <a:prstDash val="solid"/>
                    </a:lnL>
                    <a:lnR w="38100" cmpd="sng">
                      <a:solidFill>
                        <a:schemeClr val="tx1"/>
                      </a:solidFill>
                      <a:prstDash val="solid"/>
                    </a:ln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Solver dependent</a:t>
                      </a:r>
                    </a:p>
                  </a:txBody>
                  <a:tcPr anchor="ctr">
                    <a:lnL w="38100" cmpd="sng">
                      <a:solidFill>
                        <a:schemeClr val="tx1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Excellent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Good</a:t>
                      </a:r>
                    </a:p>
                  </a:txBody>
                  <a:tcPr anchor="ctr">
                    <a:lnR w="38100" cmpd="sng">
                      <a:solidFill>
                        <a:schemeClr val="tx1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94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Trajectory Optimization</a:t>
                      </a:r>
                      <a:endParaRPr lang="en-US" sz="1400" dirty="0"/>
                    </a:p>
                  </a:txBody>
                  <a:tcPr anchor="ctr">
                    <a:lnL w="38100" cmpd="sng">
                      <a:solidFill>
                        <a:schemeClr val="tx1"/>
                      </a:solidFill>
                      <a:prstDash val="soli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General purpose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General purpose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Specialized strength</a:t>
                      </a:r>
                    </a:p>
                  </a:txBody>
                  <a:tcPr anchor="ctr">
                    <a:lnR w="38100" cmpd="sng">
                      <a:solidFill>
                        <a:schemeClr val="tx1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94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Example</a:t>
                      </a:r>
                      <a:endParaRPr lang="en-US" sz="1400" b="1" dirty="0"/>
                    </a:p>
                  </a:txBody>
                  <a:tcPr anchor="ctr">
                    <a:lnL w="38100" cmpd="sng">
                      <a:solidFill>
                        <a:schemeClr val="tx1"/>
                      </a:solidFill>
                      <a:prstDash val="soli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IPOPT, </a:t>
                      </a:r>
                      <a:r>
                        <a:rPr lang="en-GB" sz="1400" dirty="0" err="1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Fatrop</a:t>
                      </a:r>
                      <a:endParaRPr lang="en-US" sz="1400" dirty="0">
                        <a:solidFill>
                          <a:schemeClr val="bg1">
                            <a:lumMod val="10000"/>
                          </a:schemeClr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QRSQP, SNOPT</a:t>
                      </a:r>
                      <a:endParaRPr lang="en-US" sz="1400" dirty="0">
                        <a:solidFill>
                          <a:schemeClr val="bg1">
                            <a:lumMod val="10000"/>
                          </a:schemeClr>
                        </a:solidFill>
                      </a:endParaRPr>
                    </a:p>
                  </a:txBody>
                  <a:tcPr anchor="ctr">
                    <a:lnB w="381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 err="1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SCPGen</a:t>
                      </a:r>
                      <a:endParaRPr lang="en-US" sz="1400" dirty="0">
                        <a:solidFill>
                          <a:schemeClr val="bg1">
                            <a:lumMod val="10000"/>
                          </a:schemeClr>
                        </a:solidFill>
                      </a:endParaRPr>
                    </a:p>
                  </a:txBody>
                  <a:tcPr anchor="ctr">
                    <a:lnR w="38100" cmpd="sng">
                      <a:solidFill>
                        <a:schemeClr val="tx1"/>
                      </a:solidFill>
                      <a:prstDash val="solid"/>
                    </a:lnR>
                    <a:lnB w="381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1">
              <a:rPr lang="en-US" altLang="en-US" smtClean="0"/>
              <a:t>12/1/2025</a:t>
            </a:fld>
            <a:endParaRPr lang="zh-CN" alt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43</a:t>
            </a:fld>
            <a:endParaRPr lang="zh-CN" alt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altLang="zh-CN">
                <a:sym typeface="+mn-ea"/>
              </a:rPr>
              <a:t>Real-Time Time-Optimal Spacecraft Attitude Control</a:t>
            </a:r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en-US" sz="4400" dirty="0">
                <a:latin typeface="Arial Black" panose="020B0A04020102020204" charset="0"/>
                <a:cs typeface="Arial Black" panose="020B0A04020102020204" charset="0"/>
              </a:rPr>
              <a:t>Implementation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647700" y="1762125"/>
            <a:ext cx="578739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lnSpc>
                <a:spcPct val="200000"/>
              </a:lnSpc>
              <a:buFont typeface="+mj-lt"/>
              <a:buAutoNum type="arabicPeriod" startAt="3"/>
            </a:pPr>
            <a:r>
              <a:rPr lang="en-US" altLang="de-DE" b="1" dirty="0">
                <a:latin typeface="+mn-ea"/>
                <a:cs typeface="+mn-ea"/>
              </a:rPr>
              <a:t>Initial guess:</a:t>
            </a:r>
          </a:p>
          <a:p>
            <a:pPr marL="1257300" lvl="2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de-DE" dirty="0">
                <a:latin typeface="+mn-ea"/>
                <a:cs typeface="+mn-ea"/>
              </a:rPr>
              <a:t>Single general initial guess</a:t>
            </a:r>
          </a:p>
          <a:p>
            <a:pPr marL="1257300" lvl="2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de-DE" dirty="0">
                <a:latin typeface="+mn-ea"/>
                <a:cs typeface="+mn-ea"/>
              </a:rPr>
              <a:t>Initial guess library</a:t>
            </a:r>
          </a:p>
          <a:p>
            <a:pPr marL="1257300" lvl="2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de-DE" dirty="0">
                <a:latin typeface="+mn-ea"/>
                <a:cs typeface="+mn-ea"/>
              </a:rPr>
              <a:t>Initial guess algorithm - PSO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35090" y="1974354"/>
            <a:ext cx="4728210" cy="35556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6343650" y="5529968"/>
            <a:ext cx="48196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 particle swarm searching for the </a:t>
            </a:r>
            <a:r>
              <a:rPr lang="en-GB" b="0" i="0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global minimum </a:t>
            </a:r>
            <a:r>
              <a:rPr lang="en-GB" b="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of a function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57B4C1-2A17-C072-8AA5-D175BC58C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extLst>
              <a:ext uri="{FF2B5EF4-FFF2-40B4-BE49-F238E27FC236}">
                <a16:creationId xmlns:a16="http://schemas.microsoft.com/office/drawing/2014/main" id="{22BDB924-A9C5-A4DC-1888-DFE895202859}"/>
              </a:ext>
            </a:extLst>
          </p:cNvPr>
          <p:cNvSpPr/>
          <p:nvPr/>
        </p:nvSpPr>
        <p:spPr>
          <a:xfrm>
            <a:off x="4264978" y="1597978"/>
            <a:ext cx="3662045" cy="3662045"/>
          </a:xfrm>
          <a:prstGeom prst="ellipse">
            <a:avLst/>
          </a:prstGeom>
          <a:noFill/>
          <a:ln w="203200"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31200D-CFC2-3529-64A1-2AC9C6D62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1">
              <a:rPr lang="en-US" altLang="en-US" smtClean="0"/>
              <a:t>12/1/2025</a:t>
            </a:fld>
            <a:endParaRPr lang="zh-CN" alt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1A034225-7B81-E1CA-034F-DA1F88E9E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44</a:t>
            </a:fld>
            <a:endParaRPr lang="zh-CN" alt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DE9A415C-ECB6-7A8B-7039-74CD1DA53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altLang="zh-CN">
                <a:sym typeface="+mn-ea"/>
              </a:rPr>
              <a:t>Real-Time Time-Optimal Spacecraft Attitude Control</a:t>
            </a:r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4EFAC2-613F-7F44-A8F3-41790C9D4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en-US" sz="4400" dirty="0">
                <a:latin typeface="Arial Black" panose="020B0A04020102020204" charset="0"/>
                <a:cs typeface="Arial Black" panose="020B0A04020102020204" charset="0"/>
              </a:rPr>
              <a:t>What‘s Next?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0185D19-D65A-FED3-FB31-7E9CAD694C24}"/>
              </a:ext>
            </a:extLst>
          </p:cNvPr>
          <p:cNvSpPr/>
          <p:nvPr/>
        </p:nvSpPr>
        <p:spPr>
          <a:xfrm>
            <a:off x="2066290" y="2211705"/>
            <a:ext cx="2686685" cy="1084580"/>
          </a:xfrm>
          <a:prstGeom prst="roundRect">
            <a:avLst>
              <a:gd name="adj" fmla="val 2041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indent="0" algn="ctr">
              <a:lnSpc>
                <a:spcPct val="120000"/>
              </a:lnSpc>
              <a:buFont typeface="+mj-lt"/>
              <a:buNone/>
            </a:pPr>
            <a:r>
              <a:rPr lang="en-GB" altLang="de-DE" b="1" dirty="0">
                <a:latin typeface="+mn-ea"/>
                <a:cs typeface="+mn-ea"/>
                <a:sym typeface="+mn-ea"/>
              </a:rPr>
              <a:t>Implement and test direct collocation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BF535D0-A9E1-D159-0233-C79B2CDCBD3A}"/>
              </a:ext>
            </a:extLst>
          </p:cNvPr>
          <p:cNvSpPr/>
          <p:nvPr/>
        </p:nvSpPr>
        <p:spPr>
          <a:xfrm>
            <a:off x="7439660" y="2211705"/>
            <a:ext cx="2686685" cy="1084580"/>
          </a:xfrm>
          <a:prstGeom prst="roundRect">
            <a:avLst>
              <a:gd name="adj" fmla="val 2041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lvl="0" algn="ctr">
              <a:lnSpc>
                <a:spcPct val="120000"/>
              </a:lnSpc>
              <a:buClrTx/>
              <a:buSzTx/>
              <a:buFont typeface="+mj-lt"/>
            </a:pPr>
            <a:r>
              <a:rPr lang="en-GB" altLang="de-DE" b="1" dirty="0">
                <a:latin typeface="+mn-ea"/>
                <a:cs typeface="+mn-ea"/>
                <a:sym typeface="+mn-ea"/>
              </a:rPr>
              <a:t>Experiment with different solvers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CB75E05-3B64-D67C-16F4-9BED348E2045}"/>
              </a:ext>
            </a:extLst>
          </p:cNvPr>
          <p:cNvSpPr/>
          <p:nvPr/>
        </p:nvSpPr>
        <p:spPr>
          <a:xfrm>
            <a:off x="4752975" y="4938395"/>
            <a:ext cx="2686685" cy="1084580"/>
          </a:xfrm>
          <a:prstGeom prst="roundRect">
            <a:avLst>
              <a:gd name="adj" fmla="val 2041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lvl="0" algn="ctr">
              <a:lnSpc>
                <a:spcPct val="120000"/>
              </a:lnSpc>
              <a:buClrTx/>
              <a:buSzTx/>
              <a:buFont typeface="+mj-lt"/>
            </a:pPr>
            <a:r>
              <a:rPr lang="en-GB" altLang="de-DE" b="1" dirty="0">
                <a:latin typeface="+mn-ea"/>
                <a:cs typeface="+mn-ea"/>
                <a:sym typeface="+mn-ea"/>
              </a:rPr>
              <a:t>Create a Monte</a:t>
            </a:r>
            <a:r>
              <a:rPr lang="de-DE" altLang="en-GB" b="1" dirty="0">
                <a:latin typeface="Calibri" charset="0"/>
                <a:cs typeface="+mn-ea"/>
                <a:sym typeface="+mn-ea"/>
              </a:rPr>
              <a:t> </a:t>
            </a:r>
            <a:r>
              <a:rPr lang="en-GB" altLang="de-DE" b="1" dirty="0">
                <a:latin typeface="+mn-ea"/>
                <a:cs typeface="+mn-ea"/>
                <a:sym typeface="+mn-ea"/>
              </a:rPr>
              <a:t>Carlo simulation for robustness testing</a:t>
            </a:r>
          </a:p>
        </p:txBody>
      </p:sp>
      <p:sp>
        <p:nvSpPr>
          <p:cNvPr id="9" name="Text Box 8">
            <a:extLst>
              <a:ext uri="{FF2B5EF4-FFF2-40B4-BE49-F238E27FC236}">
                <a16:creationId xmlns:a16="http://schemas.microsoft.com/office/drawing/2014/main" id="{2CDB5374-1257-135E-1BEB-1628BC59B70D}"/>
              </a:ext>
            </a:extLst>
          </p:cNvPr>
          <p:cNvSpPr txBox="1"/>
          <p:nvPr/>
        </p:nvSpPr>
        <p:spPr>
          <a:xfrm>
            <a:off x="5339715" y="1544320"/>
            <a:ext cx="1512570" cy="3769360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de-DE" altLang="en-US" sz="23900" b="1">
                <a:latin typeface="Calibri" charset="0"/>
              </a:rPr>
              <a:t>?</a:t>
            </a:r>
          </a:p>
        </p:txBody>
      </p:sp>
      <p:sp>
        <p:nvSpPr>
          <p:cNvPr id="10" name="Half Frame 9">
            <a:extLst>
              <a:ext uri="{FF2B5EF4-FFF2-40B4-BE49-F238E27FC236}">
                <a16:creationId xmlns:a16="http://schemas.microsoft.com/office/drawing/2014/main" id="{8EAC6440-08FB-83E4-0007-BC46EABE38F6}"/>
              </a:ext>
            </a:extLst>
          </p:cNvPr>
          <p:cNvSpPr/>
          <p:nvPr/>
        </p:nvSpPr>
        <p:spPr>
          <a:xfrm rot="2340000">
            <a:off x="4005580" y="3249930"/>
            <a:ext cx="531495" cy="531495"/>
          </a:xfrm>
          <a:prstGeom prst="halfFram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Half Frame 10">
            <a:extLst>
              <a:ext uri="{FF2B5EF4-FFF2-40B4-BE49-F238E27FC236}">
                <a16:creationId xmlns:a16="http://schemas.microsoft.com/office/drawing/2014/main" id="{1C0BC812-8A31-39CD-44AE-F73DB3657F96}"/>
              </a:ext>
            </a:extLst>
          </p:cNvPr>
          <p:cNvSpPr/>
          <p:nvPr/>
        </p:nvSpPr>
        <p:spPr>
          <a:xfrm rot="10320000">
            <a:off x="4624705" y="4540250"/>
            <a:ext cx="531495" cy="531495"/>
          </a:xfrm>
          <a:prstGeom prst="halfFram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Half Frame 13">
            <a:extLst>
              <a:ext uri="{FF2B5EF4-FFF2-40B4-BE49-F238E27FC236}">
                <a16:creationId xmlns:a16="http://schemas.microsoft.com/office/drawing/2014/main" id="{F68BFDBB-DF39-B652-5259-7E07665A48B1}"/>
              </a:ext>
            </a:extLst>
          </p:cNvPr>
          <p:cNvSpPr/>
          <p:nvPr/>
        </p:nvSpPr>
        <p:spPr>
          <a:xfrm rot="11100000">
            <a:off x="7105015" y="1852930"/>
            <a:ext cx="531495" cy="531495"/>
          </a:xfrm>
          <a:prstGeom prst="halfFram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Half Frame 14">
            <a:extLst>
              <a:ext uri="{FF2B5EF4-FFF2-40B4-BE49-F238E27FC236}">
                <a16:creationId xmlns:a16="http://schemas.microsoft.com/office/drawing/2014/main" id="{DD8E9F36-8E96-46F5-4907-640C457ED3E2}"/>
              </a:ext>
            </a:extLst>
          </p:cNvPr>
          <p:cNvSpPr/>
          <p:nvPr/>
        </p:nvSpPr>
        <p:spPr>
          <a:xfrm rot="2700000">
            <a:off x="7654925" y="3255010"/>
            <a:ext cx="531495" cy="531495"/>
          </a:xfrm>
          <a:prstGeom prst="halfFram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Half Frame 15">
            <a:extLst>
              <a:ext uri="{FF2B5EF4-FFF2-40B4-BE49-F238E27FC236}">
                <a16:creationId xmlns:a16="http://schemas.microsoft.com/office/drawing/2014/main" id="{4D2474C9-CFF4-A747-66C7-739846FBE901}"/>
              </a:ext>
            </a:extLst>
          </p:cNvPr>
          <p:cNvSpPr/>
          <p:nvPr/>
        </p:nvSpPr>
        <p:spPr>
          <a:xfrm rot="16380000">
            <a:off x="6986905" y="4559935"/>
            <a:ext cx="531495" cy="531495"/>
          </a:xfrm>
          <a:prstGeom prst="halfFram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Half Frame 16">
            <a:extLst>
              <a:ext uri="{FF2B5EF4-FFF2-40B4-BE49-F238E27FC236}">
                <a16:creationId xmlns:a16="http://schemas.microsoft.com/office/drawing/2014/main" id="{77BCC7F4-3836-30A0-EDE6-847E3315127E}"/>
              </a:ext>
            </a:extLst>
          </p:cNvPr>
          <p:cNvSpPr/>
          <p:nvPr/>
        </p:nvSpPr>
        <p:spPr>
          <a:xfrm rot="16380000">
            <a:off x="4563745" y="1844040"/>
            <a:ext cx="531495" cy="531495"/>
          </a:xfrm>
          <a:prstGeom prst="halfFram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98985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4">
      <a:dk1>
        <a:srgbClr val="FAFAFA"/>
      </a:dk1>
      <a:lt1>
        <a:srgbClr val="FAFAFA"/>
      </a:lt1>
      <a:dk2>
        <a:srgbClr val="FAFAFA"/>
      </a:dk2>
      <a:lt2>
        <a:srgbClr val="FAFAFA"/>
      </a:lt2>
      <a:accent1>
        <a:srgbClr val="629DD1"/>
      </a:accent1>
      <a:accent2>
        <a:srgbClr val="297FD5"/>
      </a:accent2>
      <a:accent3>
        <a:srgbClr val="7F8FA9"/>
      </a:accent3>
      <a:accent4>
        <a:srgbClr val="4A66AC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Custom 4">
      <a:dk1>
        <a:srgbClr val="FAFAFA"/>
      </a:dk1>
      <a:lt1>
        <a:srgbClr val="FAFAFA"/>
      </a:lt1>
      <a:dk2>
        <a:srgbClr val="FAFAFA"/>
      </a:dk2>
      <a:lt2>
        <a:srgbClr val="FAFAFA"/>
      </a:lt2>
      <a:accent1>
        <a:srgbClr val="629DD1"/>
      </a:accent1>
      <a:accent2>
        <a:srgbClr val="297FD5"/>
      </a:accent2>
      <a:accent3>
        <a:srgbClr val="7F8FA9"/>
      </a:accent3>
      <a:accent4>
        <a:srgbClr val="4A66AC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824</TotalTime>
  <Words>2166</Words>
  <Application>Microsoft Office PowerPoint</Application>
  <PresentationFormat>Widescreen</PresentationFormat>
  <Paragraphs>728</Paragraphs>
  <Slides>44</Slides>
  <Notes>2</Notes>
  <HiddenSlides>12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44</vt:i4>
      </vt:variant>
    </vt:vector>
  </HeadingPairs>
  <TitlesOfParts>
    <vt:vector size="53" baseType="lpstr">
      <vt:lpstr>宋体</vt:lpstr>
      <vt:lpstr>Andale Mono</vt:lpstr>
      <vt:lpstr>Arial</vt:lpstr>
      <vt:lpstr>Arial Black</vt:lpstr>
      <vt:lpstr>Calibri</vt:lpstr>
      <vt:lpstr>Cambria Math</vt:lpstr>
      <vt:lpstr>Wingdings</vt:lpstr>
      <vt:lpstr>Office Theme</vt:lpstr>
      <vt:lpstr>1_Office Theme</vt:lpstr>
      <vt:lpstr>Real-Time Time-Optimal Reorientation of a Rigid Spacecraft</vt:lpstr>
      <vt:lpstr>Objectives</vt:lpstr>
      <vt:lpstr>Foundational Choices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Algorithm Optimisation</vt:lpstr>
      <vt:lpstr>Algorithm Optimisation</vt:lpstr>
      <vt:lpstr>Algorithm Optimisation</vt:lpstr>
      <vt:lpstr>Algorithm Optimisation</vt:lpstr>
      <vt:lpstr>Reliability Analysis</vt:lpstr>
      <vt:lpstr>Reliability Analysis</vt:lpstr>
      <vt:lpstr>Reliability Analysis</vt:lpstr>
      <vt:lpstr>Reliability Analysis</vt:lpstr>
      <vt:lpstr>PSO Development</vt:lpstr>
      <vt:lpstr>PSO Development</vt:lpstr>
      <vt:lpstr>PSO Reliability</vt:lpstr>
      <vt:lpstr>PSO Reliability</vt:lpstr>
      <vt:lpstr>PSO Development</vt:lpstr>
      <vt:lpstr>PSO Reliability</vt:lpstr>
      <vt:lpstr>Reliability Analysis</vt:lpstr>
      <vt:lpstr>Reliability Analysis</vt:lpstr>
      <vt:lpstr>Reliability Analysis</vt:lpstr>
      <vt:lpstr>Reliability Analysis</vt:lpstr>
      <vt:lpstr>Conclusion</vt:lpstr>
      <vt:lpstr>Conclusion</vt:lpstr>
      <vt:lpstr>Further Work</vt:lpstr>
      <vt:lpstr>The End!</vt:lpstr>
      <vt:lpstr>Algorithm Optimisation</vt:lpstr>
      <vt:lpstr>Algorithm Optimisation</vt:lpstr>
      <vt:lpstr>Results</vt:lpstr>
      <vt:lpstr>Results</vt:lpstr>
      <vt:lpstr>Results</vt:lpstr>
      <vt:lpstr>Methodology</vt:lpstr>
      <vt:lpstr>Foundational Choices</vt:lpstr>
      <vt:lpstr>Methodology</vt:lpstr>
      <vt:lpstr>Methodology</vt:lpstr>
      <vt:lpstr>Implementation</vt:lpstr>
      <vt:lpstr>Implementation</vt:lpstr>
      <vt:lpstr>Implementation</vt:lpstr>
      <vt:lpstr>What‘s Next?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Leonardo Eitner</cp:lastModifiedBy>
  <cp:revision>32</cp:revision>
  <dcterms:created xsi:type="dcterms:W3CDTF">2025-09-25T14:01:02Z</dcterms:created>
  <dcterms:modified xsi:type="dcterms:W3CDTF">2025-12-01T22:21:14Z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1033-11.1.0.11723</vt:lpwstr>
  </property>
  <property fmtid="{D5CDD505-2E9C-101B-9397-08002B2CF9AE}" pid="3" name="ICV">
    <vt:lpwstr/>
  </property>
</Properties>
</file>