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00000"/>
    <a:srgbClr val="00B050"/>
    <a:srgbClr val="C55A11"/>
    <a:srgbClr val="548235"/>
    <a:srgbClr val="2F5597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22"/>
        <p:guide pos="377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522605" y="361315"/>
            <a:ext cx="9401810" cy="4853940"/>
            <a:chOff x="823" y="569"/>
            <a:chExt cx="14806" cy="7644"/>
          </a:xfrm>
        </p:grpSpPr>
        <p:sp>
          <p:nvSpPr>
            <p:cNvPr id="3" name="Rectangles 2"/>
            <p:cNvSpPr/>
            <p:nvPr/>
          </p:nvSpPr>
          <p:spPr>
            <a:xfrm>
              <a:off x="823" y="569"/>
              <a:ext cx="14614" cy="7644"/>
            </a:xfrm>
            <a:prstGeom prst="rect">
              <a:avLst/>
            </a:prstGeom>
            <a:solidFill>
              <a:srgbClr val="2F5597">
                <a:alpha val="10000"/>
              </a:srgbClr>
            </a:solidFill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" name="Rectangles 3"/>
            <p:cNvSpPr/>
            <p:nvPr/>
          </p:nvSpPr>
          <p:spPr>
            <a:xfrm>
              <a:off x="1191" y="1542"/>
              <a:ext cx="6480" cy="6336"/>
            </a:xfrm>
            <a:prstGeom prst="rect">
              <a:avLst/>
            </a:prstGeom>
            <a:solidFill>
              <a:srgbClr val="548235">
                <a:alpha val="10000"/>
              </a:srgbClr>
            </a:solidFill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8" name="Rectangles 27"/>
            <p:cNvSpPr/>
            <p:nvPr/>
          </p:nvSpPr>
          <p:spPr>
            <a:xfrm>
              <a:off x="1571" y="4839"/>
              <a:ext cx="5760" cy="2232"/>
            </a:xfrm>
            <a:prstGeom prst="rect">
              <a:avLst/>
            </a:prstGeom>
            <a:solidFill>
              <a:srgbClr val="C55A11">
                <a:alpha val="10000"/>
              </a:srgbClr>
            </a:solidFill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7" name="Rectangles 26"/>
            <p:cNvSpPr/>
            <p:nvPr/>
          </p:nvSpPr>
          <p:spPr>
            <a:xfrm>
              <a:off x="1571" y="2309"/>
              <a:ext cx="5760" cy="2232"/>
            </a:xfrm>
            <a:prstGeom prst="rect">
              <a:avLst/>
            </a:prstGeom>
            <a:solidFill>
              <a:srgbClr val="C55A11">
                <a:alpha val="10000"/>
              </a:srgbClr>
            </a:solidFill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14315" y="4116"/>
              <a:ext cx="1314" cy="82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 sz="2800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de-DE" altLang="en-US" sz="2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" name="Text Box 9"/>
            <p:cNvSpPr txBox="1"/>
            <p:nvPr/>
          </p:nvSpPr>
          <p:spPr>
            <a:xfrm>
              <a:off x="4155" y="7047"/>
              <a:ext cx="966" cy="822"/>
            </a:xfrm>
            <a:prstGeom prst="rect">
              <a:avLst/>
            </a:prstGeom>
            <a:noFill/>
          </p:spPr>
          <p:txBody>
            <a:bodyPr vert="vert" wrap="square" rtlCol="0" anchor="ctr" anchorCtr="0">
              <a:spAutoFit/>
            </a:bodyPr>
            <a:p>
              <a:pPr algn="ctr"/>
              <a:r>
                <a:rPr lang="de-DE" altLang="en-US" sz="2800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de-DE" altLang="en-US" sz="2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" name="Rectangles 12"/>
            <p:cNvSpPr/>
            <p:nvPr/>
          </p:nvSpPr>
          <p:spPr>
            <a:xfrm>
              <a:off x="1900" y="3020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Rectangles 16"/>
            <p:cNvSpPr/>
            <p:nvPr/>
          </p:nvSpPr>
          <p:spPr>
            <a:xfrm>
              <a:off x="2915" y="3020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" name="Rectangles 17"/>
            <p:cNvSpPr/>
            <p:nvPr/>
          </p:nvSpPr>
          <p:spPr>
            <a:xfrm>
              <a:off x="3940" y="3020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" name="Rectangles 18"/>
            <p:cNvSpPr/>
            <p:nvPr/>
          </p:nvSpPr>
          <p:spPr>
            <a:xfrm>
              <a:off x="4964" y="3020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" name="Rectangles 19"/>
            <p:cNvSpPr/>
            <p:nvPr/>
          </p:nvSpPr>
          <p:spPr>
            <a:xfrm>
              <a:off x="5989" y="3020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" name="Text Box 20"/>
            <p:cNvSpPr txBox="1"/>
            <p:nvPr/>
          </p:nvSpPr>
          <p:spPr>
            <a:xfrm>
              <a:off x="4820" y="3005"/>
              <a:ext cx="1314" cy="82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 sz="2800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de-DE" altLang="en-US" sz="2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4656" y="757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GRID (Kernel Launch)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955" y="1634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BLOCK 0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4" name="Text Box 23"/>
            <p:cNvSpPr txBox="1"/>
            <p:nvPr/>
          </p:nvSpPr>
          <p:spPr>
            <a:xfrm>
              <a:off x="967" y="2375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WARP 0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2043" y="3270"/>
              <a:ext cx="724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T0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9" name="Text Box 28"/>
            <p:cNvSpPr txBox="1"/>
            <p:nvPr/>
          </p:nvSpPr>
          <p:spPr>
            <a:xfrm>
              <a:off x="3064" y="3278"/>
              <a:ext cx="724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T1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0" name="Text Box 29"/>
            <p:cNvSpPr txBox="1"/>
            <p:nvPr/>
          </p:nvSpPr>
          <p:spPr>
            <a:xfrm>
              <a:off x="4076" y="3270"/>
              <a:ext cx="724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T2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5840" y="3278"/>
              <a:ext cx="1362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T31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8" name="Text Box 57"/>
            <p:cNvSpPr txBox="1"/>
            <p:nvPr/>
          </p:nvSpPr>
          <p:spPr>
            <a:xfrm>
              <a:off x="1002" y="4891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WARP 1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9" name="Rectangles 188"/>
            <p:cNvSpPr/>
            <p:nvPr/>
          </p:nvSpPr>
          <p:spPr>
            <a:xfrm>
              <a:off x="1895" y="5532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0" name="Rectangles 189"/>
            <p:cNvSpPr/>
            <p:nvPr/>
          </p:nvSpPr>
          <p:spPr>
            <a:xfrm>
              <a:off x="2910" y="5532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1" name="Rectangles 190"/>
            <p:cNvSpPr/>
            <p:nvPr/>
          </p:nvSpPr>
          <p:spPr>
            <a:xfrm>
              <a:off x="3935" y="5532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2" name="Rectangles 191"/>
            <p:cNvSpPr/>
            <p:nvPr/>
          </p:nvSpPr>
          <p:spPr>
            <a:xfrm>
              <a:off x="4959" y="5532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3" name="Rectangles 192"/>
            <p:cNvSpPr/>
            <p:nvPr/>
          </p:nvSpPr>
          <p:spPr>
            <a:xfrm>
              <a:off x="5984" y="5532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4" name="Text Box 193"/>
            <p:cNvSpPr txBox="1"/>
            <p:nvPr/>
          </p:nvSpPr>
          <p:spPr>
            <a:xfrm>
              <a:off x="4815" y="5517"/>
              <a:ext cx="1314" cy="82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 sz="2800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de-DE" altLang="en-US" sz="2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5" name="Text Box 194"/>
            <p:cNvSpPr txBox="1"/>
            <p:nvPr/>
          </p:nvSpPr>
          <p:spPr>
            <a:xfrm>
              <a:off x="1859" y="5782"/>
              <a:ext cx="1082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T32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6" name="Text Box 195"/>
            <p:cNvSpPr txBox="1"/>
            <p:nvPr/>
          </p:nvSpPr>
          <p:spPr>
            <a:xfrm>
              <a:off x="2950" y="5790"/>
              <a:ext cx="942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T33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7" name="Text Box 196"/>
            <p:cNvSpPr txBox="1"/>
            <p:nvPr/>
          </p:nvSpPr>
          <p:spPr>
            <a:xfrm>
              <a:off x="3883" y="5782"/>
              <a:ext cx="1100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T34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8" name="Text Box 197"/>
            <p:cNvSpPr txBox="1"/>
            <p:nvPr/>
          </p:nvSpPr>
          <p:spPr>
            <a:xfrm>
              <a:off x="5835" y="5790"/>
              <a:ext cx="1362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T63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" name="Rectangles 7"/>
            <p:cNvSpPr/>
            <p:nvPr/>
          </p:nvSpPr>
          <p:spPr>
            <a:xfrm>
              <a:off x="8027" y="1542"/>
              <a:ext cx="6480" cy="6336"/>
            </a:xfrm>
            <a:prstGeom prst="rect">
              <a:avLst/>
            </a:prstGeom>
            <a:solidFill>
              <a:srgbClr val="548235">
                <a:alpha val="10000"/>
              </a:srgbClr>
            </a:solidFill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" name="Rectangles 8"/>
            <p:cNvSpPr/>
            <p:nvPr/>
          </p:nvSpPr>
          <p:spPr>
            <a:xfrm>
              <a:off x="8407" y="4839"/>
              <a:ext cx="5760" cy="2232"/>
            </a:xfrm>
            <a:prstGeom prst="rect">
              <a:avLst/>
            </a:prstGeom>
            <a:solidFill>
              <a:srgbClr val="C55A11">
                <a:alpha val="10000"/>
              </a:srgbClr>
            </a:solidFill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Rectangles 10"/>
            <p:cNvSpPr/>
            <p:nvPr/>
          </p:nvSpPr>
          <p:spPr>
            <a:xfrm>
              <a:off x="8407" y="2309"/>
              <a:ext cx="5760" cy="2232"/>
            </a:xfrm>
            <a:prstGeom prst="rect">
              <a:avLst/>
            </a:prstGeom>
            <a:solidFill>
              <a:srgbClr val="C55A11">
                <a:alpha val="10000"/>
              </a:srgbClr>
            </a:solidFill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10991" y="7047"/>
              <a:ext cx="966" cy="822"/>
            </a:xfrm>
            <a:prstGeom prst="rect">
              <a:avLst/>
            </a:prstGeom>
            <a:noFill/>
          </p:spPr>
          <p:txBody>
            <a:bodyPr vert="vert" wrap="square" rtlCol="0" anchor="ctr" anchorCtr="0">
              <a:spAutoFit/>
            </a:bodyPr>
            <a:p>
              <a:pPr algn="ctr"/>
              <a:r>
                <a:rPr lang="de-DE" altLang="en-US" sz="2800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de-DE" altLang="en-US" sz="2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" name="Rectangles 13"/>
            <p:cNvSpPr/>
            <p:nvPr/>
          </p:nvSpPr>
          <p:spPr>
            <a:xfrm>
              <a:off x="8736" y="3020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Rectangles 14"/>
            <p:cNvSpPr/>
            <p:nvPr/>
          </p:nvSpPr>
          <p:spPr>
            <a:xfrm>
              <a:off x="9751" y="3020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" name="Rectangles 15"/>
            <p:cNvSpPr/>
            <p:nvPr/>
          </p:nvSpPr>
          <p:spPr>
            <a:xfrm>
              <a:off x="10776" y="3020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2" name="Rectangles 31"/>
            <p:cNvSpPr/>
            <p:nvPr/>
          </p:nvSpPr>
          <p:spPr>
            <a:xfrm>
              <a:off x="11800" y="3020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3" name="Rectangles 32"/>
            <p:cNvSpPr/>
            <p:nvPr/>
          </p:nvSpPr>
          <p:spPr>
            <a:xfrm>
              <a:off x="12825" y="3020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4" name="Text Box 33"/>
            <p:cNvSpPr txBox="1"/>
            <p:nvPr/>
          </p:nvSpPr>
          <p:spPr>
            <a:xfrm>
              <a:off x="11656" y="3005"/>
              <a:ext cx="1314" cy="82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 sz="2800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de-DE" altLang="en-US" sz="2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5" name="Text Box 34"/>
            <p:cNvSpPr txBox="1"/>
            <p:nvPr/>
          </p:nvSpPr>
          <p:spPr>
            <a:xfrm>
              <a:off x="7791" y="1634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BLOCK 1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6" name="Text Box 35"/>
            <p:cNvSpPr txBox="1"/>
            <p:nvPr/>
          </p:nvSpPr>
          <p:spPr>
            <a:xfrm>
              <a:off x="7803" y="2375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WARP 0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7" name="Text Box 36"/>
            <p:cNvSpPr txBox="1"/>
            <p:nvPr/>
          </p:nvSpPr>
          <p:spPr>
            <a:xfrm>
              <a:off x="8879" y="3270"/>
              <a:ext cx="724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T0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8" name="Text Box 37"/>
            <p:cNvSpPr txBox="1"/>
            <p:nvPr/>
          </p:nvSpPr>
          <p:spPr>
            <a:xfrm>
              <a:off x="9900" y="3278"/>
              <a:ext cx="724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T1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9" name="Text Box 38"/>
            <p:cNvSpPr txBox="1"/>
            <p:nvPr/>
          </p:nvSpPr>
          <p:spPr>
            <a:xfrm>
              <a:off x="10912" y="3270"/>
              <a:ext cx="724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T2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0" name="Text Box 39"/>
            <p:cNvSpPr txBox="1"/>
            <p:nvPr/>
          </p:nvSpPr>
          <p:spPr>
            <a:xfrm>
              <a:off x="12676" y="3278"/>
              <a:ext cx="1362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T31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1" name="Text Box 40"/>
            <p:cNvSpPr txBox="1"/>
            <p:nvPr/>
          </p:nvSpPr>
          <p:spPr>
            <a:xfrm>
              <a:off x="7838" y="4891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WARP 1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2" name="Rectangles 41"/>
            <p:cNvSpPr/>
            <p:nvPr/>
          </p:nvSpPr>
          <p:spPr>
            <a:xfrm>
              <a:off x="8731" y="5532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3" name="Rectangles 42"/>
            <p:cNvSpPr/>
            <p:nvPr/>
          </p:nvSpPr>
          <p:spPr>
            <a:xfrm>
              <a:off x="9746" y="5532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4" name="Rectangles 43"/>
            <p:cNvSpPr/>
            <p:nvPr/>
          </p:nvSpPr>
          <p:spPr>
            <a:xfrm>
              <a:off x="10771" y="5532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5" name="Rectangles 44"/>
            <p:cNvSpPr/>
            <p:nvPr/>
          </p:nvSpPr>
          <p:spPr>
            <a:xfrm>
              <a:off x="11795" y="5532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6" name="Rectangles 45"/>
            <p:cNvSpPr/>
            <p:nvPr/>
          </p:nvSpPr>
          <p:spPr>
            <a:xfrm>
              <a:off x="12820" y="5532"/>
              <a:ext cx="1020" cy="1096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 w="57150"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11651" y="5517"/>
              <a:ext cx="1314" cy="82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 sz="2800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de-DE" altLang="en-US" sz="2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8" name="Text Box 47"/>
            <p:cNvSpPr txBox="1"/>
            <p:nvPr/>
          </p:nvSpPr>
          <p:spPr>
            <a:xfrm>
              <a:off x="8695" y="5782"/>
              <a:ext cx="1082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T32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9" name="Text Box 48"/>
            <p:cNvSpPr txBox="1"/>
            <p:nvPr/>
          </p:nvSpPr>
          <p:spPr>
            <a:xfrm>
              <a:off x="9786" y="5790"/>
              <a:ext cx="942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T33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0" name="Text Box 49"/>
            <p:cNvSpPr txBox="1"/>
            <p:nvPr/>
          </p:nvSpPr>
          <p:spPr>
            <a:xfrm>
              <a:off x="10719" y="5782"/>
              <a:ext cx="1100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T34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1" name="Text Box 50"/>
            <p:cNvSpPr txBox="1"/>
            <p:nvPr/>
          </p:nvSpPr>
          <p:spPr>
            <a:xfrm>
              <a:off x="12671" y="5790"/>
              <a:ext cx="1362" cy="58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T63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6830" y="387985"/>
            <a:ext cx="9678035" cy="4474210"/>
            <a:chOff x="58" y="611"/>
            <a:chExt cx="15241" cy="7046"/>
          </a:xfrm>
        </p:grpSpPr>
        <p:sp>
          <p:nvSpPr>
            <p:cNvPr id="32" name="Rectangles 31"/>
            <p:cNvSpPr/>
            <p:nvPr/>
          </p:nvSpPr>
          <p:spPr>
            <a:xfrm>
              <a:off x="1535" y="626"/>
              <a:ext cx="13764" cy="4044"/>
            </a:xfrm>
            <a:prstGeom prst="rect">
              <a:avLst/>
            </a:prstGeom>
            <a:solidFill>
              <a:srgbClr val="C0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r"/>
              <a:r>
                <a:rPr lang="de-DE" altLang="en-US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GPU MEMORY</a:t>
              </a:r>
              <a:endParaRPr lang="de-DE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r"/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Low latency | High bandwith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3" name="Rectangles 32"/>
            <p:cNvSpPr/>
            <p:nvPr/>
          </p:nvSpPr>
          <p:spPr>
            <a:xfrm>
              <a:off x="1533" y="4670"/>
              <a:ext cx="13764" cy="2969"/>
            </a:xfrm>
            <a:prstGeom prst="rect">
              <a:avLst/>
            </a:prstGeom>
            <a:solidFill>
              <a:srgbClr val="00B05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p>
              <a:pPr algn="r"/>
              <a:r>
                <a:rPr lang="de-DE" altLang="en-US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DEVICE MEMORY</a:t>
              </a:r>
              <a:endParaRPr lang="de-DE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r"/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High latency | Large capacity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" name="Straight Arrow Connector 1"/>
            <p:cNvCxnSpPr/>
            <p:nvPr/>
          </p:nvCxnSpPr>
          <p:spPr>
            <a:xfrm>
              <a:off x="1355" y="611"/>
              <a:ext cx="2" cy="7047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 Box 4"/>
            <p:cNvSpPr txBox="1"/>
            <p:nvPr/>
          </p:nvSpPr>
          <p:spPr>
            <a:xfrm>
              <a:off x="58" y="644"/>
              <a:ext cx="1344" cy="508"/>
            </a:xfrm>
            <a:prstGeom prst="rect">
              <a:avLst/>
            </a:prstGeom>
            <a:noFill/>
          </p:spPr>
          <p:txBody>
            <a:bodyPr wrap="square" tIns="0" rtlCol="0" anchor="t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Faster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58" y="7041"/>
              <a:ext cx="1344" cy="508"/>
            </a:xfrm>
            <a:prstGeom prst="rect">
              <a:avLst/>
            </a:prstGeom>
            <a:noFill/>
          </p:spPr>
          <p:txBody>
            <a:bodyPr wrap="square" bIns="0" rtlCol="0" anchor="b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Slower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" name="Rectangles 8"/>
            <p:cNvSpPr/>
            <p:nvPr/>
          </p:nvSpPr>
          <p:spPr>
            <a:xfrm>
              <a:off x="1725" y="777"/>
              <a:ext cx="4320" cy="1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>
                      <a:alpha val="10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de-DE" altLang="en-US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REGISTERS</a:t>
              </a:r>
              <a:endParaRPr lang="de-DE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37185" indent="-257810" algn="l">
                <a:buFont typeface="Arial" panose="020B0604020202020204" pitchFamily="34" charset="0"/>
                <a:buChar char="–"/>
              </a:pPr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Per-thread private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37185" indent="-257810" algn="l">
                <a:buFont typeface="Arial" panose="020B0604020202020204" pitchFamily="34" charset="0"/>
                <a:buChar char="–"/>
              </a:pPr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Limited capacity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Rectangles 10"/>
            <p:cNvSpPr/>
            <p:nvPr/>
          </p:nvSpPr>
          <p:spPr>
            <a:xfrm>
              <a:off x="1725" y="2767"/>
              <a:ext cx="4320" cy="1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>
                      <a:alpha val="10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de-DE" altLang="en-US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SHARED</a:t>
              </a:r>
              <a:endParaRPr lang="de-DE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37185" indent="-257810" algn="l">
                <a:buFont typeface="Arial" panose="020B0604020202020204" pitchFamily="34" charset="0"/>
                <a:buChar char="–"/>
              </a:pPr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Per-block private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37185" indent="-257810" algn="l">
                <a:buFont typeface="Arial" panose="020B0604020202020204" pitchFamily="34" charset="0"/>
                <a:buChar char="–"/>
              </a:pPr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User-programmable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Rectangles 11"/>
            <p:cNvSpPr/>
            <p:nvPr/>
          </p:nvSpPr>
          <p:spPr>
            <a:xfrm>
              <a:off x="1725" y="4757"/>
              <a:ext cx="4320" cy="1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>
                      <a:alpha val="10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de-DE" altLang="en-US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GLOBAL</a:t>
              </a:r>
              <a:endParaRPr lang="de-DE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37185" indent="-257810" algn="l">
                <a:buFont typeface="Arial" panose="020B0604020202020204" pitchFamily="34" charset="0"/>
                <a:buChar char="–"/>
              </a:pPr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Per-grid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37185" indent="-257810" algn="l">
                <a:buFont typeface="Arial" panose="020B0604020202020204" pitchFamily="34" charset="0"/>
                <a:buChar char="–"/>
              </a:pPr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Largest capacity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37185" indent="-257810" algn="l">
                <a:buFont typeface="Arial" panose="020B0604020202020204" pitchFamily="34" charset="0"/>
                <a:buChar char="–"/>
              </a:pPr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Requires coalesced access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Rectangles 14"/>
            <p:cNvSpPr/>
            <p:nvPr/>
          </p:nvSpPr>
          <p:spPr>
            <a:xfrm>
              <a:off x="6255" y="4757"/>
              <a:ext cx="4320" cy="1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>
                      <a:alpha val="10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de-DE" altLang="en-US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CONSTANT</a:t>
              </a:r>
              <a:endParaRPr lang="de-DE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37185" indent="-257810" algn="l">
                <a:buFont typeface="Arial" panose="020B0604020202020204" pitchFamily="34" charset="0"/>
                <a:buChar char="–"/>
              </a:pPr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Per-grid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37185" indent="-257810" algn="l">
                <a:buFont typeface="Arial" panose="020B0604020202020204" pitchFamily="34" charset="0"/>
                <a:buChar char="–"/>
              </a:pPr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Read-only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37185" indent="-257810" algn="l">
                <a:buFont typeface="Arial" panose="020B0604020202020204" pitchFamily="34" charset="0"/>
                <a:buChar char="–"/>
              </a:pPr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For warp-uniform access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" name="Rectangles 15"/>
            <p:cNvSpPr/>
            <p:nvPr/>
          </p:nvSpPr>
          <p:spPr>
            <a:xfrm>
              <a:off x="10785" y="4757"/>
              <a:ext cx="4320" cy="1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>
                      <a:alpha val="10000"/>
                    </a:srgb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de-DE" altLang="en-US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TEXTURE</a:t>
              </a:r>
              <a:endParaRPr lang="de-DE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37185" indent="-257810" algn="l">
                <a:buFont typeface="Arial" panose="020B0604020202020204" pitchFamily="34" charset="0"/>
                <a:buChar char="–"/>
              </a:pPr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Per-grid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37185" indent="-257810" algn="l">
                <a:buFont typeface="Arial" panose="020B0604020202020204" pitchFamily="34" charset="0"/>
                <a:buChar char="–"/>
              </a:pPr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Read-only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37185" indent="-257810" algn="l">
                <a:buFont typeface="Arial" panose="020B0604020202020204" pitchFamily="34" charset="0"/>
                <a:buChar char="–"/>
              </a:pPr>
              <a:r>
                <a:rPr lang="de-DE" altLang="en-US" sz="16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For 2D/3D access patterns</a:t>
              </a:r>
              <a:endParaRPr lang="de-DE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roup 493"/>
          <p:cNvGrpSpPr/>
          <p:nvPr/>
        </p:nvGrpSpPr>
        <p:grpSpPr>
          <a:xfrm>
            <a:off x="339725" y="310515"/>
            <a:ext cx="11852275" cy="6160770"/>
            <a:chOff x="535" y="489"/>
            <a:chExt cx="18665" cy="9702"/>
          </a:xfrm>
        </p:grpSpPr>
        <p:sp>
          <p:nvSpPr>
            <p:cNvPr id="28" name="Rectangles 27"/>
            <p:cNvSpPr/>
            <p:nvPr/>
          </p:nvSpPr>
          <p:spPr>
            <a:xfrm>
              <a:off x="1260" y="3269"/>
              <a:ext cx="5513" cy="2016"/>
            </a:xfrm>
            <a:prstGeom prst="rect">
              <a:avLst/>
            </a:prstGeom>
            <a:solidFill>
              <a:srgbClr val="00B050">
                <a:alpha val="10000"/>
              </a:srgb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7" name="Rectangles 26"/>
            <p:cNvSpPr/>
            <p:nvPr/>
          </p:nvSpPr>
          <p:spPr>
            <a:xfrm>
              <a:off x="1260" y="1067"/>
              <a:ext cx="5513" cy="2016"/>
            </a:xfrm>
            <a:prstGeom prst="rect">
              <a:avLst/>
            </a:prstGeom>
            <a:solidFill>
              <a:srgbClr val="C00000">
                <a:alpha val="10000"/>
              </a:srgb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4" name="Text Box 23"/>
            <p:cNvSpPr txBox="1"/>
            <p:nvPr/>
          </p:nvSpPr>
          <p:spPr>
            <a:xfrm>
              <a:off x="541" y="1124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WARP 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1460" y="1770"/>
              <a:ext cx="5302" cy="1111"/>
              <a:chOff x="2028" y="1447"/>
              <a:chExt cx="5302" cy="1111"/>
            </a:xfrm>
          </p:grpSpPr>
          <p:sp>
            <p:nvSpPr>
              <p:cNvPr id="14" name="Rectangles 13"/>
              <p:cNvSpPr/>
              <p:nvPr/>
            </p:nvSpPr>
            <p:spPr>
              <a:xfrm>
                <a:off x="2028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" name="Rectangles 16"/>
              <p:cNvSpPr/>
              <p:nvPr/>
            </p:nvSpPr>
            <p:spPr>
              <a:xfrm>
                <a:off x="3043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" name="Rectangles 17"/>
              <p:cNvSpPr/>
              <p:nvPr/>
            </p:nvSpPr>
            <p:spPr>
              <a:xfrm>
                <a:off x="4068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" name="Rectangles 18"/>
              <p:cNvSpPr/>
              <p:nvPr/>
            </p:nvSpPr>
            <p:spPr>
              <a:xfrm>
                <a:off x="5092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0" name="Rectangles 19"/>
              <p:cNvSpPr/>
              <p:nvPr/>
            </p:nvSpPr>
            <p:spPr>
              <a:xfrm>
                <a:off x="6117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" name="Text Box 20"/>
              <p:cNvSpPr txBox="1"/>
              <p:nvPr/>
            </p:nvSpPr>
            <p:spPr>
              <a:xfrm>
                <a:off x="4948" y="1447"/>
                <a:ext cx="1314" cy="82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de-DE" altLang="en-US" sz="2800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de-DE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6" name="Text Box 25"/>
              <p:cNvSpPr txBox="1"/>
              <p:nvPr/>
            </p:nvSpPr>
            <p:spPr>
              <a:xfrm>
                <a:off x="2171" y="1712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T0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9" name="Text Box 28"/>
              <p:cNvSpPr txBox="1"/>
              <p:nvPr/>
            </p:nvSpPr>
            <p:spPr>
              <a:xfrm>
                <a:off x="3192" y="1720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0" name="Text Box 29"/>
              <p:cNvSpPr txBox="1"/>
              <p:nvPr/>
            </p:nvSpPr>
            <p:spPr>
              <a:xfrm>
                <a:off x="4204" y="1712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T2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1" name="Text Box 30"/>
              <p:cNvSpPr txBox="1"/>
              <p:nvPr/>
            </p:nvSpPr>
            <p:spPr>
              <a:xfrm>
                <a:off x="5968" y="1720"/>
                <a:ext cx="136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T31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58" name="Text Box 57"/>
            <p:cNvSpPr txBox="1"/>
            <p:nvPr/>
          </p:nvSpPr>
          <p:spPr>
            <a:xfrm>
              <a:off x="536" y="4658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DRAM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1424" y="3450"/>
              <a:ext cx="5338" cy="1111"/>
              <a:chOff x="1987" y="4235"/>
              <a:chExt cx="5338" cy="1111"/>
            </a:xfrm>
          </p:grpSpPr>
          <p:sp>
            <p:nvSpPr>
              <p:cNvPr id="189" name="Rectangles 188"/>
              <p:cNvSpPr/>
              <p:nvPr/>
            </p:nvSpPr>
            <p:spPr>
              <a:xfrm>
                <a:off x="2023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0" name="Rectangles 189"/>
              <p:cNvSpPr/>
              <p:nvPr/>
            </p:nvSpPr>
            <p:spPr>
              <a:xfrm>
                <a:off x="3038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1" name="Rectangles 190"/>
              <p:cNvSpPr/>
              <p:nvPr/>
            </p:nvSpPr>
            <p:spPr>
              <a:xfrm>
                <a:off x="4063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2" name="Rectangles 191"/>
              <p:cNvSpPr/>
              <p:nvPr/>
            </p:nvSpPr>
            <p:spPr>
              <a:xfrm>
                <a:off x="5087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3" name="Rectangles 192"/>
              <p:cNvSpPr/>
              <p:nvPr/>
            </p:nvSpPr>
            <p:spPr>
              <a:xfrm>
                <a:off x="6112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4" name="Text Box 193"/>
              <p:cNvSpPr txBox="1"/>
              <p:nvPr/>
            </p:nvSpPr>
            <p:spPr>
              <a:xfrm>
                <a:off x="4943" y="4235"/>
                <a:ext cx="1314" cy="82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de-DE" altLang="en-US" sz="2800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de-DE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5" name="Text Box 194"/>
              <p:cNvSpPr txBox="1"/>
              <p:nvPr/>
            </p:nvSpPr>
            <p:spPr>
              <a:xfrm>
                <a:off x="1987" y="4500"/>
                <a:ext cx="108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A0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6" name="Text Box 195"/>
              <p:cNvSpPr txBox="1"/>
              <p:nvPr/>
            </p:nvSpPr>
            <p:spPr>
              <a:xfrm>
                <a:off x="3078" y="4508"/>
                <a:ext cx="94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7" name="Text Box 196"/>
              <p:cNvSpPr txBox="1"/>
              <p:nvPr/>
            </p:nvSpPr>
            <p:spPr>
              <a:xfrm>
                <a:off x="4011" y="4500"/>
                <a:ext cx="1100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A2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8" name="Text Box 197"/>
              <p:cNvSpPr txBox="1"/>
              <p:nvPr/>
            </p:nvSpPr>
            <p:spPr>
              <a:xfrm>
                <a:off x="5963" y="4508"/>
                <a:ext cx="136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A31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36" name="Straight Arrow Connector 35"/>
            <p:cNvCxnSpPr/>
            <p:nvPr/>
          </p:nvCxnSpPr>
          <p:spPr>
            <a:xfrm>
              <a:off x="6053" y="2851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2990" y="2849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4015" y="2849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1955" y="2851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s 40"/>
            <p:cNvSpPr/>
            <p:nvPr/>
          </p:nvSpPr>
          <p:spPr>
            <a:xfrm>
              <a:off x="7097" y="3269"/>
              <a:ext cx="5524" cy="2016"/>
            </a:xfrm>
            <a:prstGeom prst="rect">
              <a:avLst/>
            </a:prstGeom>
            <a:solidFill>
              <a:srgbClr val="00B050">
                <a:alpha val="10000"/>
              </a:srgb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2" name="Rectangles 41"/>
            <p:cNvSpPr/>
            <p:nvPr/>
          </p:nvSpPr>
          <p:spPr>
            <a:xfrm>
              <a:off x="7097" y="1067"/>
              <a:ext cx="5524" cy="2016"/>
            </a:xfrm>
            <a:prstGeom prst="rect">
              <a:avLst/>
            </a:prstGeom>
            <a:solidFill>
              <a:srgbClr val="C00000">
                <a:alpha val="10000"/>
              </a:srgb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3" name="Text Box 42"/>
            <p:cNvSpPr txBox="1"/>
            <p:nvPr/>
          </p:nvSpPr>
          <p:spPr>
            <a:xfrm>
              <a:off x="6390" y="1124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WARP 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7309" y="1770"/>
              <a:ext cx="5302" cy="1111"/>
              <a:chOff x="2028" y="1447"/>
              <a:chExt cx="5302" cy="1111"/>
            </a:xfrm>
          </p:grpSpPr>
          <p:sp>
            <p:nvSpPr>
              <p:cNvPr id="45" name="Rectangles 44"/>
              <p:cNvSpPr/>
              <p:nvPr/>
            </p:nvSpPr>
            <p:spPr>
              <a:xfrm>
                <a:off x="2028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6" name="Rectangles 45"/>
              <p:cNvSpPr/>
              <p:nvPr/>
            </p:nvSpPr>
            <p:spPr>
              <a:xfrm>
                <a:off x="3043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7" name="Rectangles 46"/>
              <p:cNvSpPr/>
              <p:nvPr/>
            </p:nvSpPr>
            <p:spPr>
              <a:xfrm>
                <a:off x="4068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8" name="Rectangles 47"/>
              <p:cNvSpPr/>
              <p:nvPr/>
            </p:nvSpPr>
            <p:spPr>
              <a:xfrm>
                <a:off x="5092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9" name="Rectangles 48"/>
              <p:cNvSpPr/>
              <p:nvPr/>
            </p:nvSpPr>
            <p:spPr>
              <a:xfrm>
                <a:off x="6117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0" name="Text Box 49"/>
              <p:cNvSpPr txBox="1"/>
              <p:nvPr/>
            </p:nvSpPr>
            <p:spPr>
              <a:xfrm>
                <a:off x="4948" y="1447"/>
                <a:ext cx="1314" cy="82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de-DE" altLang="en-US" sz="2800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de-DE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1" name="Text Box 50"/>
              <p:cNvSpPr txBox="1"/>
              <p:nvPr/>
            </p:nvSpPr>
            <p:spPr>
              <a:xfrm>
                <a:off x="2171" y="1712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T0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2" name="Text Box 51"/>
              <p:cNvSpPr txBox="1"/>
              <p:nvPr/>
            </p:nvSpPr>
            <p:spPr>
              <a:xfrm>
                <a:off x="3192" y="1720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3" name="Text Box 52"/>
              <p:cNvSpPr txBox="1"/>
              <p:nvPr/>
            </p:nvSpPr>
            <p:spPr>
              <a:xfrm>
                <a:off x="4204" y="1712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T2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4" name="Text Box 53"/>
              <p:cNvSpPr txBox="1"/>
              <p:nvPr/>
            </p:nvSpPr>
            <p:spPr>
              <a:xfrm>
                <a:off x="5968" y="1720"/>
                <a:ext cx="136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T31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55" name="Text Box 54"/>
            <p:cNvSpPr txBox="1"/>
            <p:nvPr/>
          </p:nvSpPr>
          <p:spPr>
            <a:xfrm>
              <a:off x="6385" y="4658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DRAM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7273" y="3450"/>
              <a:ext cx="5338" cy="1111"/>
              <a:chOff x="1987" y="4235"/>
              <a:chExt cx="5338" cy="1111"/>
            </a:xfrm>
          </p:grpSpPr>
          <p:sp>
            <p:nvSpPr>
              <p:cNvPr id="57" name="Rectangles 56"/>
              <p:cNvSpPr/>
              <p:nvPr/>
            </p:nvSpPr>
            <p:spPr>
              <a:xfrm>
                <a:off x="2023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0" name="Rectangles 59"/>
              <p:cNvSpPr/>
              <p:nvPr/>
            </p:nvSpPr>
            <p:spPr>
              <a:xfrm>
                <a:off x="3038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1" name="Rectangles 60"/>
              <p:cNvSpPr/>
              <p:nvPr/>
            </p:nvSpPr>
            <p:spPr>
              <a:xfrm>
                <a:off x="4063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2" name="Rectangles 61"/>
              <p:cNvSpPr/>
              <p:nvPr/>
            </p:nvSpPr>
            <p:spPr>
              <a:xfrm>
                <a:off x="5087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3" name="Rectangles 62"/>
              <p:cNvSpPr/>
              <p:nvPr/>
            </p:nvSpPr>
            <p:spPr>
              <a:xfrm>
                <a:off x="6112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4" name="Text Box 63"/>
              <p:cNvSpPr txBox="1"/>
              <p:nvPr/>
            </p:nvSpPr>
            <p:spPr>
              <a:xfrm>
                <a:off x="4943" y="4235"/>
                <a:ext cx="1314" cy="82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de-DE" altLang="en-US" sz="2800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de-DE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5" name="Text Box 64"/>
              <p:cNvSpPr txBox="1"/>
              <p:nvPr/>
            </p:nvSpPr>
            <p:spPr>
              <a:xfrm>
                <a:off x="1987" y="4500"/>
                <a:ext cx="108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A0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6" name="Text Box 65"/>
              <p:cNvSpPr txBox="1"/>
              <p:nvPr/>
            </p:nvSpPr>
            <p:spPr>
              <a:xfrm>
                <a:off x="3078" y="4508"/>
                <a:ext cx="94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A2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7" name="Text Box 66"/>
              <p:cNvSpPr txBox="1"/>
              <p:nvPr/>
            </p:nvSpPr>
            <p:spPr>
              <a:xfrm>
                <a:off x="4011" y="4500"/>
                <a:ext cx="1100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A4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8" name="Text Box 67"/>
              <p:cNvSpPr txBox="1"/>
              <p:nvPr/>
            </p:nvSpPr>
            <p:spPr>
              <a:xfrm>
                <a:off x="5963" y="4508"/>
                <a:ext cx="136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A62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69" name="Straight Arrow Connector 68"/>
            <p:cNvCxnSpPr/>
            <p:nvPr/>
          </p:nvCxnSpPr>
          <p:spPr>
            <a:xfrm>
              <a:off x="11902" y="2851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>
              <a:off x="8839" y="2849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9864" y="2849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>
              <a:off x="7804" y="2851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s 72"/>
            <p:cNvSpPr/>
            <p:nvPr/>
          </p:nvSpPr>
          <p:spPr>
            <a:xfrm>
              <a:off x="1259" y="8019"/>
              <a:ext cx="5513" cy="2016"/>
            </a:xfrm>
            <a:prstGeom prst="rect">
              <a:avLst/>
            </a:prstGeom>
            <a:solidFill>
              <a:srgbClr val="00B050">
                <a:alpha val="10000"/>
              </a:srgb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4" name="Rectangles 73"/>
            <p:cNvSpPr/>
            <p:nvPr/>
          </p:nvSpPr>
          <p:spPr>
            <a:xfrm>
              <a:off x="1259" y="5817"/>
              <a:ext cx="5513" cy="2016"/>
            </a:xfrm>
            <a:prstGeom prst="rect">
              <a:avLst/>
            </a:prstGeom>
            <a:solidFill>
              <a:srgbClr val="C00000">
                <a:alpha val="10000"/>
              </a:srgb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5" name="Text Box 74"/>
            <p:cNvSpPr txBox="1"/>
            <p:nvPr/>
          </p:nvSpPr>
          <p:spPr>
            <a:xfrm>
              <a:off x="547" y="5874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WARP 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76" name="Group 75"/>
            <p:cNvGrpSpPr/>
            <p:nvPr/>
          </p:nvGrpSpPr>
          <p:grpSpPr>
            <a:xfrm>
              <a:off x="1459" y="6520"/>
              <a:ext cx="5302" cy="1111"/>
              <a:chOff x="2028" y="1447"/>
              <a:chExt cx="5302" cy="1111"/>
            </a:xfrm>
          </p:grpSpPr>
          <p:sp>
            <p:nvSpPr>
              <p:cNvPr id="77" name="Rectangles 76"/>
              <p:cNvSpPr/>
              <p:nvPr/>
            </p:nvSpPr>
            <p:spPr>
              <a:xfrm>
                <a:off x="2028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8" name="Rectangles 77"/>
              <p:cNvSpPr/>
              <p:nvPr/>
            </p:nvSpPr>
            <p:spPr>
              <a:xfrm>
                <a:off x="3043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9" name="Rectangles 78"/>
              <p:cNvSpPr/>
              <p:nvPr/>
            </p:nvSpPr>
            <p:spPr>
              <a:xfrm>
                <a:off x="4068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0" name="Rectangles 79"/>
              <p:cNvSpPr/>
              <p:nvPr/>
            </p:nvSpPr>
            <p:spPr>
              <a:xfrm>
                <a:off x="5092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1" name="Rectangles 80"/>
              <p:cNvSpPr/>
              <p:nvPr/>
            </p:nvSpPr>
            <p:spPr>
              <a:xfrm>
                <a:off x="6117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2" name="Text Box 81"/>
              <p:cNvSpPr txBox="1"/>
              <p:nvPr/>
            </p:nvSpPr>
            <p:spPr>
              <a:xfrm>
                <a:off x="4948" y="1447"/>
                <a:ext cx="1314" cy="82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de-DE" altLang="en-US" sz="2800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de-DE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3" name="Text Box 82"/>
              <p:cNvSpPr txBox="1"/>
              <p:nvPr/>
            </p:nvSpPr>
            <p:spPr>
              <a:xfrm>
                <a:off x="2171" y="1712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T0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4" name="Text Box 83"/>
              <p:cNvSpPr txBox="1"/>
              <p:nvPr/>
            </p:nvSpPr>
            <p:spPr>
              <a:xfrm>
                <a:off x="3192" y="1720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5" name="Text Box 84"/>
              <p:cNvSpPr txBox="1"/>
              <p:nvPr/>
            </p:nvSpPr>
            <p:spPr>
              <a:xfrm>
                <a:off x="4204" y="1712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T2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6" name="Text Box 85"/>
              <p:cNvSpPr txBox="1"/>
              <p:nvPr/>
            </p:nvSpPr>
            <p:spPr>
              <a:xfrm>
                <a:off x="5968" y="1720"/>
                <a:ext cx="136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T31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87" name="Text Box 86"/>
            <p:cNvSpPr txBox="1"/>
            <p:nvPr/>
          </p:nvSpPr>
          <p:spPr>
            <a:xfrm>
              <a:off x="535" y="9408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DRAM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88" name="Group 87"/>
            <p:cNvGrpSpPr/>
            <p:nvPr/>
          </p:nvGrpSpPr>
          <p:grpSpPr>
            <a:xfrm>
              <a:off x="1423" y="8200"/>
              <a:ext cx="5338" cy="1111"/>
              <a:chOff x="1987" y="4235"/>
              <a:chExt cx="5338" cy="1111"/>
            </a:xfrm>
          </p:grpSpPr>
          <p:sp>
            <p:nvSpPr>
              <p:cNvPr id="89" name="Rectangles 88"/>
              <p:cNvSpPr/>
              <p:nvPr/>
            </p:nvSpPr>
            <p:spPr>
              <a:xfrm>
                <a:off x="2023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0" name="Rectangles 89"/>
              <p:cNvSpPr/>
              <p:nvPr/>
            </p:nvSpPr>
            <p:spPr>
              <a:xfrm>
                <a:off x="3038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1" name="Rectangles 90"/>
              <p:cNvSpPr/>
              <p:nvPr/>
            </p:nvSpPr>
            <p:spPr>
              <a:xfrm>
                <a:off x="4063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2" name="Rectangles 91"/>
              <p:cNvSpPr/>
              <p:nvPr/>
            </p:nvSpPr>
            <p:spPr>
              <a:xfrm>
                <a:off x="5087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3" name="Rectangles 92"/>
              <p:cNvSpPr/>
              <p:nvPr/>
            </p:nvSpPr>
            <p:spPr>
              <a:xfrm>
                <a:off x="6112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4" name="Text Box 93"/>
              <p:cNvSpPr txBox="1"/>
              <p:nvPr/>
            </p:nvSpPr>
            <p:spPr>
              <a:xfrm>
                <a:off x="4943" y="4235"/>
                <a:ext cx="1314" cy="82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de-DE" altLang="en-US" sz="2800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de-DE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5" name="Text Box 94"/>
              <p:cNvSpPr txBox="1"/>
              <p:nvPr/>
            </p:nvSpPr>
            <p:spPr>
              <a:xfrm>
                <a:off x="1987" y="4500"/>
                <a:ext cx="108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A32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6" name="Text Box 95"/>
              <p:cNvSpPr txBox="1"/>
              <p:nvPr/>
            </p:nvSpPr>
            <p:spPr>
              <a:xfrm>
                <a:off x="3078" y="4508"/>
                <a:ext cx="94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A33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7" name="Text Box 96"/>
              <p:cNvSpPr txBox="1"/>
              <p:nvPr/>
            </p:nvSpPr>
            <p:spPr>
              <a:xfrm>
                <a:off x="4011" y="4500"/>
                <a:ext cx="1100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A34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8" name="Text Box 97"/>
              <p:cNvSpPr txBox="1"/>
              <p:nvPr/>
            </p:nvSpPr>
            <p:spPr>
              <a:xfrm>
                <a:off x="5963" y="4508"/>
                <a:ext cx="136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A63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99" name="Straight Arrow Connector 98"/>
            <p:cNvCxnSpPr/>
            <p:nvPr/>
          </p:nvCxnSpPr>
          <p:spPr>
            <a:xfrm>
              <a:off x="6052" y="7601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>
              <a:off x="2989" y="7599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>
              <a:off x="4014" y="7599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1954" y="7601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Rectangles 102"/>
            <p:cNvSpPr/>
            <p:nvPr/>
          </p:nvSpPr>
          <p:spPr>
            <a:xfrm>
              <a:off x="7096" y="8019"/>
              <a:ext cx="5524" cy="2016"/>
            </a:xfrm>
            <a:prstGeom prst="rect">
              <a:avLst/>
            </a:prstGeom>
            <a:solidFill>
              <a:srgbClr val="00B050">
                <a:alpha val="10000"/>
              </a:srgb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4" name="Rectangles 103"/>
            <p:cNvSpPr/>
            <p:nvPr/>
          </p:nvSpPr>
          <p:spPr>
            <a:xfrm>
              <a:off x="7096" y="5817"/>
              <a:ext cx="5524" cy="2016"/>
            </a:xfrm>
            <a:prstGeom prst="rect">
              <a:avLst/>
            </a:prstGeom>
            <a:solidFill>
              <a:srgbClr val="C00000">
                <a:alpha val="10000"/>
              </a:srgb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5" name="Text Box 104"/>
            <p:cNvSpPr txBox="1"/>
            <p:nvPr/>
          </p:nvSpPr>
          <p:spPr>
            <a:xfrm>
              <a:off x="6389" y="5874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WARP 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7308" y="6520"/>
              <a:ext cx="5302" cy="1111"/>
              <a:chOff x="2028" y="1447"/>
              <a:chExt cx="5302" cy="1111"/>
            </a:xfrm>
          </p:grpSpPr>
          <p:sp>
            <p:nvSpPr>
              <p:cNvPr id="107" name="Rectangles 106"/>
              <p:cNvSpPr/>
              <p:nvPr/>
            </p:nvSpPr>
            <p:spPr>
              <a:xfrm>
                <a:off x="2028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8" name="Rectangles 107"/>
              <p:cNvSpPr/>
              <p:nvPr/>
            </p:nvSpPr>
            <p:spPr>
              <a:xfrm>
                <a:off x="3043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9" name="Rectangles 108"/>
              <p:cNvSpPr/>
              <p:nvPr/>
            </p:nvSpPr>
            <p:spPr>
              <a:xfrm>
                <a:off x="4068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0" name="Rectangles 109"/>
              <p:cNvSpPr/>
              <p:nvPr/>
            </p:nvSpPr>
            <p:spPr>
              <a:xfrm>
                <a:off x="5092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1" name="Rectangles 110"/>
              <p:cNvSpPr/>
              <p:nvPr/>
            </p:nvSpPr>
            <p:spPr>
              <a:xfrm>
                <a:off x="6117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2" name="Text Box 111"/>
              <p:cNvSpPr txBox="1"/>
              <p:nvPr/>
            </p:nvSpPr>
            <p:spPr>
              <a:xfrm>
                <a:off x="4948" y="1447"/>
                <a:ext cx="1314" cy="82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de-DE" altLang="en-US" sz="2800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de-DE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3" name="Text Box 112"/>
              <p:cNvSpPr txBox="1"/>
              <p:nvPr/>
            </p:nvSpPr>
            <p:spPr>
              <a:xfrm>
                <a:off x="2171" y="1712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T0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4" name="Text Box 113"/>
              <p:cNvSpPr txBox="1"/>
              <p:nvPr/>
            </p:nvSpPr>
            <p:spPr>
              <a:xfrm>
                <a:off x="3192" y="1720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5" name="Text Box 114"/>
              <p:cNvSpPr txBox="1"/>
              <p:nvPr/>
            </p:nvSpPr>
            <p:spPr>
              <a:xfrm>
                <a:off x="4204" y="1712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T2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6" name="Text Box 115"/>
              <p:cNvSpPr txBox="1"/>
              <p:nvPr/>
            </p:nvSpPr>
            <p:spPr>
              <a:xfrm>
                <a:off x="5968" y="1720"/>
                <a:ext cx="136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T31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117" name="Text Box 116"/>
            <p:cNvSpPr txBox="1"/>
            <p:nvPr/>
          </p:nvSpPr>
          <p:spPr>
            <a:xfrm>
              <a:off x="6384" y="9408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DRAM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118" name="Group 117"/>
            <p:cNvGrpSpPr/>
            <p:nvPr/>
          </p:nvGrpSpPr>
          <p:grpSpPr>
            <a:xfrm>
              <a:off x="7272" y="8200"/>
              <a:ext cx="5338" cy="1111"/>
              <a:chOff x="1987" y="4235"/>
              <a:chExt cx="5338" cy="1111"/>
            </a:xfrm>
          </p:grpSpPr>
          <p:sp>
            <p:nvSpPr>
              <p:cNvPr id="119" name="Rectangles 118"/>
              <p:cNvSpPr/>
              <p:nvPr/>
            </p:nvSpPr>
            <p:spPr>
              <a:xfrm>
                <a:off x="2023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0" name="Rectangles 119"/>
              <p:cNvSpPr/>
              <p:nvPr/>
            </p:nvSpPr>
            <p:spPr>
              <a:xfrm>
                <a:off x="3038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1" name="Rectangles 120"/>
              <p:cNvSpPr/>
              <p:nvPr/>
            </p:nvSpPr>
            <p:spPr>
              <a:xfrm>
                <a:off x="4063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2" name="Rectangles 121"/>
              <p:cNvSpPr/>
              <p:nvPr/>
            </p:nvSpPr>
            <p:spPr>
              <a:xfrm>
                <a:off x="5087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3" name="Rectangles 122"/>
              <p:cNvSpPr/>
              <p:nvPr/>
            </p:nvSpPr>
            <p:spPr>
              <a:xfrm>
                <a:off x="6112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4" name="Text Box 123"/>
              <p:cNvSpPr txBox="1"/>
              <p:nvPr/>
            </p:nvSpPr>
            <p:spPr>
              <a:xfrm>
                <a:off x="4943" y="4235"/>
                <a:ext cx="1314" cy="82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de-DE" altLang="en-US" sz="2800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de-DE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5" name="Text Box 124"/>
              <p:cNvSpPr txBox="1"/>
              <p:nvPr/>
            </p:nvSpPr>
            <p:spPr>
              <a:xfrm>
                <a:off x="1987" y="4500"/>
                <a:ext cx="108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6" name="Text Box 125"/>
              <p:cNvSpPr txBox="1"/>
              <p:nvPr/>
            </p:nvSpPr>
            <p:spPr>
              <a:xfrm>
                <a:off x="3078" y="4508"/>
                <a:ext cx="94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A3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7" name="Text Box 126"/>
              <p:cNvSpPr txBox="1"/>
              <p:nvPr/>
            </p:nvSpPr>
            <p:spPr>
              <a:xfrm>
                <a:off x="4011" y="4500"/>
                <a:ext cx="1100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A5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8" name="Text Box 127"/>
              <p:cNvSpPr txBox="1"/>
              <p:nvPr/>
            </p:nvSpPr>
            <p:spPr>
              <a:xfrm>
                <a:off x="5963" y="4508"/>
                <a:ext cx="136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A63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129" name="Straight Arrow Connector 128"/>
            <p:cNvCxnSpPr/>
            <p:nvPr/>
          </p:nvCxnSpPr>
          <p:spPr>
            <a:xfrm>
              <a:off x="11901" y="7601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/>
            <p:nvPr/>
          </p:nvCxnSpPr>
          <p:spPr>
            <a:xfrm>
              <a:off x="8838" y="7599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/>
            <p:nvPr/>
          </p:nvCxnSpPr>
          <p:spPr>
            <a:xfrm>
              <a:off x="9863" y="7599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/>
            <p:nvPr/>
          </p:nvCxnSpPr>
          <p:spPr>
            <a:xfrm>
              <a:off x="7803" y="7601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 Box 132"/>
            <p:cNvSpPr txBox="1"/>
            <p:nvPr/>
          </p:nvSpPr>
          <p:spPr>
            <a:xfrm>
              <a:off x="3735" y="5140"/>
              <a:ext cx="966" cy="822"/>
            </a:xfrm>
            <a:prstGeom prst="rect">
              <a:avLst/>
            </a:prstGeom>
            <a:noFill/>
          </p:spPr>
          <p:txBody>
            <a:bodyPr vert="vert" wrap="square" rtlCol="0" anchor="ctr" anchorCtr="0">
              <a:spAutoFit/>
            </a:bodyPr>
            <a:p>
              <a:pPr algn="ctr"/>
              <a:r>
                <a:rPr lang="de-DE" altLang="en-US" sz="2800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de-DE" altLang="en-US" sz="2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4" name="Text Box 133"/>
            <p:cNvSpPr txBox="1"/>
            <p:nvPr/>
          </p:nvSpPr>
          <p:spPr>
            <a:xfrm rot="5400000">
              <a:off x="9396" y="5129"/>
              <a:ext cx="1314" cy="82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 sz="2800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de-DE" altLang="en-US" sz="2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0" name="Rectangles 149"/>
            <p:cNvSpPr/>
            <p:nvPr/>
          </p:nvSpPr>
          <p:spPr>
            <a:xfrm>
              <a:off x="1083" y="489"/>
              <a:ext cx="5843" cy="970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de-DE" altLang="en-US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COALESCED MEMORY ACCESS</a:t>
              </a:r>
              <a:endParaRPr lang="de-DE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2" name="Rectangles 151"/>
            <p:cNvSpPr/>
            <p:nvPr/>
          </p:nvSpPr>
          <p:spPr>
            <a:xfrm>
              <a:off x="6926" y="489"/>
              <a:ext cx="11717" cy="970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de-DE" altLang="en-US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NON-COALESCED MEMORY ACCESSES</a:t>
              </a:r>
              <a:endParaRPr lang="de-DE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33" name="Rectangles 432"/>
            <p:cNvSpPr/>
            <p:nvPr/>
          </p:nvSpPr>
          <p:spPr>
            <a:xfrm>
              <a:off x="12959" y="3269"/>
              <a:ext cx="5524" cy="2016"/>
            </a:xfrm>
            <a:prstGeom prst="rect">
              <a:avLst/>
            </a:prstGeom>
            <a:solidFill>
              <a:srgbClr val="00B050">
                <a:alpha val="10000"/>
              </a:srgb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34" name="Rectangles 433"/>
            <p:cNvSpPr/>
            <p:nvPr/>
          </p:nvSpPr>
          <p:spPr>
            <a:xfrm>
              <a:off x="12959" y="1067"/>
              <a:ext cx="5524" cy="2016"/>
            </a:xfrm>
            <a:prstGeom prst="rect">
              <a:avLst/>
            </a:prstGeom>
            <a:solidFill>
              <a:srgbClr val="C00000">
                <a:alpha val="10000"/>
              </a:srgb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35" name="Text Box 434"/>
            <p:cNvSpPr txBox="1"/>
            <p:nvPr/>
          </p:nvSpPr>
          <p:spPr>
            <a:xfrm>
              <a:off x="12252" y="1124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WARP 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436" name="Group 435"/>
            <p:cNvGrpSpPr/>
            <p:nvPr/>
          </p:nvGrpSpPr>
          <p:grpSpPr>
            <a:xfrm>
              <a:off x="13171" y="1770"/>
              <a:ext cx="5302" cy="1111"/>
              <a:chOff x="2028" y="1447"/>
              <a:chExt cx="5302" cy="1111"/>
            </a:xfrm>
          </p:grpSpPr>
          <p:sp>
            <p:nvSpPr>
              <p:cNvPr id="437" name="Rectangles 436"/>
              <p:cNvSpPr/>
              <p:nvPr/>
            </p:nvSpPr>
            <p:spPr>
              <a:xfrm>
                <a:off x="2028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38" name="Rectangles 437"/>
              <p:cNvSpPr/>
              <p:nvPr/>
            </p:nvSpPr>
            <p:spPr>
              <a:xfrm>
                <a:off x="3043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39" name="Rectangles 438"/>
              <p:cNvSpPr/>
              <p:nvPr/>
            </p:nvSpPr>
            <p:spPr>
              <a:xfrm>
                <a:off x="4068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40" name="Rectangles 439"/>
              <p:cNvSpPr/>
              <p:nvPr/>
            </p:nvSpPr>
            <p:spPr>
              <a:xfrm>
                <a:off x="5092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41" name="Rectangles 440"/>
              <p:cNvSpPr/>
              <p:nvPr/>
            </p:nvSpPr>
            <p:spPr>
              <a:xfrm>
                <a:off x="6117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42" name="Text Box 441"/>
              <p:cNvSpPr txBox="1"/>
              <p:nvPr/>
            </p:nvSpPr>
            <p:spPr>
              <a:xfrm>
                <a:off x="4948" y="1447"/>
                <a:ext cx="1314" cy="82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de-DE" altLang="en-US" sz="2800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de-DE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43" name="Text Box 442"/>
              <p:cNvSpPr txBox="1"/>
              <p:nvPr/>
            </p:nvSpPr>
            <p:spPr>
              <a:xfrm>
                <a:off x="2171" y="1712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T0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44" name="Text Box 443"/>
              <p:cNvSpPr txBox="1"/>
              <p:nvPr/>
            </p:nvSpPr>
            <p:spPr>
              <a:xfrm>
                <a:off x="3192" y="1720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45" name="Text Box 444"/>
              <p:cNvSpPr txBox="1"/>
              <p:nvPr/>
            </p:nvSpPr>
            <p:spPr>
              <a:xfrm>
                <a:off x="4204" y="1712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T2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46" name="Text Box 445"/>
              <p:cNvSpPr txBox="1"/>
              <p:nvPr/>
            </p:nvSpPr>
            <p:spPr>
              <a:xfrm>
                <a:off x="5968" y="1720"/>
                <a:ext cx="136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T31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447" name="Text Box 446"/>
            <p:cNvSpPr txBox="1"/>
            <p:nvPr/>
          </p:nvSpPr>
          <p:spPr>
            <a:xfrm>
              <a:off x="12247" y="4658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DRAM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448" name="Group 447"/>
            <p:cNvGrpSpPr/>
            <p:nvPr/>
          </p:nvGrpSpPr>
          <p:grpSpPr>
            <a:xfrm>
              <a:off x="13135" y="3450"/>
              <a:ext cx="5338" cy="1111"/>
              <a:chOff x="1987" y="4235"/>
              <a:chExt cx="5338" cy="1111"/>
            </a:xfrm>
          </p:grpSpPr>
          <p:sp>
            <p:nvSpPr>
              <p:cNvPr id="449" name="Rectangles 448"/>
              <p:cNvSpPr/>
              <p:nvPr/>
            </p:nvSpPr>
            <p:spPr>
              <a:xfrm>
                <a:off x="2023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50" name="Rectangles 449"/>
              <p:cNvSpPr/>
              <p:nvPr/>
            </p:nvSpPr>
            <p:spPr>
              <a:xfrm>
                <a:off x="3038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51" name="Rectangles 450"/>
              <p:cNvSpPr/>
              <p:nvPr/>
            </p:nvSpPr>
            <p:spPr>
              <a:xfrm>
                <a:off x="4063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52" name="Rectangles 451"/>
              <p:cNvSpPr/>
              <p:nvPr/>
            </p:nvSpPr>
            <p:spPr>
              <a:xfrm>
                <a:off x="5087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53" name="Rectangles 452"/>
              <p:cNvSpPr/>
              <p:nvPr/>
            </p:nvSpPr>
            <p:spPr>
              <a:xfrm>
                <a:off x="6112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54" name="Text Box 453"/>
              <p:cNvSpPr txBox="1"/>
              <p:nvPr/>
            </p:nvSpPr>
            <p:spPr>
              <a:xfrm>
                <a:off x="4943" y="4235"/>
                <a:ext cx="1314" cy="82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de-DE" altLang="en-US" sz="2800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de-DE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55" name="Text Box 454"/>
              <p:cNvSpPr txBox="1"/>
              <p:nvPr/>
            </p:nvSpPr>
            <p:spPr>
              <a:xfrm>
                <a:off x="1987" y="4500"/>
                <a:ext cx="108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A0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56" name="Text Box 455"/>
              <p:cNvSpPr txBox="1"/>
              <p:nvPr/>
            </p:nvSpPr>
            <p:spPr>
              <a:xfrm>
                <a:off x="3078" y="4508"/>
                <a:ext cx="94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A7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57" name="Text Box 456"/>
              <p:cNvSpPr txBox="1"/>
              <p:nvPr/>
            </p:nvSpPr>
            <p:spPr>
              <a:xfrm>
                <a:off x="4011" y="4500"/>
                <a:ext cx="1100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A6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58" name="Text Box 457"/>
              <p:cNvSpPr txBox="1"/>
              <p:nvPr/>
            </p:nvSpPr>
            <p:spPr>
              <a:xfrm>
                <a:off x="5963" y="4508"/>
                <a:ext cx="136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A35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459" name="Straight Arrow Connector 458"/>
            <p:cNvCxnSpPr/>
            <p:nvPr/>
          </p:nvCxnSpPr>
          <p:spPr>
            <a:xfrm>
              <a:off x="17764" y="2851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Arrow Connector 459"/>
            <p:cNvCxnSpPr/>
            <p:nvPr/>
          </p:nvCxnSpPr>
          <p:spPr>
            <a:xfrm>
              <a:off x="14701" y="2849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Arrow Connector 460"/>
            <p:cNvCxnSpPr/>
            <p:nvPr/>
          </p:nvCxnSpPr>
          <p:spPr>
            <a:xfrm>
              <a:off x="15726" y="2849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Arrow Connector 461"/>
            <p:cNvCxnSpPr/>
            <p:nvPr/>
          </p:nvCxnSpPr>
          <p:spPr>
            <a:xfrm>
              <a:off x="13666" y="2851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3" name="Rectangles 462"/>
            <p:cNvSpPr/>
            <p:nvPr/>
          </p:nvSpPr>
          <p:spPr>
            <a:xfrm>
              <a:off x="12958" y="8019"/>
              <a:ext cx="5524" cy="2016"/>
            </a:xfrm>
            <a:prstGeom prst="rect">
              <a:avLst/>
            </a:prstGeom>
            <a:solidFill>
              <a:srgbClr val="00B050">
                <a:alpha val="10000"/>
              </a:srgb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64" name="Rectangles 463"/>
            <p:cNvSpPr/>
            <p:nvPr/>
          </p:nvSpPr>
          <p:spPr>
            <a:xfrm>
              <a:off x="12958" y="5817"/>
              <a:ext cx="5524" cy="2016"/>
            </a:xfrm>
            <a:prstGeom prst="rect">
              <a:avLst/>
            </a:prstGeom>
            <a:solidFill>
              <a:srgbClr val="C00000">
                <a:alpha val="10000"/>
              </a:srgbClr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65" name="Text Box 464"/>
            <p:cNvSpPr txBox="1"/>
            <p:nvPr/>
          </p:nvSpPr>
          <p:spPr>
            <a:xfrm>
              <a:off x="12251" y="5874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WARP 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466" name="Group 465"/>
            <p:cNvGrpSpPr/>
            <p:nvPr/>
          </p:nvGrpSpPr>
          <p:grpSpPr>
            <a:xfrm>
              <a:off x="13170" y="6520"/>
              <a:ext cx="5302" cy="1111"/>
              <a:chOff x="2028" y="1447"/>
              <a:chExt cx="5302" cy="1111"/>
            </a:xfrm>
          </p:grpSpPr>
          <p:sp>
            <p:nvSpPr>
              <p:cNvPr id="467" name="Rectangles 466"/>
              <p:cNvSpPr/>
              <p:nvPr/>
            </p:nvSpPr>
            <p:spPr>
              <a:xfrm>
                <a:off x="2028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68" name="Rectangles 467"/>
              <p:cNvSpPr/>
              <p:nvPr/>
            </p:nvSpPr>
            <p:spPr>
              <a:xfrm>
                <a:off x="3043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69" name="Rectangles 468"/>
              <p:cNvSpPr/>
              <p:nvPr/>
            </p:nvSpPr>
            <p:spPr>
              <a:xfrm>
                <a:off x="4068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70" name="Rectangles 469"/>
              <p:cNvSpPr/>
              <p:nvPr/>
            </p:nvSpPr>
            <p:spPr>
              <a:xfrm>
                <a:off x="5092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71" name="Rectangles 470"/>
              <p:cNvSpPr/>
              <p:nvPr/>
            </p:nvSpPr>
            <p:spPr>
              <a:xfrm>
                <a:off x="6117" y="1462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72" name="Text Box 471"/>
              <p:cNvSpPr txBox="1"/>
              <p:nvPr/>
            </p:nvSpPr>
            <p:spPr>
              <a:xfrm>
                <a:off x="4948" y="1447"/>
                <a:ext cx="1314" cy="82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de-DE" altLang="en-US" sz="2800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de-DE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73" name="Text Box 472"/>
              <p:cNvSpPr txBox="1"/>
              <p:nvPr/>
            </p:nvSpPr>
            <p:spPr>
              <a:xfrm>
                <a:off x="2171" y="1712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T0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74" name="Text Box 473"/>
              <p:cNvSpPr txBox="1"/>
              <p:nvPr/>
            </p:nvSpPr>
            <p:spPr>
              <a:xfrm>
                <a:off x="3192" y="1720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75" name="Text Box 474"/>
              <p:cNvSpPr txBox="1"/>
              <p:nvPr/>
            </p:nvSpPr>
            <p:spPr>
              <a:xfrm>
                <a:off x="4204" y="1712"/>
                <a:ext cx="724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T2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76" name="Text Box 475"/>
              <p:cNvSpPr txBox="1"/>
              <p:nvPr/>
            </p:nvSpPr>
            <p:spPr>
              <a:xfrm>
                <a:off x="5968" y="1720"/>
                <a:ext cx="136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T31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477" name="Text Box 476"/>
            <p:cNvSpPr txBox="1"/>
            <p:nvPr/>
          </p:nvSpPr>
          <p:spPr>
            <a:xfrm>
              <a:off x="12246" y="9408"/>
              <a:ext cx="6948" cy="58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>
                  <a:latin typeface="Times New Roman" panose="02020603050405020304" charset="0"/>
                  <a:cs typeface="Times New Roman" panose="02020603050405020304" charset="0"/>
                </a:rPr>
                <a:t>DRAM</a:t>
              </a:r>
              <a:endParaRPr lang="de-DE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478" name="Group 477"/>
            <p:cNvGrpSpPr/>
            <p:nvPr/>
          </p:nvGrpSpPr>
          <p:grpSpPr>
            <a:xfrm>
              <a:off x="13134" y="8200"/>
              <a:ext cx="5338" cy="1111"/>
              <a:chOff x="1987" y="4235"/>
              <a:chExt cx="5338" cy="1111"/>
            </a:xfrm>
          </p:grpSpPr>
          <p:sp>
            <p:nvSpPr>
              <p:cNvPr id="479" name="Rectangles 478"/>
              <p:cNvSpPr/>
              <p:nvPr/>
            </p:nvSpPr>
            <p:spPr>
              <a:xfrm>
                <a:off x="2023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80" name="Rectangles 479"/>
              <p:cNvSpPr/>
              <p:nvPr/>
            </p:nvSpPr>
            <p:spPr>
              <a:xfrm>
                <a:off x="3038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81" name="Rectangles 480"/>
              <p:cNvSpPr/>
              <p:nvPr/>
            </p:nvSpPr>
            <p:spPr>
              <a:xfrm>
                <a:off x="4063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82" name="Rectangles 481"/>
              <p:cNvSpPr/>
              <p:nvPr/>
            </p:nvSpPr>
            <p:spPr>
              <a:xfrm>
                <a:off x="5087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83" name="Rectangles 482"/>
              <p:cNvSpPr/>
              <p:nvPr/>
            </p:nvSpPr>
            <p:spPr>
              <a:xfrm>
                <a:off x="6112" y="4250"/>
                <a:ext cx="1020" cy="1096"/>
              </a:xfrm>
              <a:prstGeom prst="rect">
                <a:avLst/>
              </a:prstGeom>
              <a:solidFill>
                <a:srgbClr val="000000">
                  <a:alpha val="10000"/>
                </a:srgbClr>
              </a:solidFill>
              <a:ln w="571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84" name="Text Box 483"/>
              <p:cNvSpPr txBox="1"/>
              <p:nvPr/>
            </p:nvSpPr>
            <p:spPr>
              <a:xfrm>
                <a:off x="4943" y="4235"/>
                <a:ext cx="1314" cy="82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p>
                <a:pPr algn="ctr"/>
                <a:r>
                  <a:rPr lang="de-DE" altLang="en-US" sz="2800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de-DE" altLang="en-US" sz="2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85" name="Text Box 484"/>
              <p:cNvSpPr txBox="1"/>
              <p:nvPr/>
            </p:nvSpPr>
            <p:spPr>
              <a:xfrm>
                <a:off x="1987" y="4500"/>
                <a:ext cx="108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A93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86" name="Text Box 485"/>
              <p:cNvSpPr txBox="1"/>
              <p:nvPr/>
            </p:nvSpPr>
            <p:spPr>
              <a:xfrm>
                <a:off x="3078" y="4508"/>
                <a:ext cx="94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A1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87" name="Text Box 486"/>
              <p:cNvSpPr txBox="1"/>
              <p:nvPr/>
            </p:nvSpPr>
            <p:spPr>
              <a:xfrm>
                <a:off x="4011" y="4500"/>
                <a:ext cx="1100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A22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88" name="Text Box 487"/>
              <p:cNvSpPr txBox="1"/>
              <p:nvPr/>
            </p:nvSpPr>
            <p:spPr>
              <a:xfrm>
                <a:off x="5963" y="4508"/>
                <a:ext cx="1362" cy="5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spAutoFit/>
              </a:bodyPr>
              <a:p>
                <a:pPr algn="ctr"/>
                <a:r>
                  <a:rPr lang="de-DE" altLang="en-US">
                    <a:latin typeface="Times New Roman" panose="02020603050405020304" charset="0"/>
                    <a:cs typeface="Times New Roman" panose="02020603050405020304" charset="0"/>
                  </a:rPr>
                  <a:t>A8</a:t>
                </a:r>
                <a:endParaRPr lang="de-DE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489" name="Straight Arrow Connector 488"/>
            <p:cNvCxnSpPr/>
            <p:nvPr/>
          </p:nvCxnSpPr>
          <p:spPr>
            <a:xfrm>
              <a:off x="17763" y="7601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Arrow Connector 489"/>
            <p:cNvCxnSpPr/>
            <p:nvPr/>
          </p:nvCxnSpPr>
          <p:spPr>
            <a:xfrm>
              <a:off x="14700" y="7599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Arrow Connector 490"/>
            <p:cNvCxnSpPr/>
            <p:nvPr/>
          </p:nvCxnSpPr>
          <p:spPr>
            <a:xfrm>
              <a:off x="15725" y="7599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Arrow Connector 491"/>
            <p:cNvCxnSpPr/>
            <p:nvPr/>
          </p:nvCxnSpPr>
          <p:spPr>
            <a:xfrm>
              <a:off x="13665" y="7601"/>
              <a:ext cx="0" cy="58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ysDot"/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3" name="Text Box 492"/>
            <p:cNvSpPr txBox="1"/>
            <p:nvPr/>
          </p:nvSpPr>
          <p:spPr>
            <a:xfrm rot="5400000">
              <a:off x="15258" y="5129"/>
              <a:ext cx="1314" cy="82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pPr algn="ctr"/>
              <a:r>
                <a:rPr lang="de-DE" altLang="en-US" sz="2800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de-DE" altLang="en-US" sz="2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WPS Presentation</Application>
  <PresentationFormat>宽屏</PresentationFormat>
  <Paragraphs>247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SimSun</vt:lpstr>
      <vt:lpstr>Wingdings</vt:lpstr>
      <vt:lpstr>Times New Roman</vt:lpstr>
      <vt:lpstr>Microsoft YaHei</vt:lpstr>
      <vt:lpstr>Droid Sans Fallback</vt:lpstr>
      <vt:lpstr>Arial Unicode MS</vt:lpstr>
      <vt:lpstr>Arial Black</vt:lpstr>
      <vt:lpstr>SimSun</vt:lpstr>
      <vt:lpstr>OpenSymbol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leo8ner</cp:lastModifiedBy>
  <cp:revision>27</cp:revision>
  <dcterms:created xsi:type="dcterms:W3CDTF">2025-11-11T16:23:52Z</dcterms:created>
  <dcterms:modified xsi:type="dcterms:W3CDTF">2025-11-11T16:23:52Z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